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79" r:id="rId4"/>
    <p:sldId id="401" r:id="rId5"/>
    <p:sldId id="400" r:id="rId6"/>
    <p:sldId id="399" r:id="rId7"/>
    <p:sldId id="402" r:id="rId8"/>
    <p:sldId id="403" r:id="rId9"/>
    <p:sldId id="404" r:id="rId10"/>
    <p:sldId id="405" r:id="rId11"/>
    <p:sldId id="406" r:id="rId12"/>
    <p:sldId id="407" r:id="rId13"/>
    <p:sldId id="280" r:id="rId14"/>
    <p:sldId id="383" r:id="rId15"/>
    <p:sldId id="382" r:id="rId16"/>
    <p:sldId id="336" r:id="rId17"/>
    <p:sldId id="374" r:id="rId18"/>
    <p:sldId id="375" r:id="rId19"/>
    <p:sldId id="384" r:id="rId20"/>
    <p:sldId id="376" r:id="rId21"/>
    <p:sldId id="408" r:id="rId22"/>
    <p:sldId id="377" r:id="rId23"/>
    <p:sldId id="378" r:id="rId24"/>
    <p:sldId id="385" r:id="rId25"/>
    <p:sldId id="379" r:id="rId26"/>
    <p:sldId id="409" r:id="rId27"/>
    <p:sldId id="410" r:id="rId28"/>
    <p:sldId id="411" r:id="rId29"/>
    <p:sldId id="412" r:id="rId30"/>
    <p:sldId id="413" r:id="rId31"/>
    <p:sldId id="414" r:id="rId32"/>
    <p:sldId id="415" r:id="rId33"/>
    <p:sldId id="416" r:id="rId34"/>
    <p:sldId id="417" r:id="rId35"/>
    <p:sldId id="418" r:id="rId36"/>
    <p:sldId id="420" r:id="rId37"/>
    <p:sldId id="421" r:id="rId38"/>
    <p:sldId id="422" r:id="rId39"/>
    <p:sldId id="423" r:id="rId40"/>
    <p:sldId id="424" r:id="rId41"/>
    <p:sldId id="425" r:id="rId42"/>
    <p:sldId id="426" r:id="rId43"/>
    <p:sldId id="427" r:id="rId44"/>
    <p:sldId id="428" r:id="rId45"/>
    <p:sldId id="429" r:id="rId46"/>
    <p:sldId id="430" r:id="rId47"/>
    <p:sldId id="431" r:id="rId48"/>
    <p:sldId id="432" r:id="rId49"/>
    <p:sldId id="433" r:id="rId50"/>
    <p:sldId id="434" r:id="rId51"/>
    <p:sldId id="435" r:id="rId52"/>
    <p:sldId id="436" r:id="rId53"/>
    <p:sldId id="304" r:id="rId54"/>
    <p:sldId id="305" r:id="rId55"/>
    <p:sldId id="386" r:id="rId56"/>
    <p:sldId id="306" r:id="rId57"/>
    <p:sldId id="308" r:id="rId58"/>
    <p:sldId id="307" r:id="rId59"/>
    <p:sldId id="387" r:id="rId60"/>
    <p:sldId id="313" r:id="rId61"/>
    <p:sldId id="314" r:id="rId62"/>
    <p:sldId id="309" r:id="rId63"/>
    <p:sldId id="316" r:id="rId64"/>
    <p:sldId id="315" r:id="rId65"/>
    <p:sldId id="339" r:id="rId66"/>
    <p:sldId id="310" r:id="rId67"/>
    <p:sldId id="388" r:id="rId68"/>
    <p:sldId id="389" r:id="rId69"/>
    <p:sldId id="311" r:id="rId70"/>
    <p:sldId id="438" r:id="rId71"/>
    <p:sldId id="312" r:id="rId72"/>
    <p:sldId id="390" r:id="rId73"/>
    <p:sldId id="391" r:id="rId74"/>
    <p:sldId id="317" r:id="rId75"/>
    <p:sldId id="392" r:id="rId76"/>
    <p:sldId id="393" r:id="rId77"/>
    <p:sldId id="394" r:id="rId78"/>
    <p:sldId id="318" r:id="rId79"/>
    <p:sldId id="320" r:id="rId80"/>
    <p:sldId id="321" r:id="rId81"/>
    <p:sldId id="322" r:id="rId82"/>
    <p:sldId id="395" r:id="rId83"/>
    <p:sldId id="396" r:id="rId84"/>
    <p:sldId id="323" r:id="rId85"/>
    <p:sldId id="324" r:id="rId86"/>
    <p:sldId id="397" r:id="rId87"/>
    <p:sldId id="439" r:id="rId88"/>
    <p:sldId id="326" r:id="rId89"/>
    <p:sldId id="440" r:id="rId90"/>
    <p:sldId id="442" r:id="rId91"/>
    <p:sldId id="443" r:id="rId92"/>
    <p:sldId id="444" r:id="rId93"/>
    <p:sldId id="445" r:id="rId94"/>
    <p:sldId id="446" r:id="rId95"/>
    <p:sldId id="447" r:id="rId96"/>
    <p:sldId id="448" r:id="rId97"/>
    <p:sldId id="449" r:id="rId98"/>
    <p:sldId id="450" r:id="rId99"/>
    <p:sldId id="451" r:id="rId100"/>
    <p:sldId id="452" r:id="rId101"/>
    <p:sldId id="437" r:id="rId102"/>
    <p:sldId id="453" r:id="rId103"/>
    <p:sldId id="454" r:id="rId104"/>
    <p:sldId id="455" r:id="rId105"/>
    <p:sldId id="456" r:id="rId106"/>
    <p:sldId id="457" r:id="rId107"/>
    <p:sldId id="458" r:id="rId108"/>
    <p:sldId id="459" r:id="rId109"/>
    <p:sldId id="460" r:id="rId110"/>
    <p:sldId id="461" r:id="rId111"/>
    <p:sldId id="462" r:id="rId112"/>
    <p:sldId id="463" r:id="rId113"/>
    <p:sldId id="464" r:id="rId114"/>
    <p:sldId id="465" r:id="rId115"/>
    <p:sldId id="466" r:id="rId116"/>
    <p:sldId id="467" r:id="rId117"/>
    <p:sldId id="468" r:id="rId118"/>
    <p:sldId id="469" r:id="rId119"/>
    <p:sldId id="470" r:id="rId120"/>
    <p:sldId id="472" r:id="rId121"/>
    <p:sldId id="471" r:id="rId122"/>
    <p:sldId id="473" r:id="rId123"/>
    <p:sldId id="474" r:id="rId124"/>
    <p:sldId id="475" r:id="rId125"/>
    <p:sldId id="476" r:id="rId126"/>
    <p:sldId id="477" r:id="rId127"/>
    <p:sldId id="482" r:id="rId128"/>
    <p:sldId id="483" r:id="rId129"/>
    <p:sldId id="484" r:id="rId130"/>
    <p:sldId id="485" r:id="rId131"/>
    <p:sldId id="486" r:id="rId132"/>
    <p:sldId id="487" r:id="rId133"/>
    <p:sldId id="479" r:id="rId134"/>
    <p:sldId id="478" r:id="rId135"/>
    <p:sldId id="480" r:id="rId136"/>
    <p:sldId id="481" r:id="rId137"/>
    <p:sldId id="488" r:id="rId138"/>
    <p:sldId id="489" r:id="rId139"/>
    <p:sldId id="419" r:id="rId1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02" autoAdjust="0"/>
  </p:normalViewPr>
  <p:slideViewPr>
    <p:cSldViewPr snapToGrid="0">
      <p:cViewPr varScale="1">
        <p:scale>
          <a:sx n="69" d="100"/>
          <a:sy n="69" d="100"/>
        </p:scale>
        <p:origin x="54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78134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134502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1269267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D0E007-194F-4F5C-8B15-CB52281D1C06}"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587217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D0E007-194F-4F5C-8B15-CB52281D1C06}" type="datetimeFigureOut">
              <a:rPr lang="en-IN" smtClean="0"/>
              <a:t>31-08-2026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1207973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D0E007-194F-4F5C-8B15-CB52281D1C06}" type="datetimeFigureOut">
              <a:rPr lang="en-IN" smtClean="0"/>
              <a:t>31-08-2026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222367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D0E007-194F-4F5C-8B15-CB52281D1C06}" type="datetimeFigureOut">
              <a:rPr lang="en-IN" smtClean="0"/>
              <a:t>31-08-2026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4761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5D0E007-194F-4F5C-8B15-CB52281D1C06}"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369079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D0E007-194F-4F5C-8B15-CB52281D1C06}"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458567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677856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93099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70771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932028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7295462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205923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0E007-194F-4F5C-8B15-CB52281D1C06}"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8E9CD-ACF0-4824-ACE0-16E4005CD192}" type="slidenum">
              <a:rPr lang="en-IN" smtClean="0"/>
              <a:t>‹#›</a:t>
            </a:fld>
            <a:endParaRPr lang="en-IN"/>
          </a:p>
        </p:txBody>
      </p:sp>
    </p:spTree>
    <p:extLst>
      <p:ext uri="{BB962C8B-B14F-4D97-AF65-F5344CB8AC3E}">
        <p14:creationId xmlns:p14="http://schemas.microsoft.com/office/powerpoint/2010/main" val="407938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5D0E007-194F-4F5C-8B15-CB52281D1C06}" type="datetimeFigureOut">
              <a:rPr lang="en-IN" smtClean="0"/>
              <a:t>31-08-2026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28E9CD-ACF0-4824-ACE0-16E4005CD192}" type="slidenum">
              <a:rPr lang="en-IN" smtClean="0"/>
              <a:t>‹#›</a:t>
            </a:fld>
            <a:endParaRPr lang="en-IN"/>
          </a:p>
        </p:txBody>
      </p:sp>
    </p:spTree>
    <p:extLst>
      <p:ext uri="{BB962C8B-B14F-4D97-AF65-F5344CB8AC3E}">
        <p14:creationId xmlns:p14="http://schemas.microsoft.com/office/powerpoint/2010/main" val="1582119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geeksforgeeks.org/maths/qualitative-data/"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www.geeksforgeeks.org/maths/qualitative-data/"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hyperlink" Target="https://www.geeksforgeeks.org/dbms/what-is-structured-data/" TargetMode="Externa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data-science/what-is-unstructured-data/"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geeksforgeeks.org/dbms/what-is-semi-structured-data/"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geeksforgeeks.org/big-data/what-is-big-data/"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geeksforgeeks.org/machine-learning/ml-machine-learning/" TargetMode="External"/><Relationship Id="rId2" Type="http://schemas.openxmlformats.org/officeDocument/2006/relationships/hyperlink" Target="https://www.geeksforgeeks.org/artificial-intelligence/what-is-artificial-intelligence-ai/"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hyperlink" Target="https://www.couchbase.com/blog/prepare-datasets-fine-tuning-ml-models/" TargetMode="Externa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hyperlink" Target="https://www.couchbase.com/blog/what-are-vector-embeddings/" TargetMode="Externa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hyperlink" Target="https://www.ibm.com/think/topics/task-automation" TargetMode="External"/><Relationship Id="rId2" Type="http://schemas.openxmlformats.org/officeDocument/2006/relationships/hyperlink" Target="https://www.ibm.com/think/topics/artificial-intelligence" TargetMode="Externa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hyperlink" Target="https://www.adobe.com/acrobat/resources/workflow-automation.html" TargetMode="Externa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06D84-A124-4690-FCC2-C156C497A119}"/>
              </a:ext>
            </a:extLst>
          </p:cNvPr>
          <p:cNvSpPr>
            <a:spLocks noGrp="1"/>
          </p:cNvSpPr>
          <p:nvPr>
            <p:ph type="ctrTitle"/>
          </p:nvPr>
        </p:nvSpPr>
        <p:spPr>
          <a:xfrm>
            <a:off x="-366705" y="2084989"/>
            <a:ext cx="10001761" cy="2688021"/>
          </a:xfrm>
        </p:spPr>
        <p:txBody>
          <a:bodyPr/>
          <a:lstStyle/>
          <a:p>
            <a:r>
              <a:rPr lang="it-IT" sz="4000" dirty="0"/>
              <a:t>Module 1- Introduction to AI, Gen AI Essentials</a:t>
            </a:r>
            <a:endParaRPr lang="en-IN" sz="4000" dirty="0"/>
          </a:p>
        </p:txBody>
      </p:sp>
    </p:spTree>
    <p:extLst>
      <p:ext uri="{BB962C8B-B14F-4D97-AF65-F5344CB8AC3E}">
        <p14:creationId xmlns:p14="http://schemas.microsoft.com/office/powerpoint/2010/main" val="1323851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4F459-9D25-4D63-DBF2-A7BB4557F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4921A-C143-D43D-A7D8-912DBF8F344F}"/>
              </a:ext>
            </a:extLst>
          </p:cNvPr>
          <p:cNvSpPr>
            <a:spLocks noGrp="1"/>
          </p:cNvSpPr>
          <p:nvPr>
            <p:ph type="title"/>
          </p:nvPr>
        </p:nvSpPr>
        <p:spPr>
          <a:xfrm>
            <a:off x="558462" y="243840"/>
            <a:ext cx="8596668" cy="746234"/>
          </a:xfrm>
        </p:spPr>
        <p:txBody>
          <a:bodyPr>
            <a:noAutofit/>
          </a:bodyPr>
          <a:lstStyle/>
          <a:p>
            <a:r>
              <a:rPr lang="en-US" sz="2800" b="1" dirty="0"/>
              <a:t>What is AI and Key Concepts</a:t>
            </a:r>
            <a:endParaRPr lang="en-IN" sz="2800" dirty="0">
              <a:solidFill>
                <a:srgbClr val="FF0000"/>
              </a:solidFill>
            </a:endParaRPr>
          </a:p>
        </p:txBody>
      </p:sp>
      <p:sp>
        <p:nvSpPr>
          <p:cNvPr id="3" name="Content Placeholder 2">
            <a:extLst>
              <a:ext uri="{FF2B5EF4-FFF2-40B4-BE49-F238E27FC236}">
                <a16:creationId xmlns:a16="http://schemas.microsoft.com/office/drawing/2014/main" id="{BB5A9967-6F5F-94DE-F887-120AE88F78FE}"/>
              </a:ext>
            </a:extLst>
          </p:cNvPr>
          <p:cNvSpPr>
            <a:spLocks noGrp="1"/>
          </p:cNvSpPr>
          <p:nvPr>
            <p:ph idx="1"/>
          </p:nvPr>
        </p:nvSpPr>
        <p:spPr>
          <a:xfrm>
            <a:off x="631614" y="825481"/>
            <a:ext cx="5605225" cy="4974021"/>
          </a:xfrm>
        </p:spPr>
        <p:txBody>
          <a:bodyPr>
            <a:noAutofit/>
          </a:bodyPr>
          <a:lstStyle/>
          <a:p>
            <a:pPr marL="0" indent="0">
              <a:buNone/>
            </a:pPr>
            <a:endParaRPr lang="en-US" sz="1600" b="1" dirty="0"/>
          </a:p>
          <a:p>
            <a:pPr marL="0" indent="0">
              <a:buNone/>
            </a:pPr>
            <a:r>
              <a:rPr lang="en-US" sz="1600" b="1" dirty="0"/>
              <a:t>What is AI and Types of AI</a:t>
            </a:r>
          </a:p>
          <a:p>
            <a:pPr marL="0" indent="0">
              <a:buNone/>
            </a:pPr>
            <a:r>
              <a:rPr lang="en-US" sz="1600" b="1" dirty="0"/>
              <a:t>Artificial Intelligence (AI)</a:t>
            </a:r>
            <a:r>
              <a:rPr lang="en-US" sz="1600" dirty="0"/>
              <a:t> is a branch of computer science that focuses on building machines or software that can </a:t>
            </a:r>
            <a:r>
              <a:rPr lang="en-US" sz="1600" b="1" dirty="0"/>
              <a:t>perform tasks that normally require human intelligence</a:t>
            </a:r>
            <a:r>
              <a:rPr lang="en-US" sz="1600" dirty="0"/>
              <a:t>.</a:t>
            </a:r>
          </a:p>
          <a:p>
            <a:pPr marL="0" indent="0">
              <a:buNone/>
            </a:pPr>
            <a:endParaRPr lang="en-US" sz="1600" dirty="0"/>
          </a:p>
          <a:p>
            <a:r>
              <a:rPr lang="en-US" sz="1600" dirty="0"/>
              <a:t>These tasks include:</a:t>
            </a:r>
          </a:p>
          <a:p>
            <a:r>
              <a:rPr lang="en-US" sz="1600" dirty="0"/>
              <a:t>Learning from data</a:t>
            </a:r>
          </a:p>
          <a:p>
            <a:r>
              <a:rPr lang="en-US" sz="1600" dirty="0"/>
              <a:t>Understanding language</a:t>
            </a:r>
          </a:p>
          <a:p>
            <a:r>
              <a:rPr lang="en-US" sz="1600" dirty="0"/>
              <a:t>Recognizing images and speech</a:t>
            </a:r>
          </a:p>
          <a:p>
            <a:r>
              <a:rPr lang="en-US" sz="1600" dirty="0"/>
              <a:t>Making decisions</a:t>
            </a:r>
          </a:p>
          <a:p>
            <a:r>
              <a:rPr lang="en-US" sz="1600" dirty="0"/>
              <a:t>Solving problems</a:t>
            </a:r>
          </a:p>
          <a:p>
            <a:r>
              <a:rPr lang="en-IN" sz="1600" dirty="0"/>
              <a:t> For example, an AI model might predict weather patterns, identify objects in photos, or generate text.</a:t>
            </a:r>
            <a:endParaRPr lang="en-US" sz="1600" dirty="0"/>
          </a:p>
          <a:p>
            <a:endParaRPr lang="en-US" sz="1600" dirty="0"/>
          </a:p>
          <a:p>
            <a:pPr marL="0" indent="0">
              <a:buNone/>
            </a:pPr>
            <a:r>
              <a:rPr lang="en-US" sz="1600" dirty="0">
                <a:solidFill>
                  <a:srgbClr val="FF0000"/>
                </a:solidFill>
              </a:rPr>
              <a:t>AI is the ability of a computer or machine to mimic human intelligence.</a:t>
            </a:r>
          </a:p>
          <a:p>
            <a:endParaRPr lang="en-IN" sz="1600" dirty="0"/>
          </a:p>
        </p:txBody>
      </p:sp>
      <p:pic>
        <p:nvPicPr>
          <p:cNvPr id="5" name="Picture 4">
            <a:extLst>
              <a:ext uri="{FF2B5EF4-FFF2-40B4-BE49-F238E27FC236}">
                <a16:creationId xmlns:a16="http://schemas.microsoft.com/office/drawing/2014/main" id="{BBB836BE-99BF-1033-CFC6-6DCDE11329F8}"/>
              </a:ext>
            </a:extLst>
          </p:cNvPr>
          <p:cNvPicPr>
            <a:picLocks noChangeAspect="1"/>
          </p:cNvPicPr>
          <p:nvPr/>
        </p:nvPicPr>
        <p:blipFill>
          <a:blip r:embed="rId2"/>
          <a:stretch>
            <a:fillRect/>
          </a:stretch>
        </p:blipFill>
        <p:spPr>
          <a:xfrm>
            <a:off x="6558455" y="2456774"/>
            <a:ext cx="4840014" cy="2806844"/>
          </a:xfrm>
          <a:prstGeom prst="rect">
            <a:avLst/>
          </a:prstGeom>
        </p:spPr>
      </p:pic>
    </p:spTree>
    <p:extLst>
      <p:ext uri="{BB962C8B-B14F-4D97-AF65-F5344CB8AC3E}">
        <p14:creationId xmlns:p14="http://schemas.microsoft.com/office/powerpoint/2010/main" val="222310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9EB8-26B2-CEA3-88F6-6FD23E3A32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34BE75-B196-5199-74AE-89E6BEFFD139}"/>
              </a:ext>
            </a:extLst>
          </p:cNvPr>
          <p:cNvSpPr>
            <a:spLocks noGrp="1"/>
          </p:cNvSpPr>
          <p:nvPr>
            <p:ph type="title"/>
          </p:nvPr>
        </p:nvSpPr>
        <p:spPr/>
        <p:txBody>
          <a:bodyPr>
            <a:noAutofit/>
          </a:bodyPr>
          <a:lstStyle/>
          <a:p>
            <a:r>
              <a:rPr lang="en-US" sz="1600" b="1" dirty="0"/>
              <a:t>Examples of AI</a:t>
            </a:r>
          </a:p>
        </p:txBody>
      </p:sp>
      <p:sp>
        <p:nvSpPr>
          <p:cNvPr id="3" name="Content Placeholder 2">
            <a:extLst>
              <a:ext uri="{FF2B5EF4-FFF2-40B4-BE49-F238E27FC236}">
                <a16:creationId xmlns:a16="http://schemas.microsoft.com/office/drawing/2014/main" id="{B8257CCE-BCD5-E35D-D212-E5840ABD7355}"/>
              </a:ext>
            </a:extLst>
          </p:cNvPr>
          <p:cNvSpPr>
            <a:spLocks noGrp="1"/>
          </p:cNvSpPr>
          <p:nvPr>
            <p:ph idx="1"/>
          </p:nvPr>
        </p:nvSpPr>
        <p:spPr>
          <a:xfrm>
            <a:off x="677334" y="1247833"/>
            <a:ext cx="8596668" cy="4362334"/>
          </a:xfrm>
        </p:spPr>
        <p:txBody>
          <a:bodyPr>
            <a:normAutofit/>
          </a:bodyPr>
          <a:lstStyle/>
          <a:p>
            <a:r>
              <a:rPr lang="en-US" sz="1600" dirty="0"/>
              <a:t>Voice assistants (Alexa, Google Assistant)</a:t>
            </a:r>
          </a:p>
          <a:p>
            <a:r>
              <a:rPr lang="en-US" sz="1600" dirty="0"/>
              <a:t>Recommendation systems (YouTube, Netflix)</a:t>
            </a:r>
          </a:p>
          <a:p>
            <a:r>
              <a:rPr lang="en-US" sz="1600" dirty="0"/>
              <a:t>Self-driving cars</a:t>
            </a:r>
          </a:p>
          <a:p>
            <a:r>
              <a:rPr lang="en-US" sz="1600" dirty="0"/>
              <a:t>Chatbots</a:t>
            </a:r>
          </a:p>
          <a:p>
            <a:r>
              <a:rPr lang="en-US" sz="1600" dirty="0"/>
              <a:t>Face recognition systems</a:t>
            </a:r>
          </a:p>
          <a:p>
            <a:endParaRPr lang="en-IN" sz="1600" dirty="0"/>
          </a:p>
        </p:txBody>
      </p:sp>
    </p:spTree>
    <p:extLst>
      <p:ext uri="{BB962C8B-B14F-4D97-AF65-F5344CB8AC3E}">
        <p14:creationId xmlns:p14="http://schemas.microsoft.com/office/powerpoint/2010/main" val="552668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C3E2D-2DED-F8D1-55EA-4DBE857CD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F54BE-2511-55C6-0D6F-3CE4FBCC4E27}"/>
              </a:ext>
            </a:extLst>
          </p:cNvPr>
          <p:cNvSpPr>
            <a:spLocks noGrp="1"/>
          </p:cNvSpPr>
          <p:nvPr>
            <p:ph type="title"/>
          </p:nvPr>
        </p:nvSpPr>
        <p:spPr>
          <a:xfrm>
            <a:off x="677334" y="331955"/>
            <a:ext cx="8596668" cy="484682"/>
          </a:xfrm>
        </p:spPr>
        <p:txBody>
          <a:bodyPr>
            <a:noAutofit/>
          </a:bodyPr>
          <a:lstStyle/>
          <a:p>
            <a:r>
              <a:rPr lang="en-US" sz="1600" b="1" dirty="0"/>
              <a:t>History of AI</a:t>
            </a:r>
          </a:p>
        </p:txBody>
      </p:sp>
      <p:pic>
        <p:nvPicPr>
          <p:cNvPr id="3" name="Picture 2" descr="HISTORY AND BACKGROUND OF ARTIFICIAL INTELLIGENCE | by Aluo Elizabeth | Jan, 2026 | Medium">
            <a:extLst>
              <a:ext uri="{FF2B5EF4-FFF2-40B4-BE49-F238E27FC236}">
                <a16:creationId xmlns:a16="http://schemas.microsoft.com/office/drawing/2014/main" id="{7C511DD3-02CF-BF81-7EBF-1AAEDA91A0A6}"/>
              </a:ext>
            </a:extLst>
          </p:cNvPr>
          <p:cNvPicPr>
            <a:picLocks noChangeAspect="1"/>
          </p:cNvPicPr>
          <p:nvPr/>
        </p:nvPicPr>
        <p:blipFill>
          <a:blip r:embed="rId2"/>
          <a:stretch>
            <a:fillRect/>
          </a:stretch>
        </p:blipFill>
        <p:spPr>
          <a:xfrm>
            <a:off x="399920" y="978812"/>
            <a:ext cx="9151495" cy="5147716"/>
          </a:xfrm>
          <a:prstGeom prst="rect">
            <a:avLst/>
          </a:prstGeom>
        </p:spPr>
      </p:pic>
    </p:spTree>
    <p:extLst>
      <p:ext uri="{BB962C8B-B14F-4D97-AF65-F5344CB8AC3E}">
        <p14:creationId xmlns:p14="http://schemas.microsoft.com/office/powerpoint/2010/main" val="266819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15CD1F-636A-C2CC-02F5-6327C871D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8DA5D-CB3B-20D5-D519-5F16A71FA15D}"/>
              </a:ext>
            </a:extLst>
          </p:cNvPr>
          <p:cNvSpPr>
            <a:spLocks noGrp="1"/>
          </p:cNvSpPr>
          <p:nvPr>
            <p:ph type="title"/>
          </p:nvPr>
        </p:nvSpPr>
        <p:spPr>
          <a:xfrm>
            <a:off x="677334" y="152073"/>
            <a:ext cx="8596668" cy="484682"/>
          </a:xfrm>
        </p:spPr>
        <p:txBody>
          <a:bodyPr>
            <a:noAutofit/>
          </a:bodyPr>
          <a:lstStyle/>
          <a:p>
            <a:r>
              <a:rPr lang="en-US" sz="1600" b="1" dirty="0"/>
              <a:t>History of AI</a:t>
            </a:r>
          </a:p>
        </p:txBody>
      </p:sp>
      <p:graphicFrame>
        <p:nvGraphicFramePr>
          <p:cNvPr id="4" name="Content Placeholder 3">
            <a:extLst>
              <a:ext uri="{FF2B5EF4-FFF2-40B4-BE49-F238E27FC236}">
                <a16:creationId xmlns:a16="http://schemas.microsoft.com/office/drawing/2014/main" id="{39F82ADC-E246-42FC-EB4B-F812DA5420F7}"/>
              </a:ext>
            </a:extLst>
          </p:cNvPr>
          <p:cNvGraphicFramePr>
            <a:graphicFrameLocks noGrp="1"/>
          </p:cNvGraphicFramePr>
          <p:nvPr>
            <p:ph idx="1"/>
            <p:extLst>
              <p:ext uri="{D42A27DB-BD31-4B8C-83A1-F6EECF244321}">
                <p14:modId xmlns:p14="http://schemas.microsoft.com/office/powerpoint/2010/main" val="2507847992"/>
              </p:ext>
            </p:extLst>
          </p:nvPr>
        </p:nvGraphicFramePr>
        <p:xfrm>
          <a:off x="677334" y="636756"/>
          <a:ext cx="8031951" cy="5768396"/>
        </p:xfrm>
        <a:graphic>
          <a:graphicData uri="http://schemas.openxmlformats.org/drawingml/2006/table">
            <a:tbl>
              <a:tblPr/>
              <a:tblGrid>
                <a:gridCol w="2677317">
                  <a:extLst>
                    <a:ext uri="{9D8B030D-6E8A-4147-A177-3AD203B41FA5}">
                      <a16:colId xmlns:a16="http://schemas.microsoft.com/office/drawing/2014/main" val="3877979963"/>
                    </a:ext>
                  </a:extLst>
                </a:gridCol>
                <a:gridCol w="2677317">
                  <a:extLst>
                    <a:ext uri="{9D8B030D-6E8A-4147-A177-3AD203B41FA5}">
                      <a16:colId xmlns:a16="http://schemas.microsoft.com/office/drawing/2014/main" val="3695533440"/>
                    </a:ext>
                  </a:extLst>
                </a:gridCol>
                <a:gridCol w="2677317">
                  <a:extLst>
                    <a:ext uri="{9D8B030D-6E8A-4147-A177-3AD203B41FA5}">
                      <a16:colId xmlns:a16="http://schemas.microsoft.com/office/drawing/2014/main" val="555595030"/>
                    </a:ext>
                  </a:extLst>
                </a:gridCol>
              </a:tblGrid>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2429266731"/>
                  </a:ext>
                </a:extLst>
              </a:tr>
              <a:tr h="450778">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2477390182"/>
                  </a:ext>
                </a:extLst>
              </a:tr>
              <a:tr h="45077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1355098844"/>
                  </a:ext>
                </a:extLst>
              </a:tr>
              <a:tr h="450778">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1291248855"/>
                  </a:ext>
                </a:extLst>
              </a:tr>
              <a:tr h="45077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868683957"/>
                  </a:ext>
                </a:extLst>
              </a:tr>
              <a:tr h="45077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1433667737"/>
                  </a:ext>
                </a:extLst>
              </a:tr>
              <a:tr h="45077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1543408067"/>
                  </a:ext>
                </a:extLst>
              </a:tr>
              <a:tr h="45077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2189524593"/>
                  </a:ext>
                </a:extLst>
              </a:tr>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1126758890"/>
                  </a:ext>
                </a:extLst>
              </a:tr>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a:p>
                  </a:txBody>
                  <a:tcPr marL="28890" marR="28890" marT="14445" marB="14445" anchor="ctr">
                    <a:lnL>
                      <a:noFill/>
                    </a:lnL>
                    <a:lnR>
                      <a:noFill/>
                    </a:lnR>
                    <a:lnT>
                      <a:noFill/>
                    </a:lnT>
                    <a:lnB>
                      <a:noFill/>
                    </a:lnB>
                    <a:noFill/>
                  </a:tcPr>
                </a:tc>
                <a:extLst>
                  <a:ext uri="{0D108BD9-81ED-4DB2-BD59-A6C34878D82A}">
                    <a16:rowId xmlns:a16="http://schemas.microsoft.com/office/drawing/2014/main" val="2636847948"/>
                  </a:ext>
                </a:extLst>
              </a:tr>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4191233270"/>
                  </a:ext>
                </a:extLst>
              </a:tr>
              <a:tr h="431110">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61185916"/>
                  </a:ext>
                </a:extLst>
              </a:tr>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307519186"/>
                  </a:ext>
                </a:extLst>
              </a:tr>
              <a:tr h="252623">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3003401185"/>
                  </a:ext>
                </a:extLst>
              </a:tr>
              <a:tr h="231238">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2354111268"/>
                  </a:ext>
                </a:extLst>
              </a:tr>
              <a:tr h="252623">
                <a:tc>
                  <a:txBody>
                    <a:bodyPr/>
                    <a:lstStyle/>
                    <a:p>
                      <a:pPr>
                        <a:buNone/>
                      </a:pPr>
                      <a:endParaRPr lang="en-IN" sz="160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tc>
                  <a:txBody>
                    <a:bodyPr/>
                    <a:lstStyle/>
                    <a:p>
                      <a:pPr>
                        <a:buNone/>
                      </a:pPr>
                      <a:endParaRPr lang="en-IN" sz="1600" dirty="0"/>
                    </a:p>
                  </a:txBody>
                  <a:tcPr marL="28890" marR="28890" marT="14445" marB="14445" anchor="ctr">
                    <a:lnL>
                      <a:noFill/>
                    </a:lnL>
                    <a:lnR>
                      <a:noFill/>
                    </a:lnR>
                    <a:lnT>
                      <a:noFill/>
                    </a:lnT>
                    <a:lnB>
                      <a:noFill/>
                    </a:lnB>
                    <a:noFill/>
                  </a:tcPr>
                </a:tc>
                <a:extLst>
                  <a:ext uri="{0D108BD9-81ED-4DB2-BD59-A6C34878D82A}">
                    <a16:rowId xmlns:a16="http://schemas.microsoft.com/office/drawing/2014/main" val="3866252302"/>
                  </a:ext>
                </a:extLst>
              </a:tr>
            </a:tbl>
          </a:graphicData>
        </a:graphic>
      </p:graphicFrame>
      <p:sp>
        <p:nvSpPr>
          <p:cNvPr id="5" name="TextBox 4">
            <a:extLst>
              <a:ext uri="{FF2B5EF4-FFF2-40B4-BE49-F238E27FC236}">
                <a16:creationId xmlns:a16="http://schemas.microsoft.com/office/drawing/2014/main" id="{2AEEB600-6153-FCAB-1C68-4A5A1F6060F3}"/>
              </a:ext>
            </a:extLst>
          </p:cNvPr>
          <p:cNvSpPr txBox="1"/>
          <p:nvPr/>
        </p:nvSpPr>
        <p:spPr>
          <a:xfrm>
            <a:off x="846943" y="877644"/>
            <a:ext cx="7562539" cy="4524315"/>
          </a:xfrm>
          <a:prstGeom prst="rect">
            <a:avLst/>
          </a:prstGeom>
          <a:noFill/>
        </p:spPr>
        <p:txBody>
          <a:bodyPr wrap="square">
            <a:spAutoFit/>
          </a:bodyPr>
          <a:lstStyle/>
          <a:p>
            <a:pPr marL="342900" indent="-342900">
              <a:buAutoNum type="arabicPeriod"/>
            </a:pPr>
            <a:r>
              <a:rPr lang="en-IN" sz="1600" b="1" dirty="0"/>
              <a:t>1950 — Turing Test</a:t>
            </a:r>
          </a:p>
          <a:p>
            <a:pPr marL="342900" indent="-342900">
              <a:buAutoNum type="arabicPeriod"/>
            </a:pPr>
            <a:endParaRPr lang="en-IN" sz="1600" b="1" dirty="0"/>
          </a:p>
          <a:p>
            <a:pPr>
              <a:buNone/>
            </a:pPr>
            <a:r>
              <a:rPr lang="en-IN" sz="1600" b="1" dirty="0"/>
              <a:t>Figure:</a:t>
            </a:r>
            <a:r>
              <a:rPr lang="en-IN" sz="1600" dirty="0"/>
              <a:t> Human brain icon</a:t>
            </a:r>
          </a:p>
          <a:p>
            <a:pPr>
              <a:buNone/>
            </a:pPr>
            <a:endParaRPr lang="en-IN" sz="1600" dirty="0"/>
          </a:p>
          <a:p>
            <a:pPr>
              <a:buNone/>
            </a:pPr>
            <a:r>
              <a:rPr lang="en-IN" sz="1600" dirty="0"/>
              <a:t>In 1950, British mathematician </a:t>
            </a:r>
            <a:r>
              <a:rPr lang="en-IN" sz="1600" b="1" dirty="0"/>
              <a:t>Alan Turing</a:t>
            </a:r>
            <a:r>
              <a:rPr lang="en-IN" sz="1600" dirty="0"/>
              <a:t> proposed a test for machine intelligence.</a:t>
            </a:r>
          </a:p>
          <a:p>
            <a:pPr>
              <a:buNone/>
            </a:pPr>
            <a:endParaRPr lang="en-IN" sz="1600" dirty="0"/>
          </a:p>
          <a:p>
            <a:pPr>
              <a:buNone/>
            </a:pPr>
            <a:r>
              <a:rPr lang="en-IN" sz="1600" dirty="0"/>
              <a:t>The basic question was:</a:t>
            </a:r>
          </a:p>
          <a:p>
            <a:pPr>
              <a:buNone/>
            </a:pPr>
            <a:endParaRPr lang="en-IN" sz="1600" dirty="0"/>
          </a:p>
          <a:p>
            <a:pPr>
              <a:buNone/>
            </a:pPr>
            <a:r>
              <a:rPr lang="en-IN" sz="1600" b="1" dirty="0"/>
              <a:t>Can a machine behave in a way that is indistinguishable from a human in conversation?</a:t>
            </a:r>
          </a:p>
          <a:p>
            <a:pPr>
              <a:buNone/>
            </a:pPr>
            <a:endParaRPr lang="en-IN" sz="1600" dirty="0"/>
          </a:p>
          <a:p>
            <a:pPr>
              <a:buNone/>
            </a:pPr>
            <a:r>
              <a:rPr lang="en-IN" sz="1600" dirty="0"/>
              <a:t>The idea became known as the </a:t>
            </a:r>
            <a:r>
              <a:rPr lang="en-IN" sz="1600" b="1" dirty="0"/>
              <a:t>Turing Test</a:t>
            </a:r>
            <a:r>
              <a:rPr lang="en-IN" sz="1600" dirty="0"/>
              <a:t>.</a:t>
            </a:r>
          </a:p>
          <a:p>
            <a:pPr>
              <a:buNone/>
            </a:pPr>
            <a:endParaRPr lang="en-IN" sz="1600" dirty="0"/>
          </a:p>
          <a:p>
            <a:pPr>
              <a:buNone/>
            </a:pPr>
            <a:r>
              <a:rPr lang="en-IN" sz="1600" b="1" dirty="0"/>
              <a:t>Why is it important?</a:t>
            </a:r>
          </a:p>
          <a:p>
            <a:pPr>
              <a:buNone/>
            </a:pPr>
            <a:endParaRPr lang="en-IN" sz="1600" b="1" dirty="0"/>
          </a:p>
          <a:p>
            <a:pPr>
              <a:buNone/>
            </a:pPr>
            <a:r>
              <a:rPr lang="en-IN" sz="1600" dirty="0"/>
              <a:t>It was one of the earliest influential discussions about whether machines could demonstrate intelligent </a:t>
            </a:r>
            <a:r>
              <a:rPr lang="en-IN" sz="1600" dirty="0" err="1"/>
              <a:t>behavior</a:t>
            </a:r>
            <a:r>
              <a:rPr lang="en-IN" sz="1600" dirty="0"/>
              <a:t>.</a:t>
            </a:r>
          </a:p>
        </p:txBody>
      </p:sp>
    </p:spTree>
    <p:extLst>
      <p:ext uri="{BB962C8B-B14F-4D97-AF65-F5344CB8AC3E}">
        <p14:creationId xmlns:p14="http://schemas.microsoft.com/office/powerpoint/2010/main" val="1209152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14A8F-5FBE-0721-113F-3FA640A5D5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01C8E-36B1-C0B3-9BC9-D0F552352D4B}"/>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8" name="Content Placeholder 7">
            <a:extLst>
              <a:ext uri="{FF2B5EF4-FFF2-40B4-BE49-F238E27FC236}">
                <a16:creationId xmlns:a16="http://schemas.microsoft.com/office/drawing/2014/main" id="{6F3A47D3-4A87-45CB-E3EC-2A86E5A54874}"/>
              </a:ext>
            </a:extLst>
          </p:cNvPr>
          <p:cNvSpPr>
            <a:spLocks noGrp="1"/>
          </p:cNvSpPr>
          <p:nvPr>
            <p:ph idx="1"/>
          </p:nvPr>
        </p:nvSpPr>
        <p:spPr>
          <a:xfrm>
            <a:off x="677334" y="1036326"/>
            <a:ext cx="8596668" cy="3880773"/>
          </a:xfrm>
        </p:spPr>
        <p:txBody>
          <a:bodyPr/>
          <a:lstStyle/>
          <a:p>
            <a:pPr marL="0" indent="0">
              <a:buNone/>
            </a:pPr>
            <a:r>
              <a:rPr lang="en-IN" b="1" dirty="0"/>
              <a:t>2. 1956 — Dartmouth Conference</a:t>
            </a:r>
          </a:p>
          <a:p>
            <a:r>
              <a:rPr lang="en-IN" b="1" dirty="0"/>
              <a:t>Figure:</a:t>
            </a:r>
            <a:r>
              <a:rPr lang="en-IN" dirty="0"/>
              <a:t> Gear icons</a:t>
            </a:r>
          </a:p>
          <a:p>
            <a:r>
              <a:rPr lang="en-IN" dirty="0"/>
              <a:t>This is generally considered the </a:t>
            </a:r>
            <a:r>
              <a:rPr lang="en-IN" b="1" dirty="0"/>
              <a:t>birth of AI as a formal research field</a:t>
            </a:r>
            <a:r>
              <a:rPr lang="en-IN" dirty="0"/>
              <a:t>.</a:t>
            </a:r>
          </a:p>
          <a:p>
            <a:r>
              <a:rPr lang="en-IN" dirty="0"/>
              <a:t>At the Dartmouth workshop, researchers proposed studying whether aspects of human intelligence could be described precisely enough for machines to simulate them.</a:t>
            </a:r>
          </a:p>
          <a:p>
            <a:r>
              <a:rPr lang="en-IN" dirty="0"/>
              <a:t>The term </a:t>
            </a:r>
            <a:r>
              <a:rPr lang="en-IN" b="1" dirty="0"/>
              <a:t>Artificial Intelligence</a:t>
            </a:r>
            <a:r>
              <a:rPr lang="en-IN" dirty="0"/>
              <a:t> is closely associated with this event, particularly with </a:t>
            </a:r>
            <a:r>
              <a:rPr lang="en-IN" b="1" dirty="0"/>
              <a:t>John McCarthy</a:t>
            </a:r>
            <a:r>
              <a:rPr lang="en-IN" dirty="0"/>
              <a:t>.</a:t>
            </a:r>
          </a:p>
          <a:p>
            <a:r>
              <a:rPr lang="en-IN" dirty="0"/>
              <a:t>This established AI as a distinct academic field.</a:t>
            </a:r>
          </a:p>
          <a:p>
            <a:endParaRPr lang="en-IN" dirty="0"/>
          </a:p>
        </p:txBody>
      </p:sp>
    </p:spTree>
    <p:extLst>
      <p:ext uri="{BB962C8B-B14F-4D97-AF65-F5344CB8AC3E}">
        <p14:creationId xmlns:p14="http://schemas.microsoft.com/office/powerpoint/2010/main" val="3769462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0F833-48C4-9C20-83BB-A9676AB87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888BB-E046-20D6-9618-C508AA6A0028}"/>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8" name="Content Placeholder 7">
            <a:extLst>
              <a:ext uri="{FF2B5EF4-FFF2-40B4-BE49-F238E27FC236}">
                <a16:creationId xmlns:a16="http://schemas.microsoft.com/office/drawing/2014/main" id="{7114E7E4-FA5E-6E12-FB96-C86AF5860D3F}"/>
              </a:ext>
            </a:extLst>
          </p:cNvPr>
          <p:cNvSpPr>
            <a:spLocks noGrp="1"/>
          </p:cNvSpPr>
          <p:nvPr>
            <p:ph idx="1"/>
          </p:nvPr>
        </p:nvSpPr>
        <p:spPr>
          <a:xfrm>
            <a:off x="677334" y="1036326"/>
            <a:ext cx="5618535" cy="3880773"/>
          </a:xfrm>
        </p:spPr>
        <p:txBody>
          <a:bodyPr>
            <a:normAutofit fontScale="92500"/>
          </a:bodyPr>
          <a:lstStyle/>
          <a:p>
            <a:pPr marL="0" indent="0">
              <a:buNone/>
            </a:pPr>
            <a:r>
              <a:rPr lang="en-IN" b="1" dirty="0"/>
              <a:t>3. 1980 — Expert Systems</a:t>
            </a:r>
          </a:p>
          <a:p>
            <a:r>
              <a:rPr lang="en-IN" b="1" dirty="0"/>
              <a:t>Figure:</a:t>
            </a:r>
            <a:r>
              <a:rPr lang="en-IN" dirty="0"/>
              <a:t> Robot</a:t>
            </a:r>
          </a:p>
          <a:p>
            <a:r>
              <a:rPr lang="en-IN" dirty="0"/>
              <a:t>During the 1970s and especially the 1980s, </a:t>
            </a:r>
            <a:r>
              <a:rPr lang="en-IN" b="1" dirty="0"/>
              <a:t>expert systems</a:t>
            </a:r>
            <a:r>
              <a:rPr lang="en-IN" dirty="0"/>
              <a:t> became an important AI approach.</a:t>
            </a:r>
          </a:p>
          <a:p>
            <a:r>
              <a:rPr lang="en-IN" dirty="0"/>
              <a:t>Instead of learning automatically from huge datasets, these systems used rules created from human expert knowledge.</a:t>
            </a:r>
          </a:p>
          <a:p>
            <a:r>
              <a:rPr lang="en-IN" dirty="0"/>
              <a:t>For example:</a:t>
            </a:r>
          </a:p>
          <a:p>
            <a:r>
              <a:rPr lang="en-IN" dirty="0"/>
              <a:t>IF customer has fever</a:t>
            </a:r>
          </a:p>
          <a:p>
            <a:r>
              <a:rPr lang="en-IN" dirty="0"/>
              <a:t>AND customer has cough</a:t>
            </a:r>
          </a:p>
          <a:p>
            <a:r>
              <a:rPr lang="en-IN" dirty="0"/>
              <a:t>THEN suggest medical evaluation</a:t>
            </a:r>
          </a:p>
          <a:p>
            <a:endParaRPr lang="en-IN" dirty="0"/>
          </a:p>
        </p:txBody>
      </p:sp>
      <p:sp>
        <p:nvSpPr>
          <p:cNvPr id="4" name="TextBox 3">
            <a:extLst>
              <a:ext uri="{FF2B5EF4-FFF2-40B4-BE49-F238E27FC236}">
                <a16:creationId xmlns:a16="http://schemas.microsoft.com/office/drawing/2014/main" id="{8700E22B-D5A0-9C43-EF4B-3A7696D0751A}"/>
              </a:ext>
            </a:extLst>
          </p:cNvPr>
          <p:cNvSpPr txBox="1"/>
          <p:nvPr/>
        </p:nvSpPr>
        <p:spPr>
          <a:xfrm>
            <a:off x="6295869" y="1036326"/>
            <a:ext cx="3852472" cy="2308324"/>
          </a:xfrm>
          <a:prstGeom prst="rect">
            <a:avLst/>
          </a:prstGeom>
          <a:noFill/>
        </p:spPr>
        <p:txBody>
          <a:bodyPr wrap="square">
            <a:spAutoFit/>
          </a:bodyPr>
          <a:lstStyle/>
          <a:p>
            <a:pPr>
              <a:buNone/>
            </a:pPr>
            <a:r>
              <a:rPr lang="en-IN" b="1" dirty="0"/>
              <a:t>Applications</a:t>
            </a:r>
          </a:p>
          <a:p>
            <a:pPr>
              <a:buNone/>
            </a:pPr>
            <a:endParaRPr lang="en-IN" b="1" dirty="0"/>
          </a:p>
          <a:p>
            <a:pPr>
              <a:buNone/>
            </a:pPr>
            <a:r>
              <a:rPr lang="en-IN" dirty="0"/>
              <a:t>Expert systems were developed for areas such as:</a:t>
            </a:r>
          </a:p>
          <a:p>
            <a:pPr>
              <a:buNone/>
            </a:pPr>
            <a:endParaRPr lang="en-IN" dirty="0"/>
          </a:p>
          <a:p>
            <a:pPr marL="342900" lvl="0" indent="-342900">
              <a:buFont typeface="Arial" panose="020B0604020202020204" pitchFamily="34" charset="0"/>
              <a:buChar char="•"/>
            </a:pPr>
            <a:r>
              <a:rPr lang="en-IN" dirty="0"/>
              <a:t>Medical diagnosis </a:t>
            </a:r>
          </a:p>
          <a:p>
            <a:pPr marL="342900" lvl="0" indent="-342900">
              <a:buFont typeface="Arial" panose="020B0604020202020204" pitchFamily="34" charset="0"/>
              <a:buChar char="•"/>
            </a:pPr>
            <a:r>
              <a:rPr lang="en-IN" dirty="0"/>
              <a:t>Finance </a:t>
            </a:r>
          </a:p>
          <a:p>
            <a:pPr marL="342900" lvl="0" indent="-342900">
              <a:buFont typeface="Arial" panose="020B0604020202020204" pitchFamily="34" charset="0"/>
              <a:buChar char="•"/>
            </a:pPr>
            <a:r>
              <a:rPr lang="en-IN" dirty="0"/>
              <a:t>Manufacturing</a:t>
            </a:r>
          </a:p>
        </p:txBody>
      </p:sp>
      <p:sp>
        <p:nvSpPr>
          <p:cNvPr id="6" name="TextBox 5">
            <a:extLst>
              <a:ext uri="{FF2B5EF4-FFF2-40B4-BE49-F238E27FC236}">
                <a16:creationId xmlns:a16="http://schemas.microsoft.com/office/drawing/2014/main" id="{921709F8-2DB8-0756-9C25-9201FE9B73DE}"/>
              </a:ext>
            </a:extLst>
          </p:cNvPr>
          <p:cNvSpPr txBox="1"/>
          <p:nvPr/>
        </p:nvSpPr>
        <p:spPr>
          <a:xfrm>
            <a:off x="966866" y="5136788"/>
            <a:ext cx="6100996" cy="1200329"/>
          </a:xfrm>
          <a:prstGeom prst="rect">
            <a:avLst/>
          </a:prstGeom>
          <a:noFill/>
        </p:spPr>
        <p:txBody>
          <a:bodyPr wrap="square">
            <a:spAutoFit/>
          </a:bodyPr>
          <a:lstStyle/>
          <a:p>
            <a:pPr>
              <a:buNone/>
            </a:pPr>
            <a:r>
              <a:rPr lang="en-IN" b="1" dirty="0"/>
              <a:t>Limitation</a:t>
            </a:r>
          </a:p>
          <a:p>
            <a:pPr>
              <a:buNone/>
            </a:pPr>
            <a:endParaRPr lang="en-IN" b="1" dirty="0"/>
          </a:p>
          <a:p>
            <a:pPr>
              <a:buNone/>
            </a:pPr>
            <a:r>
              <a:rPr lang="en-IN" dirty="0"/>
              <a:t>They required humans to manually create and maintain large numbers of rules.</a:t>
            </a:r>
          </a:p>
        </p:txBody>
      </p:sp>
    </p:spTree>
    <p:extLst>
      <p:ext uri="{BB962C8B-B14F-4D97-AF65-F5344CB8AC3E}">
        <p14:creationId xmlns:p14="http://schemas.microsoft.com/office/powerpoint/2010/main" val="1988250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6D31F-0FCA-CD50-95F8-26D754093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A8258-3863-C3DB-7A21-EE8B7E4D77C8}"/>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5" name="Content Placeholder 4">
            <a:extLst>
              <a:ext uri="{FF2B5EF4-FFF2-40B4-BE49-F238E27FC236}">
                <a16:creationId xmlns:a16="http://schemas.microsoft.com/office/drawing/2014/main" id="{34F8DDE0-8C14-94A8-C19C-D47400838017}"/>
              </a:ext>
            </a:extLst>
          </p:cNvPr>
          <p:cNvSpPr>
            <a:spLocks noGrp="1"/>
          </p:cNvSpPr>
          <p:nvPr>
            <p:ph idx="1"/>
          </p:nvPr>
        </p:nvSpPr>
        <p:spPr>
          <a:xfrm>
            <a:off x="677334" y="1081297"/>
            <a:ext cx="8596668" cy="3880773"/>
          </a:xfrm>
        </p:spPr>
        <p:txBody>
          <a:bodyPr>
            <a:normAutofit lnSpcReduction="10000"/>
          </a:bodyPr>
          <a:lstStyle/>
          <a:p>
            <a:pPr marL="0" indent="0">
              <a:buNone/>
            </a:pPr>
            <a:r>
              <a:rPr lang="en-IN" b="1" dirty="0"/>
              <a:t>4. 1997 — Deep Blue Beats Kasparov</a:t>
            </a:r>
          </a:p>
          <a:p>
            <a:r>
              <a:rPr lang="en-IN" b="1" dirty="0"/>
              <a:t>Figure:</a:t>
            </a:r>
            <a:r>
              <a:rPr lang="en-IN" dirty="0"/>
              <a:t> Chess board</a:t>
            </a:r>
          </a:p>
          <a:p>
            <a:r>
              <a:rPr lang="en-IN" dirty="0"/>
              <a:t>In 1997, IBM's </a:t>
            </a:r>
            <a:r>
              <a:rPr lang="en-IN" b="1" dirty="0"/>
              <a:t>Deep Blue</a:t>
            </a:r>
            <a:r>
              <a:rPr lang="en-IN" dirty="0"/>
              <a:t> defeated world chess champion </a:t>
            </a:r>
            <a:r>
              <a:rPr lang="en-IN" b="1" dirty="0"/>
              <a:t>Garry Kasparov</a:t>
            </a:r>
            <a:r>
              <a:rPr lang="en-IN" dirty="0"/>
              <a:t> in a six-game match.</a:t>
            </a:r>
          </a:p>
          <a:p>
            <a:r>
              <a:rPr lang="en-IN" dirty="0"/>
              <a:t>This was a major milestone in AI.</a:t>
            </a:r>
          </a:p>
          <a:p>
            <a:r>
              <a:rPr lang="en-IN" dirty="0"/>
              <a:t>Deep Blue demonstrated that computers could perform extremely sophisticated decision-making in a complex game.</a:t>
            </a:r>
          </a:p>
          <a:p>
            <a:pPr marL="0" indent="0">
              <a:buNone/>
            </a:pPr>
            <a:r>
              <a:rPr lang="en-IN" b="1" dirty="0"/>
              <a:t>Important point for students</a:t>
            </a:r>
          </a:p>
          <a:p>
            <a:r>
              <a:rPr lang="en-IN" dirty="0"/>
              <a:t>Deep Blue was </a:t>
            </a:r>
            <a:r>
              <a:rPr lang="en-IN" b="1" dirty="0"/>
              <a:t>not a Generative AI system</a:t>
            </a:r>
            <a:r>
              <a:rPr lang="en-IN" dirty="0"/>
              <a:t>.</a:t>
            </a:r>
          </a:p>
          <a:p>
            <a:r>
              <a:rPr lang="en-IN" dirty="0"/>
              <a:t>It primarily used specialized chess search and evaluation techniques rather than today's large neural-network-based language models.</a:t>
            </a:r>
          </a:p>
          <a:p>
            <a:endParaRPr lang="en-IN" dirty="0"/>
          </a:p>
        </p:txBody>
      </p:sp>
    </p:spTree>
    <p:extLst>
      <p:ext uri="{BB962C8B-B14F-4D97-AF65-F5344CB8AC3E}">
        <p14:creationId xmlns:p14="http://schemas.microsoft.com/office/powerpoint/2010/main" val="1531518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ADDD0-EF12-8337-3BE4-F2A54BF71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5CD4F-0B29-C6AD-9E9F-8F421B793D6E}"/>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5" name="Content Placeholder 4">
            <a:extLst>
              <a:ext uri="{FF2B5EF4-FFF2-40B4-BE49-F238E27FC236}">
                <a16:creationId xmlns:a16="http://schemas.microsoft.com/office/drawing/2014/main" id="{0AE2B415-D46B-E338-A934-7133E7F447B9}"/>
              </a:ext>
            </a:extLst>
          </p:cNvPr>
          <p:cNvSpPr>
            <a:spLocks noGrp="1"/>
          </p:cNvSpPr>
          <p:nvPr>
            <p:ph idx="1"/>
          </p:nvPr>
        </p:nvSpPr>
        <p:spPr>
          <a:xfrm>
            <a:off x="677334" y="1081297"/>
            <a:ext cx="5948318" cy="3880773"/>
          </a:xfrm>
        </p:spPr>
        <p:txBody>
          <a:bodyPr>
            <a:normAutofit lnSpcReduction="10000"/>
          </a:bodyPr>
          <a:lstStyle/>
          <a:p>
            <a:pPr marL="0" indent="0">
              <a:buNone/>
            </a:pPr>
            <a:r>
              <a:rPr lang="en-IN" b="1" dirty="0"/>
              <a:t>5. 2012 — Deep Learning / </a:t>
            </a:r>
            <a:r>
              <a:rPr lang="en-IN" b="1" dirty="0" err="1"/>
              <a:t>AlexNet</a:t>
            </a:r>
            <a:endParaRPr lang="en-IN" b="1" dirty="0"/>
          </a:p>
          <a:p>
            <a:r>
              <a:rPr lang="en-IN" b="1" dirty="0"/>
              <a:t>Figure:</a:t>
            </a:r>
            <a:r>
              <a:rPr lang="en-IN" dirty="0"/>
              <a:t> Neural-network nodes</a:t>
            </a:r>
          </a:p>
          <a:p>
            <a:r>
              <a:rPr lang="en-IN" dirty="0"/>
              <a:t>This is one of the most important steps toward today's AI.</a:t>
            </a:r>
          </a:p>
          <a:p>
            <a:r>
              <a:rPr lang="en-IN" dirty="0"/>
              <a:t>In 2012, </a:t>
            </a:r>
            <a:r>
              <a:rPr lang="en-IN" b="1" dirty="0" err="1"/>
              <a:t>AlexNet</a:t>
            </a:r>
            <a:r>
              <a:rPr lang="en-IN" dirty="0"/>
              <a:t> demonstrated the power of deep neural networks for image recognition.</a:t>
            </a:r>
          </a:p>
          <a:p>
            <a:r>
              <a:rPr lang="en-IN" dirty="0"/>
              <a:t>The combination of:</a:t>
            </a:r>
          </a:p>
          <a:p>
            <a:pPr lvl="0"/>
            <a:r>
              <a:rPr lang="en-IN" dirty="0"/>
              <a:t>Large datasets </a:t>
            </a:r>
          </a:p>
          <a:p>
            <a:pPr lvl="0"/>
            <a:r>
              <a:rPr lang="en-IN" dirty="0"/>
              <a:t>More powerful GPUs </a:t>
            </a:r>
          </a:p>
          <a:p>
            <a:pPr lvl="0"/>
            <a:r>
              <a:rPr lang="en-IN" dirty="0"/>
              <a:t>Improved neural-network techniques </a:t>
            </a:r>
          </a:p>
          <a:p>
            <a:r>
              <a:rPr lang="en-IN" dirty="0"/>
              <a:t>caused rapid progress in </a:t>
            </a:r>
            <a:r>
              <a:rPr lang="en-IN" b="1" dirty="0"/>
              <a:t>Deep Learning</a:t>
            </a:r>
            <a:r>
              <a:rPr lang="en-IN" dirty="0"/>
              <a:t>.</a:t>
            </a:r>
          </a:p>
          <a:p>
            <a:endParaRPr lang="en-IN" dirty="0"/>
          </a:p>
        </p:txBody>
      </p:sp>
      <p:sp>
        <p:nvSpPr>
          <p:cNvPr id="4" name="TextBox 3">
            <a:extLst>
              <a:ext uri="{FF2B5EF4-FFF2-40B4-BE49-F238E27FC236}">
                <a16:creationId xmlns:a16="http://schemas.microsoft.com/office/drawing/2014/main" id="{D41C63D3-52CD-DE64-7372-459919864F7D}"/>
              </a:ext>
            </a:extLst>
          </p:cNvPr>
          <p:cNvSpPr txBox="1"/>
          <p:nvPr/>
        </p:nvSpPr>
        <p:spPr>
          <a:xfrm>
            <a:off x="6625652" y="1081297"/>
            <a:ext cx="4039850" cy="2308324"/>
          </a:xfrm>
          <a:prstGeom prst="rect">
            <a:avLst/>
          </a:prstGeom>
          <a:noFill/>
        </p:spPr>
        <p:txBody>
          <a:bodyPr wrap="square">
            <a:spAutoFit/>
          </a:bodyPr>
          <a:lstStyle/>
          <a:p>
            <a:pPr>
              <a:buNone/>
            </a:pPr>
            <a:r>
              <a:rPr lang="en-IN" dirty="0"/>
              <a:t>Deep learning subsequently became extremely important in:</a:t>
            </a:r>
          </a:p>
          <a:p>
            <a:pPr>
              <a:buNone/>
            </a:pPr>
            <a:endParaRPr lang="en-IN" dirty="0"/>
          </a:p>
          <a:p>
            <a:pPr marL="342900" lvl="0" indent="-342900">
              <a:buFont typeface="Arial" panose="020B0604020202020204" pitchFamily="34" charset="0"/>
              <a:buChar char="•"/>
            </a:pPr>
            <a:r>
              <a:rPr lang="en-IN" dirty="0"/>
              <a:t>Computer vision </a:t>
            </a:r>
          </a:p>
          <a:p>
            <a:pPr marL="342900" lvl="0" indent="-342900">
              <a:buFont typeface="Arial" panose="020B0604020202020204" pitchFamily="34" charset="0"/>
              <a:buChar char="•"/>
            </a:pPr>
            <a:r>
              <a:rPr lang="en-IN" dirty="0"/>
              <a:t>Speech recognition </a:t>
            </a:r>
          </a:p>
          <a:p>
            <a:pPr marL="342900" lvl="0" indent="-342900">
              <a:buFont typeface="Arial" panose="020B0604020202020204" pitchFamily="34" charset="0"/>
              <a:buChar char="•"/>
            </a:pPr>
            <a:r>
              <a:rPr lang="en-IN" dirty="0"/>
              <a:t>Natural language processing </a:t>
            </a:r>
          </a:p>
          <a:p>
            <a:pPr marL="342900" lvl="0" indent="-342900">
              <a:buFont typeface="Arial" panose="020B0604020202020204" pitchFamily="34" charset="0"/>
              <a:buChar char="•"/>
            </a:pPr>
            <a:r>
              <a:rPr lang="en-IN" dirty="0"/>
              <a:t>Recommendation systems </a:t>
            </a:r>
          </a:p>
          <a:p>
            <a:pPr marL="342900" lvl="0" indent="-342900">
              <a:buFont typeface="Arial" panose="020B0604020202020204" pitchFamily="34" charset="0"/>
              <a:buChar char="•"/>
            </a:pPr>
            <a:r>
              <a:rPr lang="en-IN" dirty="0"/>
              <a:t>Autonomous systems </a:t>
            </a:r>
          </a:p>
        </p:txBody>
      </p:sp>
    </p:spTree>
    <p:extLst>
      <p:ext uri="{BB962C8B-B14F-4D97-AF65-F5344CB8AC3E}">
        <p14:creationId xmlns:p14="http://schemas.microsoft.com/office/powerpoint/2010/main" val="2437422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AD51-B921-3750-AB78-3104FA98C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C022A1-8BE9-E51C-F08A-8E0144CACFA5}"/>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6" name="Content Placeholder 5">
            <a:extLst>
              <a:ext uri="{FF2B5EF4-FFF2-40B4-BE49-F238E27FC236}">
                <a16:creationId xmlns:a16="http://schemas.microsoft.com/office/drawing/2014/main" id="{54D1B5C8-DCE2-53DA-4EB2-652857D5347F}"/>
              </a:ext>
            </a:extLst>
          </p:cNvPr>
          <p:cNvSpPr>
            <a:spLocks noGrp="1"/>
          </p:cNvSpPr>
          <p:nvPr>
            <p:ph idx="1"/>
          </p:nvPr>
        </p:nvSpPr>
        <p:spPr>
          <a:xfrm>
            <a:off x="677334" y="816637"/>
            <a:ext cx="8596668" cy="5866643"/>
          </a:xfrm>
        </p:spPr>
        <p:txBody>
          <a:bodyPr>
            <a:noAutofit/>
          </a:bodyPr>
          <a:lstStyle/>
          <a:p>
            <a:pPr marL="0" indent="0">
              <a:buNone/>
            </a:pPr>
            <a:r>
              <a:rPr lang="en-IN" sz="1600" b="1" dirty="0"/>
              <a:t>6. 2020 — GPT-3</a:t>
            </a:r>
          </a:p>
          <a:p>
            <a:r>
              <a:rPr lang="en-IN" sz="1600" b="1" dirty="0"/>
              <a:t>Figure:</a:t>
            </a:r>
            <a:r>
              <a:rPr lang="en-IN" sz="1600" dirty="0"/>
              <a:t> OpenAI logo</a:t>
            </a:r>
          </a:p>
          <a:p>
            <a:r>
              <a:rPr lang="en-IN" sz="1600" dirty="0"/>
              <a:t>GPT-3 was a major milestone in the development of </a:t>
            </a:r>
            <a:r>
              <a:rPr lang="en-IN" sz="1600" b="1" dirty="0"/>
              <a:t>Large Language Models (LLMs)</a:t>
            </a:r>
            <a:r>
              <a:rPr lang="en-IN" sz="1600" dirty="0"/>
              <a:t>.</a:t>
            </a:r>
          </a:p>
          <a:p>
            <a:r>
              <a:rPr lang="en-IN" sz="1600" dirty="0"/>
              <a:t>GPT-3 demonstrated that a very large language model could perform many different language tasks from natural-language instructions and examples.</a:t>
            </a:r>
          </a:p>
          <a:p>
            <a:r>
              <a:rPr lang="en-IN" sz="1600" dirty="0"/>
              <a:t>It could generate:</a:t>
            </a:r>
          </a:p>
          <a:p>
            <a:pPr lvl="0"/>
            <a:r>
              <a:rPr lang="en-IN" sz="1600" dirty="0"/>
              <a:t>Text </a:t>
            </a:r>
          </a:p>
          <a:p>
            <a:pPr lvl="0"/>
            <a:r>
              <a:rPr lang="en-IN" sz="1600" dirty="0"/>
              <a:t>Stories </a:t>
            </a:r>
          </a:p>
          <a:p>
            <a:pPr lvl="0"/>
            <a:r>
              <a:rPr lang="en-IN" sz="1600" dirty="0"/>
              <a:t>Summaries </a:t>
            </a:r>
          </a:p>
          <a:p>
            <a:pPr lvl="0"/>
            <a:r>
              <a:rPr lang="en-IN" sz="1600" dirty="0"/>
              <a:t>Answers </a:t>
            </a:r>
          </a:p>
          <a:p>
            <a:pPr lvl="0"/>
            <a:r>
              <a:rPr lang="en-IN" sz="1600" dirty="0"/>
              <a:t>Code </a:t>
            </a:r>
          </a:p>
          <a:p>
            <a:pPr lvl="0"/>
            <a:r>
              <a:rPr lang="en-IN" sz="1600" dirty="0"/>
              <a:t>Translations </a:t>
            </a:r>
          </a:p>
          <a:p>
            <a:pPr marL="0" indent="0">
              <a:buNone/>
            </a:pPr>
            <a:r>
              <a:rPr lang="en-IN" sz="1600" b="1" dirty="0"/>
              <a:t>Important transition</a:t>
            </a:r>
          </a:p>
          <a:p>
            <a:r>
              <a:rPr lang="en-IN" sz="1600" dirty="0"/>
              <a:t>This represents a movement from:</a:t>
            </a:r>
          </a:p>
          <a:p>
            <a:r>
              <a:rPr lang="en-IN" sz="1600" b="1" dirty="0"/>
              <a:t>AI that predicts/classifies → AI that generates content</a:t>
            </a:r>
            <a:endParaRPr lang="en-IN" sz="1600" dirty="0"/>
          </a:p>
          <a:p>
            <a:r>
              <a:rPr lang="en-IN" sz="1600" dirty="0"/>
              <a:t>That is the beginning of the modern </a:t>
            </a:r>
            <a:r>
              <a:rPr lang="en-IN" sz="1600" b="1" dirty="0"/>
              <a:t>Generative AI era</a:t>
            </a:r>
            <a:r>
              <a:rPr lang="en-IN" sz="1600" dirty="0"/>
              <a:t>.</a:t>
            </a:r>
          </a:p>
          <a:p>
            <a:endParaRPr lang="en-IN" sz="1600" dirty="0"/>
          </a:p>
        </p:txBody>
      </p:sp>
    </p:spTree>
    <p:extLst>
      <p:ext uri="{BB962C8B-B14F-4D97-AF65-F5344CB8AC3E}">
        <p14:creationId xmlns:p14="http://schemas.microsoft.com/office/powerpoint/2010/main" val="1381224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57D86-51F4-75F6-E36E-20EADD8D9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432C14-1679-269F-960A-694D293C42C1}"/>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6" name="Content Placeholder 5">
            <a:extLst>
              <a:ext uri="{FF2B5EF4-FFF2-40B4-BE49-F238E27FC236}">
                <a16:creationId xmlns:a16="http://schemas.microsoft.com/office/drawing/2014/main" id="{8D055F4E-11B3-2100-9380-7A55821F15C8}"/>
              </a:ext>
            </a:extLst>
          </p:cNvPr>
          <p:cNvSpPr>
            <a:spLocks noGrp="1"/>
          </p:cNvSpPr>
          <p:nvPr>
            <p:ph idx="1"/>
          </p:nvPr>
        </p:nvSpPr>
        <p:spPr>
          <a:xfrm>
            <a:off x="677334" y="816637"/>
            <a:ext cx="8596668" cy="5866643"/>
          </a:xfrm>
        </p:spPr>
        <p:txBody>
          <a:bodyPr>
            <a:noAutofit/>
          </a:bodyPr>
          <a:lstStyle/>
          <a:p>
            <a:pPr marL="0" indent="0">
              <a:buNone/>
            </a:pPr>
            <a:r>
              <a:rPr lang="en-IN" sz="1600" b="1" dirty="0"/>
              <a:t>7. 2023 — GPT-4 &amp; ChatGPT</a:t>
            </a:r>
          </a:p>
          <a:p>
            <a:r>
              <a:rPr lang="en-IN" sz="1600" b="1" dirty="0"/>
              <a:t>Figure:</a:t>
            </a:r>
            <a:r>
              <a:rPr lang="en-IN" sz="1600" dirty="0"/>
              <a:t> AI/chat icon</a:t>
            </a:r>
          </a:p>
          <a:p>
            <a:r>
              <a:rPr lang="en-IN" sz="1600" dirty="0"/>
              <a:t>This part of the diagram represents the rapid mainstream adoption of Generative AI.</a:t>
            </a:r>
          </a:p>
          <a:p>
            <a:r>
              <a:rPr lang="en-IN" sz="1600" dirty="0"/>
              <a:t>A small clarification is useful when teaching this:</a:t>
            </a:r>
          </a:p>
          <a:p>
            <a:r>
              <a:rPr lang="en-IN" sz="1600" b="1" dirty="0"/>
              <a:t>ChatGPT was launched publicly in November 2022</a:t>
            </a:r>
            <a:r>
              <a:rPr lang="en-IN" sz="1600" dirty="0"/>
              <a:t>, while </a:t>
            </a:r>
            <a:r>
              <a:rPr lang="en-IN" sz="1600" b="1" dirty="0"/>
              <a:t>GPT-4 was introduced in March 2023</a:t>
            </a:r>
            <a:r>
              <a:rPr lang="en-IN" sz="1600" dirty="0"/>
              <a:t>.</a:t>
            </a:r>
          </a:p>
          <a:p>
            <a:r>
              <a:rPr lang="en-IN" sz="1600" dirty="0"/>
              <a:t>ChatGPT made interaction with an LLM extremely accessible.</a:t>
            </a:r>
          </a:p>
          <a:p>
            <a:r>
              <a:rPr lang="en-IN" sz="1600" dirty="0"/>
              <a:t>Instead of writing computer instructions in a programming language, users could simply write:</a:t>
            </a:r>
          </a:p>
          <a:p>
            <a:r>
              <a:rPr lang="en-IN" sz="1600" dirty="0"/>
              <a:t>"Explain this concept."</a:t>
            </a:r>
          </a:p>
          <a:p>
            <a:r>
              <a:rPr lang="en-IN" sz="1600" dirty="0"/>
              <a:t>or</a:t>
            </a:r>
          </a:p>
          <a:p>
            <a:r>
              <a:rPr lang="en-IN" sz="1600" dirty="0"/>
              <a:t>"Create a Selenium Java test using Page Object Model."</a:t>
            </a:r>
          </a:p>
          <a:p>
            <a:r>
              <a:rPr lang="en-IN" sz="1600" dirty="0"/>
              <a:t>The AI could respond in natural language and generate useful content.</a:t>
            </a:r>
          </a:p>
          <a:p>
            <a:endParaRPr lang="en-IN" sz="1600" dirty="0"/>
          </a:p>
        </p:txBody>
      </p:sp>
    </p:spTree>
    <p:extLst>
      <p:ext uri="{BB962C8B-B14F-4D97-AF65-F5344CB8AC3E}">
        <p14:creationId xmlns:p14="http://schemas.microsoft.com/office/powerpoint/2010/main" val="34457479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88A80-6035-ED29-FAA2-044F9A3D1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CF83A-9E5A-A876-F519-E385157052B4}"/>
              </a:ext>
            </a:extLst>
          </p:cNvPr>
          <p:cNvSpPr>
            <a:spLocks noGrp="1"/>
          </p:cNvSpPr>
          <p:nvPr>
            <p:ph type="title"/>
          </p:nvPr>
        </p:nvSpPr>
        <p:spPr>
          <a:xfrm>
            <a:off x="677334" y="331955"/>
            <a:ext cx="8596668" cy="484682"/>
          </a:xfrm>
        </p:spPr>
        <p:txBody>
          <a:bodyPr>
            <a:noAutofit/>
          </a:bodyPr>
          <a:lstStyle/>
          <a:p>
            <a:r>
              <a:rPr lang="en-US" sz="1600" b="1" dirty="0"/>
              <a:t>History of AI</a:t>
            </a:r>
          </a:p>
        </p:txBody>
      </p:sp>
      <p:sp>
        <p:nvSpPr>
          <p:cNvPr id="6" name="Content Placeholder 5">
            <a:extLst>
              <a:ext uri="{FF2B5EF4-FFF2-40B4-BE49-F238E27FC236}">
                <a16:creationId xmlns:a16="http://schemas.microsoft.com/office/drawing/2014/main" id="{9F3F3159-D056-CB75-09F6-E6127D640A18}"/>
              </a:ext>
            </a:extLst>
          </p:cNvPr>
          <p:cNvSpPr>
            <a:spLocks noGrp="1"/>
          </p:cNvSpPr>
          <p:nvPr>
            <p:ph idx="1"/>
          </p:nvPr>
        </p:nvSpPr>
        <p:spPr>
          <a:xfrm>
            <a:off x="677334" y="816637"/>
            <a:ext cx="8596668" cy="4309999"/>
          </a:xfrm>
        </p:spPr>
        <p:txBody>
          <a:bodyPr>
            <a:noAutofit/>
          </a:bodyPr>
          <a:lstStyle/>
          <a:p>
            <a:pPr marL="0" indent="0">
              <a:buNone/>
            </a:pPr>
            <a:r>
              <a:rPr lang="en-IN" sz="1600" b="1" dirty="0"/>
              <a:t>8. 2025 — Multimodal &amp; Agentic AI</a:t>
            </a:r>
          </a:p>
          <a:p>
            <a:r>
              <a:rPr lang="en-IN" sz="1600" b="1" dirty="0"/>
              <a:t>Figure:</a:t>
            </a:r>
            <a:r>
              <a:rPr lang="en-IN" sz="1600" dirty="0"/>
              <a:t> Cube + connected nodes</a:t>
            </a:r>
          </a:p>
          <a:p>
            <a:r>
              <a:rPr lang="en-IN" sz="1600" dirty="0"/>
              <a:t>The final part of the diagram represents the transition toward </a:t>
            </a:r>
            <a:r>
              <a:rPr lang="en-IN" sz="1600" b="1" dirty="0"/>
              <a:t>AI systems that can work across multiple types of information and perform multi-step tasks</a:t>
            </a:r>
            <a:r>
              <a:rPr lang="en-IN" sz="1600" dirty="0"/>
              <a:t>.</a:t>
            </a:r>
          </a:p>
          <a:p>
            <a:r>
              <a:rPr lang="en-IN" sz="1600" b="1" dirty="0"/>
              <a:t>Multimodal AI</a:t>
            </a:r>
          </a:p>
          <a:p>
            <a:r>
              <a:rPr lang="en-IN" sz="1600" dirty="0"/>
              <a:t>Instead of working only with text, AI can work with combinations of:</a:t>
            </a:r>
          </a:p>
          <a:p>
            <a:pPr lvl="0"/>
            <a:r>
              <a:rPr lang="en-IN" sz="1600" dirty="0"/>
              <a:t>Text </a:t>
            </a:r>
          </a:p>
          <a:p>
            <a:pPr lvl="0"/>
            <a:r>
              <a:rPr lang="en-IN" sz="1600" dirty="0"/>
              <a:t>Images </a:t>
            </a:r>
          </a:p>
          <a:p>
            <a:pPr lvl="0"/>
            <a:r>
              <a:rPr lang="en-IN" sz="1600" dirty="0"/>
              <a:t>Audio </a:t>
            </a:r>
          </a:p>
          <a:p>
            <a:pPr lvl="0"/>
            <a:r>
              <a:rPr lang="en-IN" sz="1600" dirty="0"/>
              <a:t>Video </a:t>
            </a:r>
          </a:p>
          <a:p>
            <a:pPr lvl="0"/>
            <a:r>
              <a:rPr lang="en-IN" sz="1600" dirty="0"/>
              <a:t>Code</a:t>
            </a:r>
          </a:p>
          <a:p>
            <a:endParaRPr lang="en-IN" sz="1600" dirty="0"/>
          </a:p>
        </p:txBody>
      </p:sp>
    </p:spTree>
    <p:extLst>
      <p:ext uri="{BB962C8B-B14F-4D97-AF65-F5344CB8AC3E}">
        <p14:creationId xmlns:p14="http://schemas.microsoft.com/office/powerpoint/2010/main" val="3848794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75213-1B33-3372-1305-1911A35DAC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DBA99-E020-C989-1117-AD0E57B97EC5}"/>
              </a:ext>
            </a:extLst>
          </p:cNvPr>
          <p:cNvSpPr>
            <a:spLocks noGrp="1"/>
          </p:cNvSpPr>
          <p:nvPr>
            <p:ph type="title"/>
          </p:nvPr>
        </p:nvSpPr>
        <p:spPr/>
        <p:txBody>
          <a:bodyPr>
            <a:noAutofit/>
          </a:bodyPr>
          <a:lstStyle/>
          <a:p>
            <a:br>
              <a:rPr lang="en-US" sz="2800" b="1" dirty="0"/>
            </a:br>
            <a:endParaRPr lang="en-IN" sz="2800" dirty="0"/>
          </a:p>
        </p:txBody>
      </p:sp>
      <p:sp>
        <p:nvSpPr>
          <p:cNvPr id="3" name="Content Placeholder 2">
            <a:extLst>
              <a:ext uri="{FF2B5EF4-FFF2-40B4-BE49-F238E27FC236}">
                <a16:creationId xmlns:a16="http://schemas.microsoft.com/office/drawing/2014/main" id="{B10CF9B6-267D-34A6-CA85-E97E16A09B42}"/>
              </a:ext>
            </a:extLst>
          </p:cNvPr>
          <p:cNvSpPr>
            <a:spLocks noGrp="1"/>
          </p:cNvSpPr>
          <p:nvPr>
            <p:ph idx="1"/>
          </p:nvPr>
        </p:nvSpPr>
        <p:spPr>
          <a:xfrm>
            <a:off x="677334" y="1679029"/>
            <a:ext cx="8596668" cy="4362334"/>
          </a:xfrm>
        </p:spPr>
        <p:txBody>
          <a:bodyPr>
            <a:normAutofit/>
          </a:bodyPr>
          <a:lstStyle/>
          <a:p>
            <a:pPr marL="0" indent="0">
              <a:buNone/>
            </a:pPr>
            <a:r>
              <a:rPr lang="en-US" sz="1600" b="1" dirty="0"/>
              <a:t>Types of Artificial Intelligence</a:t>
            </a:r>
          </a:p>
          <a:p>
            <a:r>
              <a:rPr lang="en-US" sz="1600" b="1" dirty="0"/>
              <a:t>Based on Capabilities</a:t>
            </a:r>
            <a:endParaRPr lang="en-US" sz="1600" dirty="0"/>
          </a:p>
          <a:p>
            <a:r>
              <a:rPr lang="en-US" sz="1600" b="1" dirty="0"/>
              <a:t>Based on Functionality</a:t>
            </a:r>
            <a:endParaRPr lang="en-US" sz="1600" dirty="0"/>
          </a:p>
          <a:p>
            <a:endParaRPr lang="en-IN" sz="1600" dirty="0"/>
          </a:p>
        </p:txBody>
      </p:sp>
      <p:sp>
        <p:nvSpPr>
          <p:cNvPr id="6" name="Title 1">
            <a:extLst>
              <a:ext uri="{FF2B5EF4-FFF2-40B4-BE49-F238E27FC236}">
                <a16:creationId xmlns:a16="http://schemas.microsoft.com/office/drawing/2014/main" id="{EFC3C8B5-45DF-6EB3-8E28-03BFBB3E800D}"/>
              </a:ext>
            </a:extLst>
          </p:cNvPr>
          <p:cNvSpPr txBox="1">
            <a:spLocks/>
          </p:cNvSpPr>
          <p:nvPr/>
        </p:nvSpPr>
        <p:spPr>
          <a:xfrm>
            <a:off x="677334" y="738351"/>
            <a:ext cx="8596668" cy="712077"/>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2800" dirty="0"/>
              <a:t>Types of AI</a:t>
            </a:r>
          </a:p>
        </p:txBody>
      </p:sp>
    </p:spTree>
    <p:extLst>
      <p:ext uri="{BB962C8B-B14F-4D97-AF65-F5344CB8AC3E}">
        <p14:creationId xmlns:p14="http://schemas.microsoft.com/office/powerpoint/2010/main" val="10297749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05F3F-B8DF-2059-1953-C20220BE4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CEE4D-EA93-7FD4-92DA-F194B48F807B}"/>
              </a:ext>
            </a:extLst>
          </p:cNvPr>
          <p:cNvSpPr>
            <a:spLocks noGrp="1"/>
          </p:cNvSpPr>
          <p:nvPr>
            <p:ph type="title"/>
          </p:nvPr>
        </p:nvSpPr>
        <p:spPr>
          <a:xfrm>
            <a:off x="677334" y="243840"/>
            <a:ext cx="8596668" cy="542544"/>
          </a:xfrm>
        </p:spPr>
        <p:txBody>
          <a:bodyPr>
            <a:noAutofit/>
          </a:bodyPr>
          <a:lstStyle/>
          <a:p>
            <a:r>
              <a:rPr lang="en-IN" sz="2800" dirty="0"/>
              <a:t>Stages of AI</a:t>
            </a:r>
            <a:br>
              <a:rPr lang="en-US" sz="2800" b="1" dirty="0"/>
            </a:br>
            <a:endParaRPr lang="en-IN" sz="2800" dirty="0"/>
          </a:p>
        </p:txBody>
      </p:sp>
      <p:pic>
        <p:nvPicPr>
          <p:cNvPr id="3" name="Picture 2" descr="The 3 Stages of AI: From Narrow AI to Superintelligence - YouTube">
            <a:extLst>
              <a:ext uri="{FF2B5EF4-FFF2-40B4-BE49-F238E27FC236}">
                <a16:creationId xmlns:a16="http://schemas.microsoft.com/office/drawing/2014/main" id="{C8BA90CD-BAF5-EAB7-A321-35FB895044E1}"/>
              </a:ext>
            </a:extLst>
          </p:cNvPr>
          <p:cNvPicPr>
            <a:picLocks noChangeAspect="1"/>
          </p:cNvPicPr>
          <p:nvPr/>
        </p:nvPicPr>
        <p:blipFill>
          <a:blip r:embed="rId2"/>
          <a:stretch>
            <a:fillRect/>
          </a:stretch>
        </p:blipFill>
        <p:spPr>
          <a:xfrm>
            <a:off x="747522" y="1171432"/>
            <a:ext cx="9148572" cy="5146072"/>
          </a:xfrm>
          <a:prstGeom prst="rect">
            <a:avLst/>
          </a:prstGeom>
        </p:spPr>
      </p:pic>
    </p:spTree>
    <p:extLst>
      <p:ext uri="{BB962C8B-B14F-4D97-AF65-F5344CB8AC3E}">
        <p14:creationId xmlns:p14="http://schemas.microsoft.com/office/powerpoint/2010/main" val="6689609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9762A-441B-7308-FF83-18E18C280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821E4-176C-5F34-797B-4AFE86DF27BA}"/>
              </a:ext>
            </a:extLst>
          </p:cNvPr>
          <p:cNvSpPr>
            <a:spLocks noGrp="1"/>
          </p:cNvSpPr>
          <p:nvPr>
            <p:ph type="title"/>
          </p:nvPr>
        </p:nvSpPr>
        <p:spPr>
          <a:xfrm>
            <a:off x="659046" y="166655"/>
            <a:ext cx="8596668" cy="542544"/>
          </a:xfrm>
        </p:spPr>
        <p:txBody>
          <a:bodyPr>
            <a:noAutofit/>
          </a:bodyPr>
          <a:lstStyle/>
          <a:p>
            <a:r>
              <a:rPr lang="en-IN" sz="2800" dirty="0"/>
              <a:t>Types of AI - </a:t>
            </a:r>
            <a:r>
              <a:rPr lang="en-US" sz="2800" b="1" dirty="0"/>
              <a:t>Based on Capabilities</a:t>
            </a:r>
            <a:br>
              <a:rPr lang="en-US" sz="2800" b="1" dirty="0"/>
            </a:br>
            <a:endParaRPr lang="en-IN" sz="2800" dirty="0"/>
          </a:p>
        </p:txBody>
      </p:sp>
      <p:pic>
        <p:nvPicPr>
          <p:cNvPr id="6" name="Picture 5" descr="What Is Narrow AI? — updated 2026 | IxDF">
            <a:extLst>
              <a:ext uri="{FF2B5EF4-FFF2-40B4-BE49-F238E27FC236}">
                <a16:creationId xmlns:a16="http://schemas.microsoft.com/office/drawing/2014/main" id="{B2DDAD3D-0754-B46D-BB39-95C841A3C180}"/>
              </a:ext>
            </a:extLst>
          </p:cNvPr>
          <p:cNvPicPr>
            <a:picLocks noChangeAspect="1"/>
          </p:cNvPicPr>
          <p:nvPr/>
        </p:nvPicPr>
        <p:blipFill>
          <a:blip r:embed="rId2"/>
          <a:stretch>
            <a:fillRect/>
          </a:stretch>
        </p:blipFill>
        <p:spPr>
          <a:xfrm>
            <a:off x="921258" y="855964"/>
            <a:ext cx="9148572" cy="5146072"/>
          </a:xfrm>
          <a:prstGeom prst="rect">
            <a:avLst/>
          </a:prstGeom>
        </p:spPr>
      </p:pic>
      <p:sp>
        <p:nvSpPr>
          <p:cNvPr id="8" name="TextBox 7">
            <a:extLst>
              <a:ext uri="{FF2B5EF4-FFF2-40B4-BE49-F238E27FC236}">
                <a16:creationId xmlns:a16="http://schemas.microsoft.com/office/drawing/2014/main" id="{1FBC97FB-9D94-272E-6CB2-F33D873B3C65}"/>
              </a:ext>
            </a:extLst>
          </p:cNvPr>
          <p:cNvSpPr txBox="1"/>
          <p:nvPr/>
        </p:nvSpPr>
        <p:spPr>
          <a:xfrm>
            <a:off x="1760220" y="6148801"/>
            <a:ext cx="6099048" cy="646331"/>
          </a:xfrm>
          <a:prstGeom prst="rect">
            <a:avLst/>
          </a:prstGeom>
          <a:noFill/>
        </p:spPr>
        <p:txBody>
          <a:bodyPr wrap="square">
            <a:spAutoFit/>
          </a:bodyPr>
          <a:lstStyle/>
          <a:p>
            <a:r>
              <a:rPr lang="en-IN" dirty="0"/>
              <a:t>https://www.ibm.com/think/topics/artificial-intelligence-types</a:t>
            </a:r>
          </a:p>
        </p:txBody>
      </p:sp>
    </p:spTree>
    <p:extLst>
      <p:ext uri="{BB962C8B-B14F-4D97-AF65-F5344CB8AC3E}">
        <p14:creationId xmlns:p14="http://schemas.microsoft.com/office/powerpoint/2010/main" val="2351555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31588-7663-CE02-8A2C-1171A8925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24A0B-7D70-2023-C343-29273D12634F}"/>
              </a:ext>
            </a:extLst>
          </p:cNvPr>
          <p:cNvSpPr>
            <a:spLocks noGrp="1"/>
          </p:cNvSpPr>
          <p:nvPr>
            <p:ph type="title"/>
          </p:nvPr>
        </p:nvSpPr>
        <p:spPr>
          <a:xfrm>
            <a:off x="677334" y="243840"/>
            <a:ext cx="8596668" cy="542544"/>
          </a:xfrm>
        </p:spPr>
        <p:txBody>
          <a:bodyPr>
            <a:noAutofit/>
          </a:bodyPr>
          <a:lstStyle/>
          <a:p>
            <a:r>
              <a:rPr lang="en-IN" sz="2800" dirty="0"/>
              <a:t>Types of AI - </a:t>
            </a:r>
            <a:r>
              <a:rPr lang="en-US" sz="2800" b="1" dirty="0"/>
              <a:t>Based on Capabilities  - Narrow AI (Weak AI)</a:t>
            </a:r>
            <a:br>
              <a:rPr lang="en-US" sz="2800" b="1" dirty="0"/>
            </a:br>
            <a:br>
              <a:rPr lang="en-US" sz="2800" b="1" dirty="0"/>
            </a:br>
            <a:endParaRPr lang="en-IN" sz="2800" dirty="0"/>
          </a:p>
        </p:txBody>
      </p:sp>
      <p:sp>
        <p:nvSpPr>
          <p:cNvPr id="3" name="Content Placeholder 2">
            <a:extLst>
              <a:ext uri="{FF2B5EF4-FFF2-40B4-BE49-F238E27FC236}">
                <a16:creationId xmlns:a16="http://schemas.microsoft.com/office/drawing/2014/main" id="{2B219215-C6E1-1ACE-4BF8-6B62A207316B}"/>
              </a:ext>
            </a:extLst>
          </p:cNvPr>
          <p:cNvSpPr>
            <a:spLocks noGrp="1"/>
          </p:cNvSpPr>
          <p:nvPr>
            <p:ph idx="1"/>
          </p:nvPr>
        </p:nvSpPr>
        <p:spPr>
          <a:xfrm>
            <a:off x="677334" y="1328568"/>
            <a:ext cx="8596668" cy="4950371"/>
          </a:xfrm>
        </p:spPr>
        <p:txBody>
          <a:bodyPr>
            <a:noAutofit/>
          </a:bodyPr>
          <a:lstStyle/>
          <a:p>
            <a:pPr marL="0" indent="0">
              <a:buNone/>
            </a:pPr>
            <a:r>
              <a:rPr lang="en-US" sz="1600" dirty="0"/>
              <a:t>Narrow AI is designed to perform </a:t>
            </a:r>
            <a:r>
              <a:rPr lang="en-US" sz="1600" b="1" dirty="0"/>
              <a:t>a specific task only</a:t>
            </a:r>
            <a:r>
              <a:rPr lang="en-US" sz="1600" dirty="0"/>
              <a:t>.</a:t>
            </a:r>
          </a:p>
          <a:p>
            <a:r>
              <a:rPr lang="en-US" sz="1600" b="1" dirty="0"/>
              <a:t>Key Characteristics</a:t>
            </a:r>
          </a:p>
          <a:p>
            <a:r>
              <a:rPr lang="en-US" sz="1600" dirty="0"/>
              <a:t>Specialized in one domain </a:t>
            </a:r>
          </a:p>
          <a:p>
            <a:r>
              <a:rPr lang="en-US" sz="1600" dirty="0"/>
              <a:t>Cannot perform tasks outside its training </a:t>
            </a:r>
          </a:p>
          <a:p>
            <a:r>
              <a:rPr lang="en-US" sz="1600" dirty="0"/>
              <a:t>Most AI systems today fall into this category </a:t>
            </a:r>
          </a:p>
          <a:p>
            <a:pPr marL="0" indent="0">
              <a:buNone/>
            </a:pPr>
            <a:r>
              <a:rPr lang="en-US" sz="1600" b="1" dirty="0"/>
              <a:t>Examples</a:t>
            </a:r>
          </a:p>
          <a:p>
            <a:r>
              <a:rPr lang="en-US" sz="1600" dirty="0"/>
              <a:t>Google Assistant </a:t>
            </a:r>
          </a:p>
          <a:p>
            <a:r>
              <a:rPr lang="en-US" sz="1600" dirty="0"/>
              <a:t>Siri </a:t>
            </a:r>
          </a:p>
          <a:p>
            <a:r>
              <a:rPr lang="en-US" sz="1600" dirty="0"/>
              <a:t>ChatGPT </a:t>
            </a:r>
          </a:p>
          <a:p>
            <a:r>
              <a:rPr lang="en-US" sz="1600" dirty="0"/>
              <a:t>Recommendation systems (Netflix, Amazon) </a:t>
            </a:r>
          </a:p>
          <a:p>
            <a:r>
              <a:rPr lang="en-US" sz="1600" b="1" dirty="0"/>
              <a:t>Explanation</a:t>
            </a:r>
          </a:p>
          <a:p>
            <a:r>
              <a:rPr lang="en-US" sz="1600" dirty="0"/>
              <a:t>Even though systems like ChatGPT feel intelligent, they </a:t>
            </a:r>
            <a:r>
              <a:rPr lang="en-US" sz="1600" b="1" dirty="0"/>
              <a:t>do not possess true understanding or general reasoning across all domains</a:t>
            </a:r>
            <a:r>
              <a:rPr lang="en-US" sz="1600" dirty="0"/>
              <a:t>.</a:t>
            </a:r>
          </a:p>
          <a:p>
            <a:endParaRPr lang="en-IN" sz="1600" dirty="0"/>
          </a:p>
        </p:txBody>
      </p:sp>
    </p:spTree>
    <p:extLst>
      <p:ext uri="{BB962C8B-B14F-4D97-AF65-F5344CB8AC3E}">
        <p14:creationId xmlns:p14="http://schemas.microsoft.com/office/powerpoint/2010/main" val="3775830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E8552-EB27-470A-1507-E8391003F9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B6BCC-55C5-E3EC-572A-3C3FC474447F}"/>
              </a:ext>
            </a:extLst>
          </p:cNvPr>
          <p:cNvSpPr>
            <a:spLocks noGrp="1"/>
          </p:cNvSpPr>
          <p:nvPr>
            <p:ph type="title"/>
          </p:nvPr>
        </p:nvSpPr>
        <p:spPr>
          <a:xfrm>
            <a:off x="677334" y="189875"/>
            <a:ext cx="8596668" cy="1320800"/>
          </a:xfrm>
        </p:spPr>
        <p:txBody>
          <a:bodyPr>
            <a:noAutofit/>
          </a:bodyPr>
          <a:lstStyle/>
          <a:p>
            <a:r>
              <a:rPr lang="en-IN" sz="2800" dirty="0"/>
              <a:t>Types of AI - </a:t>
            </a:r>
            <a:r>
              <a:rPr lang="en-US" sz="2800" b="1" dirty="0"/>
              <a:t>Based on Capabilities - General AI (Strong AI / AGI)</a:t>
            </a:r>
            <a:br>
              <a:rPr lang="en-US" sz="2800" b="1" dirty="0"/>
            </a:br>
            <a:br>
              <a:rPr lang="en-US"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2A62C0CE-0BC5-F282-DDA3-C76B3D7D55D4}"/>
              </a:ext>
            </a:extLst>
          </p:cNvPr>
          <p:cNvSpPr>
            <a:spLocks noGrp="1"/>
          </p:cNvSpPr>
          <p:nvPr>
            <p:ph idx="1"/>
          </p:nvPr>
        </p:nvSpPr>
        <p:spPr>
          <a:xfrm>
            <a:off x="677334" y="1388241"/>
            <a:ext cx="9325887" cy="5469759"/>
          </a:xfrm>
        </p:spPr>
        <p:txBody>
          <a:bodyPr>
            <a:noAutofit/>
          </a:bodyPr>
          <a:lstStyle/>
          <a:p>
            <a:pPr marL="0" indent="0">
              <a:buNone/>
            </a:pPr>
            <a:r>
              <a:rPr lang="en-US" sz="1600" dirty="0"/>
              <a:t>General AI refers to machines that can </a:t>
            </a:r>
            <a:r>
              <a:rPr lang="en-US" sz="1600" b="1" dirty="0"/>
              <a:t>perform any intellectual task that a human can do</a:t>
            </a:r>
            <a:r>
              <a:rPr lang="en-US" sz="1600" dirty="0"/>
              <a:t>.</a:t>
            </a:r>
          </a:p>
          <a:p>
            <a:r>
              <a:rPr lang="en-US" sz="1600" b="1" dirty="0"/>
              <a:t>Key Characteristics</a:t>
            </a:r>
          </a:p>
          <a:p>
            <a:r>
              <a:rPr lang="en-US" sz="1600" dirty="0"/>
              <a:t>Human-level intelligence </a:t>
            </a:r>
          </a:p>
          <a:p>
            <a:r>
              <a:rPr lang="en-US" sz="1600" dirty="0"/>
              <a:t>Can reason, learn, and adapt across multiple domains </a:t>
            </a:r>
          </a:p>
          <a:p>
            <a:r>
              <a:rPr lang="en-US" sz="1600" dirty="0"/>
              <a:t>Can transfer knowledge between tasks </a:t>
            </a:r>
          </a:p>
          <a:p>
            <a:r>
              <a:rPr lang="en-US" sz="1600" b="1" dirty="0"/>
              <a:t>Current Status</a:t>
            </a:r>
          </a:p>
          <a:p>
            <a:r>
              <a:rPr lang="en-US" sz="1600" b="1" dirty="0"/>
              <a:t>Not yet achieved</a:t>
            </a:r>
            <a:r>
              <a:rPr lang="en-US" sz="1600" dirty="0"/>
              <a:t> </a:t>
            </a:r>
          </a:p>
          <a:p>
            <a:r>
              <a:rPr lang="en-US" sz="1600" dirty="0"/>
              <a:t>Still a major research goal </a:t>
            </a:r>
          </a:p>
          <a:p>
            <a:pPr marL="0" indent="0">
              <a:buNone/>
            </a:pPr>
            <a:r>
              <a:rPr lang="en-US" sz="1600" b="1" dirty="0"/>
              <a:t>Example (Hypothetical)</a:t>
            </a:r>
          </a:p>
          <a:p>
            <a:r>
              <a:rPr lang="en-US" sz="1600" dirty="0"/>
              <a:t>A robot that can: </a:t>
            </a:r>
          </a:p>
          <a:p>
            <a:pPr lvl="1"/>
            <a:r>
              <a:rPr lang="en-US" dirty="0"/>
              <a:t>Learn math </a:t>
            </a:r>
          </a:p>
          <a:p>
            <a:pPr lvl="1"/>
            <a:r>
              <a:rPr lang="en-US" dirty="0"/>
              <a:t>Drive a car </a:t>
            </a:r>
          </a:p>
          <a:p>
            <a:pPr lvl="1"/>
            <a:r>
              <a:rPr lang="en-US" dirty="0"/>
              <a:t>Write code </a:t>
            </a:r>
          </a:p>
          <a:p>
            <a:pPr lvl="1"/>
            <a:r>
              <a:rPr lang="en-US" dirty="0"/>
              <a:t>Understand emotions</a:t>
            </a:r>
          </a:p>
          <a:p>
            <a:endParaRPr lang="en-IN" sz="1600" dirty="0"/>
          </a:p>
        </p:txBody>
      </p:sp>
    </p:spTree>
    <p:extLst>
      <p:ext uri="{BB962C8B-B14F-4D97-AF65-F5344CB8AC3E}">
        <p14:creationId xmlns:p14="http://schemas.microsoft.com/office/powerpoint/2010/main" val="1352825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6B08-CE5E-CD3F-E2D8-2EE0D66F1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8FFF37-3106-1BD4-F0A3-4FCF7592230D}"/>
              </a:ext>
            </a:extLst>
          </p:cNvPr>
          <p:cNvSpPr>
            <a:spLocks noGrp="1"/>
          </p:cNvSpPr>
          <p:nvPr>
            <p:ph type="title"/>
          </p:nvPr>
        </p:nvSpPr>
        <p:spPr/>
        <p:txBody>
          <a:bodyPr>
            <a:noAutofit/>
          </a:bodyPr>
          <a:lstStyle/>
          <a:p>
            <a:r>
              <a:rPr lang="en-IN" sz="2800" dirty="0"/>
              <a:t>Types of AI - </a:t>
            </a:r>
            <a:r>
              <a:rPr lang="en-US" sz="2800" b="1" dirty="0"/>
              <a:t>Based on Capabilities - Super AI</a:t>
            </a:r>
            <a:br>
              <a:rPr lang="en-US" sz="2800" b="1" dirty="0"/>
            </a:br>
            <a:br>
              <a:rPr lang="en-US"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C1C887CC-9110-C950-7413-695F60BF6AA7}"/>
              </a:ext>
            </a:extLst>
          </p:cNvPr>
          <p:cNvSpPr>
            <a:spLocks noGrp="1"/>
          </p:cNvSpPr>
          <p:nvPr>
            <p:ph idx="1"/>
          </p:nvPr>
        </p:nvSpPr>
        <p:spPr>
          <a:xfrm>
            <a:off x="748278" y="1269999"/>
            <a:ext cx="9325887" cy="5469759"/>
          </a:xfrm>
        </p:spPr>
        <p:txBody>
          <a:bodyPr>
            <a:noAutofit/>
          </a:bodyPr>
          <a:lstStyle/>
          <a:p>
            <a:pPr marL="0" indent="0">
              <a:buNone/>
            </a:pPr>
            <a:r>
              <a:rPr lang="en-US" sz="1600" dirty="0"/>
              <a:t>Super AI is a level beyond human intelligence.</a:t>
            </a:r>
          </a:p>
          <a:p>
            <a:r>
              <a:rPr lang="en-US" sz="1600" b="1" dirty="0"/>
              <a:t>Key Characteristics</a:t>
            </a:r>
          </a:p>
          <a:p>
            <a:r>
              <a:rPr lang="en-US" sz="1600" dirty="0"/>
              <a:t>Surpasses human intelligence in all aspects: </a:t>
            </a:r>
          </a:p>
          <a:p>
            <a:pPr lvl="1"/>
            <a:r>
              <a:rPr lang="en-US" dirty="0"/>
              <a:t>Creativity </a:t>
            </a:r>
          </a:p>
          <a:p>
            <a:pPr lvl="1"/>
            <a:r>
              <a:rPr lang="en-US" dirty="0"/>
              <a:t>Decision-making </a:t>
            </a:r>
          </a:p>
          <a:p>
            <a:pPr lvl="1"/>
            <a:r>
              <a:rPr lang="en-US" dirty="0"/>
              <a:t>Emotional intelligence </a:t>
            </a:r>
          </a:p>
          <a:p>
            <a:r>
              <a:rPr lang="en-US" sz="1600" dirty="0"/>
              <a:t>Can improve itself (self-evolving systems) </a:t>
            </a:r>
          </a:p>
          <a:p>
            <a:pPr marL="0" indent="0">
              <a:buNone/>
            </a:pPr>
            <a:r>
              <a:rPr lang="en-US" sz="1600" b="1" dirty="0"/>
              <a:t>Current Status</a:t>
            </a:r>
          </a:p>
          <a:p>
            <a:r>
              <a:rPr lang="en-US" sz="1600" b="1" dirty="0"/>
              <a:t>Purely theoretical</a:t>
            </a:r>
            <a:r>
              <a:rPr lang="en-US" sz="1600" dirty="0"/>
              <a:t> </a:t>
            </a:r>
          </a:p>
          <a:p>
            <a:r>
              <a:rPr lang="en-US" sz="1600" dirty="0"/>
              <a:t>Often discussed in future AI and ethics debates</a:t>
            </a:r>
          </a:p>
          <a:p>
            <a:endParaRPr lang="en-IN" sz="1600" dirty="0"/>
          </a:p>
        </p:txBody>
      </p:sp>
    </p:spTree>
    <p:extLst>
      <p:ext uri="{BB962C8B-B14F-4D97-AF65-F5344CB8AC3E}">
        <p14:creationId xmlns:p14="http://schemas.microsoft.com/office/powerpoint/2010/main" val="1485508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DC9F3-E164-86A9-2D77-1A6B27FFC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30082D-D290-2BC1-1E7B-32F6F45370DC}"/>
              </a:ext>
            </a:extLst>
          </p:cNvPr>
          <p:cNvSpPr>
            <a:spLocks noGrp="1"/>
          </p:cNvSpPr>
          <p:nvPr>
            <p:ph type="title"/>
          </p:nvPr>
        </p:nvSpPr>
        <p:spPr/>
        <p:txBody>
          <a:bodyPr>
            <a:noAutofit/>
          </a:bodyPr>
          <a:lstStyle/>
          <a:p>
            <a:r>
              <a:rPr lang="en-IN" sz="2800" dirty="0"/>
              <a:t>Types of AI - </a:t>
            </a:r>
            <a:r>
              <a:rPr lang="en-US" sz="2800" b="1" dirty="0"/>
              <a:t>Based on Capabilities</a:t>
            </a:r>
            <a:br>
              <a:rPr lang="en-US" sz="2800" b="1" dirty="0"/>
            </a:br>
            <a:endParaRPr lang="en-IN" sz="2800" dirty="0">
              <a:solidFill>
                <a:srgbClr val="FF0000"/>
              </a:solidFill>
            </a:endParaRPr>
          </a:p>
        </p:txBody>
      </p:sp>
      <p:pic>
        <p:nvPicPr>
          <p:cNvPr id="7" name="Picture 6">
            <a:extLst>
              <a:ext uri="{FF2B5EF4-FFF2-40B4-BE49-F238E27FC236}">
                <a16:creationId xmlns:a16="http://schemas.microsoft.com/office/drawing/2014/main" id="{7722ED14-55AD-AECE-5741-67845F21FD51}"/>
              </a:ext>
            </a:extLst>
          </p:cNvPr>
          <p:cNvPicPr>
            <a:picLocks noChangeAspect="1"/>
          </p:cNvPicPr>
          <p:nvPr/>
        </p:nvPicPr>
        <p:blipFill>
          <a:blip r:embed="rId2"/>
          <a:stretch>
            <a:fillRect/>
          </a:stretch>
        </p:blipFill>
        <p:spPr>
          <a:xfrm>
            <a:off x="1490288" y="1694069"/>
            <a:ext cx="7163168" cy="4292821"/>
          </a:xfrm>
          <a:prstGeom prst="rect">
            <a:avLst/>
          </a:prstGeom>
        </p:spPr>
      </p:pic>
    </p:spTree>
    <p:extLst>
      <p:ext uri="{BB962C8B-B14F-4D97-AF65-F5344CB8AC3E}">
        <p14:creationId xmlns:p14="http://schemas.microsoft.com/office/powerpoint/2010/main" val="173379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BAEA-8701-3B6F-F897-48C45790DF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FB723-08F8-3B39-A605-EBB095062BB4}"/>
              </a:ext>
            </a:extLst>
          </p:cNvPr>
          <p:cNvSpPr>
            <a:spLocks noGrp="1"/>
          </p:cNvSpPr>
          <p:nvPr>
            <p:ph type="title"/>
          </p:nvPr>
        </p:nvSpPr>
        <p:spPr>
          <a:xfrm>
            <a:off x="662343" y="309797"/>
            <a:ext cx="8596668" cy="664564"/>
          </a:xfrm>
        </p:spPr>
        <p:txBody>
          <a:bodyPr>
            <a:noAutofit/>
          </a:bodyPr>
          <a:lstStyle/>
          <a:p>
            <a:r>
              <a:rPr lang="en-IN" sz="2800" dirty="0"/>
              <a:t>Types of AI Based on Functionality</a:t>
            </a:r>
            <a:endParaRPr lang="en-IN" sz="2800" dirty="0">
              <a:solidFill>
                <a:srgbClr val="FF0000"/>
              </a:solidFill>
            </a:endParaRPr>
          </a:p>
        </p:txBody>
      </p:sp>
      <p:pic>
        <p:nvPicPr>
          <p:cNvPr id="5" name="Content Placeholder 4">
            <a:extLst>
              <a:ext uri="{FF2B5EF4-FFF2-40B4-BE49-F238E27FC236}">
                <a16:creationId xmlns:a16="http://schemas.microsoft.com/office/drawing/2014/main" id="{68B49A4E-2ACA-2ECD-2D79-E2137CC7D87D}"/>
              </a:ext>
            </a:extLst>
          </p:cNvPr>
          <p:cNvPicPr>
            <a:picLocks noGrp="1" noChangeAspect="1"/>
          </p:cNvPicPr>
          <p:nvPr>
            <p:ph idx="1"/>
          </p:nvPr>
        </p:nvPicPr>
        <p:blipFill>
          <a:blip r:embed="rId2"/>
          <a:stretch>
            <a:fillRect/>
          </a:stretch>
        </p:blipFill>
        <p:spPr>
          <a:xfrm>
            <a:off x="420635" y="1077678"/>
            <a:ext cx="9080084" cy="5470525"/>
          </a:xfrm>
          <a:prstGeom prst="rect">
            <a:avLst/>
          </a:prstGeom>
        </p:spPr>
      </p:pic>
    </p:spTree>
    <p:extLst>
      <p:ext uri="{BB962C8B-B14F-4D97-AF65-F5344CB8AC3E}">
        <p14:creationId xmlns:p14="http://schemas.microsoft.com/office/powerpoint/2010/main" val="4013411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A2F86-3D1B-DBD5-94EC-B93579178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B171D-81AD-A0A2-3391-FC97E7593DC5}"/>
              </a:ext>
            </a:extLst>
          </p:cNvPr>
          <p:cNvSpPr>
            <a:spLocks noGrp="1"/>
          </p:cNvSpPr>
          <p:nvPr>
            <p:ph type="title"/>
          </p:nvPr>
        </p:nvSpPr>
        <p:spPr/>
        <p:txBody>
          <a:bodyPr>
            <a:noAutofit/>
          </a:bodyPr>
          <a:lstStyle/>
          <a:p>
            <a:r>
              <a:rPr lang="en-IN" sz="2800" dirty="0"/>
              <a:t>Types of AI Based on Functionality -</a:t>
            </a:r>
            <a:r>
              <a:rPr lang="en-US" sz="2800" b="1" dirty="0"/>
              <a:t> Reactive Machines</a:t>
            </a:r>
            <a:br>
              <a:rPr lang="en-US"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FD771C9D-244A-464B-E6FF-8FB31B447D6F}"/>
              </a:ext>
            </a:extLst>
          </p:cNvPr>
          <p:cNvSpPr>
            <a:spLocks noGrp="1"/>
          </p:cNvSpPr>
          <p:nvPr>
            <p:ph idx="1"/>
          </p:nvPr>
        </p:nvSpPr>
        <p:spPr>
          <a:xfrm>
            <a:off x="677334" y="1689724"/>
            <a:ext cx="9325887" cy="5469759"/>
          </a:xfrm>
        </p:spPr>
        <p:txBody>
          <a:bodyPr>
            <a:noAutofit/>
          </a:bodyPr>
          <a:lstStyle/>
          <a:p>
            <a:r>
              <a:rPr lang="en-US" sz="1600" dirty="0"/>
              <a:t>These AI systems </a:t>
            </a:r>
            <a:r>
              <a:rPr lang="en-US" sz="1600" b="1" dirty="0"/>
              <a:t>do not have memory</a:t>
            </a:r>
            <a:r>
              <a:rPr lang="en-US" sz="1600" dirty="0"/>
              <a:t> and only respond to current inputs.</a:t>
            </a:r>
          </a:p>
          <a:p>
            <a:r>
              <a:rPr lang="en-US" sz="1600" b="1" dirty="0"/>
              <a:t>Key Characteristics</a:t>
            </a:r>
          </a:p>
          <a:p>
            <a:r>
              <a:rPr lang="en-US" sz="1600" dirty="0"/>
              <a:t>No learning from past experiences </a:t>
            </a:r>
          </a:p>
          <a:p>
            <a:r>
              <a:rPr lang="en-US" sz="1600" dirty="0"/>
              <a:t>Works only on present data </a:t>
            </a:r>
          </a:p>
          <a:p>
            <a:r>
              <a:rPr lang="en-US" sz="1600" dirty="0"/>
              <a:t>Very basic AI </a:t>
            </a:r>
          </a:p>
          <a:p>
            <a:pPr marL="0" indent="0">
              <a:buNone/>
            </a:pPr>
            <a:r>
              <a:rPr lang="en-US" sz="1600" b="1" dirty="0"/>
              <a:t>Example</a:t>
            </a:r>
            <a:endParaRPr lang="en-IN" dirty="0"/>
          </a:p>
          <a:p>
            <a:pPr fontAlgn="base"/>
            <a:r>
              <a:rPr lang="en-IN" sz="1600" dirty="0"/>
              <a:t>IBM Deep Blue: IBM’s chess-playing supercomputer AI beat chess grandmaster Garry Kasparov in the late 1990s by analysing the pieces on the board and predicting the probable outcomes of each move.</a:t>
            </a:r>
          </a:p>
          <a:p>
            <a:pPr fontAlgn="base"/>
            <a:r>
              <a:rPr lang="en-IN" sz="1600" dirty="0"/>
              <a:t>The Netflix Recommendation Engine: Netflix’s viewing recommendations are powered by models that process data sets collected from viewing history to provide customers with content they’re most likely to enjoy.</a:t>
            </a:r>
          </a:p>
          <a:p>
            <a:endParaRPr lang="en-IN" sz="1600" dirty="0"/>
          </a:p>
        </p:txBody>
      </p:sp>
    </p:spTree>
    <p:extLst>
      <p:ext uri="{BB962C8B-B14F-4D97-AF65-F5344CB8AC3E}">
        <p14:creationId xmlns:p14="http://schemas.microsoft.com/office/powerpoint/2010/main" val="3540826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36067-A83D-8154-A9D5-6AD483FE4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BF9EAF-FAF2-2A11-F003-20D94E86BE3C}"/>
              </a:ext>
            </a:extLst>
          </p:cNvPr>
          <p:cNvSpPr>
            <a:spLocks noGrp="1"/>
          </p:cNvSpPr>
          <p:nvPr>
            <p:ph type="title"/>
          </p:nvPr>
        </p:nvSpPr>
        <p:spPr>
          <a:xfrm>
            <a:off x="520836" y="229033"/>
            <a:ext cx="8596668" cy="1000160"/>
          </a:xfrm>
        </p:spPr>
        <p:txBody>
          <a:bodyPr>
            <a:noAutofit/>
          </a:bodyPr>
          <a:lstStyle/>
          <a:p>
            <a:r>
              <a:rPr lang="en-IN" sz="2800" dirty="0"/>
              <a:t>Types of AI Based on Functionality - </a:t>
            </a:r>
            <a:r>
              <a:rPr lang="en-US" sz="2800" b="1" dirty="0"/>
              <a:t>Limited Memory</a:t>
            </a:r>
            <a:br>
              <a:rPr lang="en-US"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D2B218BA-BAD8-E86E-3954-10C24F032AA9}"/>
              </a:ext>
            </a:extLst>
          </p:cNvPr>
          <p:cNvSpPr>
            <a:spLocks noGrp="1"/>
          </p:cNvSpPr>
          <p:nvPr>
            <p:ph idx="1"/>
          </p:nvPr>
        </p:nvSpPr>
        <p:spPr>
          <a:xfrm>
            <a:off x="520836" y="1369951"/>
            <a:ext cx="10268034" cy="6208777"/>
          </a:xfrm>
        </p:spPr>
        <p:txBody>
          <a:bodyPr>
            <a:noAutofit/>
          </a:bodyPr>
          <a:lstStyle/>
          <a:p>
            <a:pPr marL="0" indent="0">
              <a:buNone/>
            </a:pPr>
            <a:r>
              <a:rPr lang="en-US" sz="1600" dirty="0"/>
              <a:t>These systems can </a:t>
            </a:r>
            <a:r>
              <a:rPr lang="en-US" sz="1600" b="1" dirty="0"/>
              <a:t>use past data to improve decisions</a:t>
            </a:r>
            <a:r>
              <a:rPr lang="en-US" sz="1600" dirty="0"/>
              <a:t>.</a:t>
            </a:r>
            <a:r>
              <a:rPr lang="en-IN" sz="1600" dirty="0"/>
              <a:t> Limited Memory AI can use past- and present-moment data to decide on a course of action most likely to help achieve a desired outcome.</a:t>
            </a:r>
            <a:endParaRPr lang="en-US" sz="1600" dirty="0"/>
          </a:p>
          <a:p>
            <a:pPr marL="0" indent="0">
              <a:buNone/>
            </a:pPr>
            <a:r>
              <a:rPr lang="en-US" sz="1600" b="1" dirty="0"/>
              <a:t>Key Characteristics</a:t>
            </a:r>
          </a:p>
          <a:p>
            <a:r>
              <a:rPr lang="en-US" sz="1600" dirty="0"/>
              <a:t>Learns from historical data </a:t>
            </a:r>
          </a:p>
          <a:p>
            <a:r>
              <a:rPr lang="en-US" sz="1600" dirty="0"/>
              <a:t>Temporary memory </a:t>
            </a:r>
          </a:p>
          <a:p>
            <a:r>
              <a:rPr lang="en-US" sz="1600" dirty="0"/>
              <a:t>Most modern AI systems belong here </a:t>
            </a:r>
          </a:p>
          <a:p>
            <a:r>
              <a:rPr lang="en-IN" sz="1600" dirty="0"/>
              <a:t>recall past events</a:t>
            </a:r>
            <a:endParaRPr lang="en-US" sz="1600" dirty="0"/>
          </a:p>
          <a:p>
            <a:r>
              <a:rPr lang="en-US" sz="1600" b="1" dirty="0"/>
              <a:t>Examples</a:t>
            </a:r>
          </a:p>
          <a:p>
            <a:pPr fontAlgn="base"/>
            <a:r>
              <a:rPr lang="en-IN" sz="1600" dirty="0"/>
              <a:t>Generative AI: Generative AI tools such as ChatGPT, Bard and </a:t>
            </a:r>
            <a:r>
              <a:rPr lang="en-IN" sz="1600" dirty="0" err="1"/>
              <a:t>DeepAI</a:t>
            </a:r>
            <a:r>
              <a:rPr lang="en-IN" sz="1600" dirty="0"/>
              <a:t> rely on limited memory AI capabilities to predict the next word, phrase or visual element within the content it’s generating.</a:t>
            </a:r>
          </a:p>
          <a:p>
            <a:pPr fontAlgn="base"/>
            <a:r>
              <a:rPr lang="en-IN" sz="1600" dirty="0"/>
              <a:t>Virtual assistants and chatbots: Siri, Alexa, Google Assistant, Cortana and IBM Watson Assistant combine natural language processing (NLP) and Limited Memory AI to understand questions and requests, take appropriate actions and compose responses.</a:t>
            </a:r>
          </a:p>
          <a:p>
            <a:pPr fontAlgn="base"/>
            <a:r>
              <a:rPr lang="en-IN" sz="1600" dirty="0"/>
              <a:t>Self-driving cars: Autonomous vehicles use Limited Memory AI to understand the world around them in real-time and make informed decisions on when to apply speed, brake, make a turn, etc.</a:t>
            </a:r>
          </a:p>
          <a:p>
            <a:endParaRPr lang="en-IN" sz="1600" dirty="0"/>
          </a:p>
        </p:txBody>
      </p:sp>
    </p:spTree>
    <p:extLst>
      <p:ext uri="{BB962C8B-B14F-4D97-AF65-F5344CB8AC3E}">
        <p14:creationId xmlns:p14="http://schemas.microsoft.com/office/powerpoint/2010/main" val="37269623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4379-8861-2E9E-6207-988E26DA0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FD5C32-95F6-6741-65E3-F9C52E2E75A1}"/>
              </a:ext>
            </a:extLst>
          </p:cNvPr>
          <p:cNvSpPr>
            <a:spLocks noGrp="1"/>
          </p:cNvSpPr>
          <p:nvPr>
            <p:ph type="title"/>
          </p:nvPr>
        </p:nvSpPr>
        <p:spPr/>
        <p:txBody>
          <a:bodyPr>
            <a:noAutofit/>
          </a:bodyPr>
          <a:lstStyle/>
          <a:p>
            <a:r>
              <a:rPr lang="en-IN" sz="2800" dirty="0"/>
              <a:t>Types of AI Based on Functionality - </a:t>
            </a:r>
            <a:r>
              <a:rPr lang="en-US" sz="2800" b="1" dirty="0"/>
              <a:t>Theory of Mind AI</a:t>
            </a:r>
            <a:br>
              <a:rPr lang="en-US"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658295D2-982D-1E96-8569-21B6679EAD3A}"/>
              </a:ext>
            </a:extLst>
          </p:cNvPr>
          <p:cNvSpPr>
            <a:spLocks noGrp="1"/>
          </p:cNvSpPr>
          <p:nvPr>
            <p:ph idx="1"/>
          </p:nvPr>
        </p:nvSpPr>
        <p:spPr>
          <a:xfrm>
            <a:off x="793248" y="1930400"/>
            <a:ext cx="9325887" cy="5469759"/>
          </a:xfrm>
        </p:spPr>
        <p:txBody>
          <a:bodyPr>
            <a:noAutofit/>
          </a:bodyPr>
          <a:lstStyle/>
          <a:p>
            <a:pPr marL="0" indent="0">
              <a:buNone/>
            </a:pPr>
            <a:r>
              <a:rPr lang="en-US" sz="1600" b="1" dirty="0">
                <a:solidFill>
                  <a:schemeClr val="accent1"/>
                </a:solidFill>
              </a:rPr>
              <a:t> </a:t>
            </a:r>
            <a:r>
              <a:rPr lang="en-IN" sz="1600" dirty="0"/>
              <a:t>Theory of Mind AI is a functional class of AI that falls underneath the General AI.</a:t>
            </a:r>
            <a:endParaRPr lang="en-US" sz="1600" b="1" dirty="0">
              <a:solidFill>
                <a:schemeClr val="accent1"/>
              </a:solidFill>
            </a:endParaRPr>
          </a:p>
          <a:p>
            <a:r>
              <a:rPr lang="en-US" sz="1600" dirty="0"/>
              <a:t>This type of AI can </a:t>
            </a:r>
            <a:r>
              <a:rPr lang="en-US" sz="1600" b="1" dirty="0"/>
              <a:t>understand emotions, beliefs, and intentions of others</a:t>
            </a:r>
            <a:r>
              <a:rPr lang="en-US" sz="1600" dirty="0"/>
              <a:t>.</a:t>
            </a:r>
          </a:p>
          <a:p>
            <a:pPr marL="0" indent="0">
              <a:buNone/>
            </a:pPr>
            <a:r>
              <a:rPr lang="en-US" sz="1600" b="1" dirty="0"/>
              <a:t>Key Characteristics</a:t>
            </a:r>
          </a:p>
          <a:p>
            <a:r>
              <a:rPr lang="en-US" sz="1600" dirty="0"/>
              <a:t>Understands human emotions </a:t>
            </a:r>
          </a:p>
          <a:p>
            <a:r>
              <a:rPr lang="en-US" sz="1600" dirty="0"/>
              <a:t>Can interact socially </a:t>
            </a:r>
          </a:p>
          <a:p>
            <a:r>
              <a:rPr lang="en-US" sz="1600" dirty="0"/>
              <a:t>Adapts behavior based on others </a:t>
            </a:r>
          </a:p>
          <a:p>
            <a:pPr marL="0" indent="0">
              <a:buNone/>
            </a:pPr>
            <a:r>
              <a:rPr lang="en-US" sz="1600" b="1" dirty="0"/>
              <a:t>Current Status</a:t>
            </a:r>
          </a:p>
          <a:p>
            <a:r>
              <a:rPr lang="en-US" sz="1600" dirty="0"/>
              <a:t>Still in </a:t>
            </a:r>
            <a:r>
              <a:rPr lang="en-US" sz="1600" b="1" dirty="0"/>
              <a:t>research phase</a:t>
            </a:r>
            <a:r>
              <a:rPr lang="en-US" sz="1600" dirty="0"/>
              <a:t> </a:t>
            </a:r>
          </a:p>
          <a:p>
            <a:r>
              <a:rPr lang="en-US" sz="1600" dirty="0"/>
              <a:t>Not fully developed</a:t>
            </a:r>
          </a:p>
          <a:p>
            <a:endParaRPr lang="en-IN" sz="1200" dirty="0"/>
          </a:p>
        </p:txBody>
      </p:sp>
    </p:spTree>
    <p:extLst>
      <p:ext uri="{BB962C8B-B14F-4D97-AF65-F5344CB8AC3E}">
        <p14:creationId xmlns:p14="http://schemas.microsoft.com/office/powerpoint/2010/main" val="1398192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70AEE-BC00-4F60-1C39-25AD40ACD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77E1B7-60C9-FD4A-60B2-621032E3ECF0}"/>
              </a:ext>
            </a:extLst>
          </p:cNvPr>
          <p:cNvSpPr>
            <a:spLocks noGrp="1"/>
          </p:cNvSpPr>
          <p:nvPr>
            <p:ph type="title"/>
          </p:nvPr>
        </p:nvSpPr>
        <p:spPr/>
        <p:txBody>
          <a:bodyPr>
            <a:noAutofit/>
          </a:bodyPr>
          <a:lstStyle/>
          <a:p>
            <a:r>
              <a:rPr lang="en-IN" sz="2800" dirty="0"/>
              <a:t>Types of AI Based on Functionality - </a:t>
            </a:r>
            <a:r>
              <a:rPr lang="en-IN" sz="2800" b="1" dirty="0"/>
              <a:t>Self-Aware AI</a:t>
            </a:r>
            <a:br>
              <a:rPr lang="en-IN" sz="2800" b="1" dirty="0"/>
            </a:br>
            <a:endParaRPr lang="en-IN" sz="2800" dirty="0">
              <a:solidFill>
                <a:srgbClr val="FF0000"/>
              </a:solidFill>
            </a:endParaRPr>
          </a:p>
        </p:txBody>
      </p:sp>
      <p:sp>
        <p:nvSpPr>
          <p:cNvPr id="3" name="Content Placeholder 2">
            <a:extLst>
              <a:ext uri="{FF2B5EF4-FFF2-40B4-BE49-F238E27FC236}">
                <a16:creationId xmlns:a16="http://schemas.microsoft.com/office/drawing/2014/main" id="{CFB5D8FA-7ED6-52FA-7C71-73A183C1531C}"/>
              </a:ext>
            </a:extLst>
          </p:cNvPr>
          <p:cNvSpPr>
            <a:spLocks noGrp="1"/>
          </p:cNvSpPr>
          <p:nvPr>
            <p:ph idx="1"/>
          </p:nvPr>
        </p:nvSpPr>
        <p:spPr>
          <a:xfrm>
            <a:off x="677334" y="1659744"/>
            <a:ext cx="9325887" cy="2957227"/>
          </a:xfrm>
        </p:spPr>
        <p:txBody>
          <a:bodyPr>
            <a:noAutofit/>
          </a:bodyPr>
          <a:lstStyle/>
          <a:p>
            <a:pPr marL="0" indent="0" fontAlgn="base">
              <a:buNone/>
            </a:pPr>
            <a:r>
              <a:rPr lang="en-IN" sz="1600" b="1" dirty="0">
                <a:solidFill>
                  <a:schemeClr val="accent1"/>
                </a:solidFill>
              </a:rPr>
              <a:t> </a:t>
            </a:r>
            <a:r>
              <a:rPr lang="en-IN" sz="1600" dirty="0"/>
              <a:t>Self-Aware AI is a kind of functional AI class for applications that would possess super AI capabilities. Like theory of mind AI, Self-Aware AI is strictly theoretical.</a:t>
            </a:r>
          </a:p>
          <a:p>
            <a:pPr>
              <a:buFont typeface="Wingdings" panose="05000000000000000000" pitchFamily="2" charset="2"/>
              <a:buChar char="Ø"/>
            </a:pPr>
            <a:r>
              <a:rPr lang="en-US" sz="1600" b="1" dirty="0"/>
              <a:t>Key Characteristics</a:t>
            </a:r>
          </a:p>
          <a:p>
            <a:pPr>
              <a:buFont typeface="Wingdings" panose="05000000000000000000" pitchFamily="2" charset="2"/>
              <a:buChar char="Ø"/>
            </a:pPr>
            <a:r>
              <a:rPr lang="en-IN" sz="1600" dirty="0"/>
              <a:t> Ability to analyse voices, images and other kinds of data to recognize, simulate, monitor and respond appropriately to humans on an emotional level</a:t>
            </a:r>
          </a:p>
          <a:p>
            <a:pPr marL="0" indent="0">
              <a:buNone/>
            </a:pPr>
            <a:r>
              <a:rPr lang="en-US" sz="1600" b="1" dirty="0"/>
              <a:t>Current Status</a:t>
            </a:r>
          </a:p>
          <a:p>
            <a:r>
              <a:rPr lang="en-IN" sz="1600" dirty="0"/>
              <a:t>To date, Emotion AI is unable to understand and respond to human feelings.</a:t>
            </a:r>
          </a:p>
        </p:txBody>
      </p:sp>
    </p:spTree>
    <p:extLst>
      <p:ext uri="{BB962C8B-B14F-4D97-AF65-F5344CB8AC3E}">
        <p14:creationId xmlns:p14="http://schemas.microsoft.com/office/powerpoint/2010/main" val="585234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B6274-C475-5325-5814-A8C926CA1B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AE4C0-483A-8213-C354-32CACB247F9B}"/>
              </a:ext>
            </a:extLst>
          </p:cNvPr>
          <p:cNvSpPr>
            <a:spLocks noGrp="1"/>
          </p:cNvSpPr>
          <p:nvPr>
            <p:ph type="title"/>
          </p:nvPr>
        </p:nvSpPr>
        <p:spPr/>
        <p:txBody>
          <a:bodyPr>
            <a:noAutofit/>
          </a:bodyPr>
          <a:lstStyle/>
          <a:p>
            <a:r>
              <a:rPr lang="en-IN" sz="2800" dirty="0"/>
              <a:t>Types of AI</a:t>
            </a:r>
          </a:p>
        </p:txBody>
      </p:sp>
      <p:sp>
        <p:nvSpPr>
          <p:cNvPr id="3" name="Content Placeholder 2">
            <a:extLst>
              <a:ext uri="{FF2B5EF4-FFF2-40B4-BE49-F238E27FC236}">
                <a16:creationId xmlns:a16="http://schemas.microsoft.com/office/drawing/2014/main" id="{A9D7526D-E1F5-74D0-1603-4EEF33044FA9}"/>
              </a:ext>
            </a:extLst>
          </p:cNvPr>
          <p:cNvSpPr>
            <a:spLocks noGrp="1"/>
          </p:cNvSpPr>
          <p:nvPr>
            <p:ph idx="1"/>
          </p:nvPr>
        </p:nvSpPr>
        <p:spPr>
          <a:xfrm>
            <a:off x="748278" y="1269999"/>
            <a:ext cx="9325887" cy="5469759"/>
          </a:xfrm>
        </p:spPr>
        <p:txBody>
          <a:bodyPr>
            <a:noAutofit/>
          </a:bodyPr>
          <a:lstStyle/>
          <a:p>
            <a:pPr marL="0" indent="0">
              <a:buNone/>
            </a:pPr>
            <a:r>
              <a:rPr lang="en-IN" sz="1600" b="1" dirty="0"/>
              <a:t>Based on Capabilities</a:t>
            </a:r>
          </a:p>
          <a:p>
            <a:r>
              <a:rPr lang="en-IN" sz="1600" dirty="0"/>
              <a:t>Narrow AI → Task-specific (existing) </a:t>
            </a:r>
          </a:p>
          <a:p>
            <a:r>
              <a:rPr lang="en-IN" sz="1600" dirty="0"/>
              <a:t>General AI → Human-level (future) </a:t>
            </a:r>
          </a:p>
          <a:p>
            <a:r>
              <a:rPr lang="en-IN" sz="1600" dirty="0"/>
              <a:t>Super AI → Beyond human (theoretical) </a:t>
            </a:r>
          </a:p>
          <a:p>
            <a:pPr marL="0" indent="0">
              <a:buNone/>
            </a:pPr>
            <a:endParaRPr lang="en-IN" sz="1600" dirty="0"/>
          </a:p>
          <a:p>
            <a:pPr marL="0" indent="0">
              <a:buNone/>
            </a:pPr>
            <a:r>
              <a:rPr lang="en-IN" sz="1600" b="1" dirty="0"/>
              <a:t>Based on Functionality</a:t>
            </a:r>
          </a:p>
          <a:p>
            <a:r>
              <a:rPr lang="en-IN" sz="1600" dirty="0"/>
              <a:t>Reactive Machines → No memory </a:t>
            </a:r>
          </a:p>
          <a:p>
            <a:r>
              <a:rPr lang="en-IN" sz="1600" dirty="0"/>
              <a:t>Limited Memory → Uses past data (current AI) </a:t>
            </a:r>
          </a:p>
          <a:p>
            <a:r>
              <a:rPr lang="en-IN" sz="1600" dirty="0"/>
              <a:t>Theory of Mind → Understands emotions (research) </a:t>
            </a:r>
          </a:p>
          <a:p>
            <a:r>
              <a:rPr lang="en-IN" sz="1600" dirty="0"/>
              <a:t>Self-Aware AI → Conscious machines (future) </a:t>
            </a:r>
          </a:p>
          <a:p>
            <a:endParaRPr lang="en-IN" sz="1600" dirty="0"/>
          </a:p>
        </p:txBody>
      </p:sp>
    </p:spTree>
    <p:extLst>
      <p:ext uri="{BB962C8B-B14F-4D97-AF65-F5344CB8AC3E}">
        <p14:creationId xmlns:p14="http://schemas.microsoft.com/office/powerpoint/2010/main" val="375639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EAB0F-92F1-E61D-7426-CC5469791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4A53D-CAA1-BA67-528C-4E9A3CE28E97}"/>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3" name="Content Placeholder 2">
            <a:extLst>
              <a:ext uri="{FF2B5EF4-FFF2-40B4-BE49-F238E27FC236}">
                <a16:creationId xmlns:a16="http://schemas.microsoft.com/office/drawing/2014/main" id="{E40A5A85-621C-D010-6F47-E13948D4607D}"/>
              </a:ext>
            </a:extLst>
          </p:cNvPr>
          <p:cNvSpPr>
            <a:spLocks noGrp="1"/>
          </p:cNvSpPr>
          <p:nvPr>
            <p:ph idx="1"/>
          </p:nvPr>
        </p:nvSpPr>
        <p:spPr>
          <a:xfrm>
            <a:off x="587393" y="1093435"/>
            <a:ext cx="9325887" cy="5469759"/>
          </a:xfrm>
        </p:spPr>
        <p:txBody>
          <a:bodyPr>
            <a:noAutofit/>
          </a:bodyPr>
          <a:lstStyle/>
          <a:p>
            <a:pPr marL="0" indent="0">
              <a:buNone/>
            </a:pPr>
            <a:r>
              <a:rPr lang="en-IN" sz="1600" b="1" dirty="0"/>
              <a:t>AI is the broadest concept → ML is a subset of AI → DL is a subset of ML.</a:t>
            </a:r>
            <a:endParaRPr lang="en-IN" sz="1600" dirty="0"/>
          </a:p>
          <a:p>
            <a:endParaRPr lang="en-IN" sz="1600" dirty="0"/>
          </a:p>
        </p:txBody>
      </p:sp>
      <p:pic>
        <p:nvPicPr>
          <p:cNvPr id="7" name="Picture 6">
            <a:extLst>
              <a:ext uri="{FF2B5EF4-FFF2-40B4-BE49-F238E27FC236}">
                <a16:creationId xmlns:a16="http://schemas.microsoft.com/office/drawing/2014/main" id="{11D87324-54FB-5256-7765-B746CDE87489}"/>
              </a:ext>
            </a:extLst>
          </p:cNvPr>
          <p:cNvPicPr>
            <a:picLocks noChangeAspect="1"/>
          </p:cNvPicPr>
          <p:nvPr/>
        </p:nvPicPr>
        <p:blipFill>
          <a:blip r:embed="rId2"/>
          <a:stretch>
            <a:fillRect/>
          </a:stretch>
        </p:blipFill>
        <p:spPr>
          <a:xfrm>
            <a:off x="1396222" y="1991839"/>
            <a:ext cx="6979009" cy="3264068"/>
          </a:xfrm>
          <a:prstGeom prst="rect">
            <a:avLst/>
          </a:prstGeom>
        </p:spPr>
      </p:pic>
    </p:spTree>
    <p:extLst>
      <p:ext uri="{BB962C8B-B14F-4D97-AF65-F5344CB8AC3E}">
        <p14:creationId xmlns:p14="http://schemas.microsoft.com/office/powerpoint/2010/main" val="28660267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F6C7-830C-1CB5-12EC-E5504C3B6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78ACD-495D-678E-37E7-32DDE0B668E6}"/>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3" name="Content Placeholder 2">
            <a:extLst>
              <a:ext uri="{FF2B5EF4-FFF2-40B4-BE49-F238E27FC236}">
                <a16:creationId xmlns:a16="http://schemas.microsoft.com/office/drawing/2014/main" id="{3ED6B9F4-CF4F-7E46-043B-2CED6F5B4711}"/>
              </a:ext>
            </a:extLst>
          </p:cNvPr>
          <p:cNvSpPr>
            <a:spLocks noGrp="1"/>
          </p:cNvSpPr>
          <p:nvPr>
            <p:ph idx="1"/>
          </p:nvPr>
        </p:nvSpPr>
        <p:spPr>
          <a:xfrm>
            <a:off x="587393" y="1093435"/>
            <a:ext cx="9325887" cy="5469759"/>
          </a:xfrm>
        </p:spPr>
        <p:txBody>
          <a:bodyPr>
            <a:noAutofit/>
          </a:bodyPr>
          <a:lstStyle/>
          <a:p>
            <a:pPr marL="0" indent="0">
              <a:buNone/>
            </a:pPr>
            <a:r>
              <a:rPr lang="en-IN" sz="1600" b="1" dirty="0"/>
              <a:t>AI is the broadest concept → ML is a subset of AI → DL is a subset of ML.</a:t>
            </a:r>
            <a:endParaRPr lang="en-IN" sz="1600" dirty="0"/>
          </a:p>
          <a:p>
            <a:endParaRPr lang="en-IN" sz="1600" dirty="0"/>
          </a:p>
        </p:txBody>
      </p:sp>
      <p:pic>
        <p:nvPicPr>
          <p:cNvPr id="5" name="Picture 4">
            <a:extLst>
              <a:ext uri="{FF2B5EF4-FFF2-40B4-BE49-F238E27FC236}">
                <a16:creationId xmlns:a16="http://schemas.microsoft.com/office/drawing/2014/main" id="{415A476B-4945-DBE3-0933-AAAA57BFD8D4}"/>
              </a:ext>
            </a:extLst>
          </p:cNvPr>
          <p:cNvPicPr>
            <a:picLocks noChangeAspect="1"/>
          </p:cNvPicPr>
          <p:nvPr/>
        </p:nvPicPr>
        <p:blipFill>
          <a:blip r:embed="rId2"/>
          <a:stretch>
            <a:fillRect/>
          </a:stretch>
        </p:blipFill>
        <p:spPr>
          <a:xfrm>
            <a:off x="2641083" y="2170879"/>
            <a:ext cx="4689107" cy="3314870"/>
          </a:xfrm>
          <a:prstGeom prst="rect">
            <a:avLst/>
          </a:prstGeom>
        </p:spPr>
      </p:pic>
    </p:spTree>
    <p:extLst>
      <p:ext uri="{BB962C8B-B14F-4D97-AF65-F5344CB8AC3E}">
        <p14:creationId xmlns:p14="http://schemas.microsoft.com/office/powerpoint/2010/main" val="21881221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FE09B-8A8F-8322-3A37-0A3DB5DA41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794E5-885A-5CD3-E327-CADD008B5B46}"/>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6" name="TextBox 5">
            <a:extLst>
              <a:ext uri="{FF2B5EF4-FFF2-40B4-BE49-F238E27FC236}">
                <a16:creationId xmlns:a16="http://schemas.microsoft.com/office/drawing/2014/main" id="{9C4B146D-7D50-FD90-BEAD-E406293BD4BE}"/>
              </a:ext>
            </a:extLst>
          </p:cNvPr>
          <p:cNvSpPr txBox="1"/>
          <p:nvPr/>
        </p:nvSpPr>
        <p:spPr>
          <a:xfrm>
            <a:off x="587393" y="1305341"/>
            <a:ext cx="9111243" cy="4247317"/>
          </a:xfrm>
          <a:prstGeom prst="rect">
            <a:avLst/>
          </a:prstGeom>
          <a:noFill/>
        </p:spPr>
        <p:txBody>
          <a:bodyPr wrap="square">
            <a:spAutoFit/>
          </a:bodyPr>
          <a:lstStyle/>
          <a:p>
            <a:pPr>
              <a:buNone/>
            </a:pPr>
            <a:r>
              <a:rPr lang="en-IN" b="1" dirty="0"/>
              <a:t>What is Artificial Intelligence?</a:t>
            </a:r>
          </a:p>
          <a:p>
            <a:pPr>
              <a:buNone/>
            </a:pPr>
            <a:endParaRPr lang="en-IN" b="1" dirty="0"/>
          </a:p>
          <a:p>
            <a:pPr>
              <a:buNone/>
            </a:pPr>
            <a:r>
              <a:rPr lang="en-IN" b="1" dirty="0"/>
              <a:t>Artificial Intelligence is the broader field of creating computer systems that can perform tasks that normally require human intelligence.</a:t>
            </a:r>
          </a:p>
          <a:p>
            <a:pPr>
              <a:buNone/>
            </a:pPr>
            <a:endParaRPr lang="en-IN" dirty="0"/>
          </a:p>
          <a:p>
            <a:pPr>
              <a:buNone/>
            </a:pPr>
            <a:r>
              <a:rPr lang="en-IN" dirty="0"/>
              <a:t>These tasks can include:</a:t>
            </a:r>
          </a:p>
          <a:p>
            <a:pPr marL="342900" lvl="0" indent="-342900">
              <a:buFont typeface="Arial" panose="020B0604020202020204" pitchFamily="34" charset="0"/>
              <a:buChar char="•"/>
            </a:pPr>
            <a:r>
              <a:rPr lang="en-IN" dirty="0"/>
              <a:t>Reasoning </a:t>
            </a:r>
          </a:p>
          <a:p>
            <a:pPr marL="342900" lvl="0" indent="-342900">
              <a:buFont typeface="Arial" panose="020B0604020202020204" pitchFamily="34" charset="0"/>
              <a:buChar char="•"/>
            </a:pPr>
            <a:r>
              <a:rPr lang="en-IN" dirty="0"/>
              <a:t>Learning </a:t>
            </a:r>
          </a:p>
          <a:p>
            <a:pPr marL="342900" lvl="0" indent="-342900">
              <a:buFont typeface="Arial" panose="020B0604020202020204" pitchFamily="34" charset="0"/>
              <a:buChar char="•"/>
            </a:pPr>
            <a:r>
              <a:rPr lang="en-IN" dirty="0"/>
              <a:t>Problem solving </a:t>
            </a:r>
          </a:p>
          <a:p>
            <a:pPr marL="342900" lvl="0" indent="-342900">
              <a:buFont typeface="Arial" panose="020B0604020202020204" pitchFamily="34" charset="0"/>
              <a:buChar char="•"/>
            </a:pPr>
            <a:r>
              <a:rPr lang="en-IN" dirty="0"/>
              <a:t>Planning </a:t>
            </a:r>
          </a:p>
          <a:p>
            <a:pPr marL="342900" lvl="0" indent="-342900">
              <a:buFont typeface="Arial" panose="020B0604020202020204" pitchFamily="34" charset="0"/>
              <a:buChar char="•"/>
            </a:pPr>
            <a:r>
              <a:rPr lang="en-IN" dirty="0"/>
              <a:t>Decision making </a:t>
            </a:r>
          </a:p>
          <a:p>
            <a:pPr marL="342900" lvl="0" indent="-342900">
              <a:buFont typeface="Arial" panose="020B0604020202020204" pitchFamily="34" charset="0"/>
              <a:buChar char="•"/>
            </a:pPr>
            <a:r>
              <a:rPr lang="en-IN" dirty="0"/>
              <a:t>Understanding language </a:t>
            </a:r>
          </a:p>
          <a:p>
            <a:pPr marL="342900" lvl="0" indent="-342900">
              <a:buFont typeface="Arial" panose="020B0604020202020204" pitchFamily="34" charset="0"/>
              <a:buChar char="•"/>
            </a:pPr>
            <a:r>
              <a:rPr lang="en-IN" dirty="0"/>
              <a:t>Recognizing images </a:t>
            </a:r>
          </a:p>
          <a:p>
            <a:pPr marL="342900" lvl="0" indent="-342900">
              <a:buFont typeface="Arial" panose="020B0604020202020204" pitchFamily="34" charset="0"/>
              <a:buChar char="•"/>
            </a:pPr>
            <a:r>
              <a:rPr lang="en-IN" dirty="0"/>
              <a:t>Understanding speech </a:t>
            </a:r>
          </a:p>
          <a:p>
            <a:pPr marL="342900" lvl="0" indent="-342900">
              <a:buFont typeface="Arial" panose="020B0604020202020204" pitchFamily="34" charset="0"/>
              <a:buChar char="•"/>
            </a:pPr>
            <a:r>
              <a:rPr lang="en-IN" dirty="0"/>
              <a:t>Generating content </a:t>
            </a:r>
          </a:p>
        </p:txBody>
      </p:sp>
    </p:spTree>
    <p:extLst>
      <p:ext uri="{BB962C8B-B14F-4D97-AF65-F5344CB8AC3E}">
        <p14:creationId xmlns:p14="http://schemas.microsoft.com/office/powerpoint/2010/main" val="3942981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BABA5-559C-D021-712D-4672964FE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0CC826-409E-AFFB-7775-BA6A967735ED}"/>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5" name="TextBox 4">
            <a:extLst>
              <a:ext uri="{FF2B5EF4-FFF2-40B4-BE49-F238E27FC236}">
                <a16:creationId xmlns:a16="http://schemas.microsoft.com/office/drawing/2014/main" id="{C7C0A52D-5703-F868-53BE-A189E3B9EF23}"/>
              </a:ext>
            </a:extLst>
          </p:cNvPr>
          <p:cNvSpPr txBox="1"/>
          <p:nvPr/>
        </p:nvSpPr>
        <p:spPr>
          <a:xfrm>
            <a:off x="587393" y="1305341"/>
            <a:ext cx="7567256" cy="4247317"/>
          </a:xfrm>
          <a:prstGeom prst="rect">
            <a:avLst/>
          </a:prstGeom>
          <a:noFill/>
        </p:spPr>
        <p:txBody>
          <a:bodyPr wrap="square">
            <a:spAutoFit/>
          </a:bodyPr>
          <a:lstStyle/>
          <a:p>
            <a:pPr>
              <a:buNone/>
            </a:pPr>
            <a:r>
              <a:rPr lang="en-IN" sz="1800" b="1" dirty="0"/>
              <a:t>Example</a:t>
            </a:r>
          </a:p>
          <a:p>
            <a:pPr>
              <a:buNone/>
            </a:pPr>
            <a:endParaRPr lang="en-IN" sz="1800" b="1" dirty="0"/>
          </a:p>
          <a:p>
            <a:pPr>
              <a:buNone/>
            </a:pPr>
            <a:r>
              <a:rPr lang="en-IN" sz="1800" dirty="0"/>
              <a:t>Imagine a customer-support chatbot.</a:t>
            </a:r>
          </a:p>
          <a:p>
            <a:pPr>
              <a:buNone/>
            </a:pPr>
            <a:endParaRPr lang="en-IN" sz="1800" dirty="0"/>
          </a:p>
          <a:p>
            <a:pPr>
              <a:buNone/>
            </a:pPr>
            <a:r>
              <a:rPr lang="en-IN" sz="1800" dirty="0"/>
              <a:t>A customer asks:</a:t>
            </a:r>
          </a:p>
          <a:p>
            <a:pPr>
              <a:buNone/>
            </a:pPr>
            <a:endParaRPr lang="en-IN" sz="1800" dirty="0"/>
          </a:p>
          <a:p>
            <a:pPr>
              <a:buNone/>
            </a:pPr>
            <a:r>
              <a:rPr lang="en-IN" sz="1800" dirty="0"/>
              <a:t>"My payment failed. What should I do?“</a:t>
            </a:r>
          </a:p>
          <a:p>
            <a:pPr>
              <a:buNone/>
            </a:pPr>
            <a:endParaRPr lang="en-IN" sz="1800" dirty="0"/>
          </a:p>
          <a:p>
            <a:pPr>
              <a:buNone/>
            </a:pPr>
            <a:r>
              <a:rPr lang="en-IN" sz="1800" dirty="0"/>
              <a:t>An AI system might:</a:t>
            </a:r>
          </a:p>
          <a:p>
            <a:pPr marL="342900" lvl="0" indent="-342900">
              <a:buFont typeface="+mj-lt"/>
              <a:buAutoNum type="arabicPeriod"/>
            </a:pPr>
            <a:r>
              <a:rPr lang="en-IN" sz="1800" dirty="0"/>
              <a:t>Understand the question. </a:t>
            </a:r>
          </a:p>
          <a:p>
            <a:pPr marL="342900" lvl="0" indent="-342900">
              <a:buFont typeface="+mj-lt"/>
              <a:buAutoNum type="arabicPeriod"/>
            </a:pPr>
            <a:r>
              <a:rPr lang="en-IN" sz="1800" dirty="0"/>
              <a:t>Identify the customer's problem. </a:t>
            </a:r>
          </a:p>
          <a:p>
            <a:pPr marL="342900" lvl="0" indent="-342900">
              <a:buFont typeface="+mj-lt"/>
              <a:buAutoNum type="arabicPeriod"/>
            </a:pPr>
            <a:r>
              <a:rPr lang="en-IN" sz="1800" dirty="0"/>
              <a:t>Retrieve relevant information. </a:t>
            </a:r>
          </a:p>
          <a:p>
            <a:pPr marL="342900" lvl="0" indent="-342900">
              <a:buFont typeface="+mj-lt"/>
              <a:buAutoNum type="arabicPeriod"/>
            </a:pPr>
            <a:r>
              <a:rPr lang="en-IN" sz="1800" dirty="0"/>
              <a:t>Decide what response is appropriate. </a:t>
            </a:r>
          </a:p>
          <a:p>
            <a:pPr marL="342900" lvl="0" indent="-342900">
              <a:buFont typeface="+mj-lt"/>
              <a:buAutoNum type="arabicPeriod"/>
            </a:pPr>
            <a:r>
              <a:rPr lang="en-IN" sz="1800" dirty="0"/>
              <a:t>Generate an answer. </a:t>
            </a:r>
          </a:p>
          <a:p>
            <a:pPr>
              <a:buNone/>
            </a:pPr>
            <a:r>
              <a:rPr lang="en-IN" sz="1800" dirty="0"/>
              <a:t>That entire capability falls under </a:t>
            </a:r>
            <a:r>
              <a:rPr lang="en-IN" sz="1800" b="1" dirty="0"/>
              <a:t>AI</a:t>
            </a:r>
            <a:r>
              <a:rPr lang="en-IN" sz="1800" dirty="0"/>
              <a:t>.</a:t>
            </a:r>
          </a:p>
        </p:txBody>
      </p:sp>
    </p:spTree>
    <p:extLst>
      <p:ext uri="{BB962C8B-B14F-4D97-AF65-F5344CB8AC3E}">
        <p14:creationId xmlns:p14="http://schemas.microsoft.com/office/powerpoint/2010/main" val="15116263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54C89-EE9D-BABB-B3CD-70D871C70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FBEDDB-EA74-B90D-215A-1CB67E43C2CC}"/>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6" name="TextBox 5">
            <a:extLst>
              <a:ext uri="{FF2B5EF4-FFF2-40B4-BE49-F238E27FC236}">
                <a16:creationId xmlns:a16="http://schemas.microsoft.com/office/drawing/2014/main" id="{A6AD3566-7293-E323-B987-8B9E119E67A7}"/>
              </a:ext>
            </a:extLst>
          </p:cNvPr>
          <p:cNvSpPr txBox="1"/>
          <p:nvPr/>
        </p:nvSpPr>
        <p:spPr>
          <a:xfrm>
            <a:off x="587393" y="955206"/>
            <a:ext cx="5258772" cy="5078313"/>
          </a:xfrm>
          <a:prstGeom prst="rect">
            <a:avLst/>
          </a:prstGeom>
          <a:noFill/>
        </p:spPr>
        <p:txBody>
          <a:bodyPr wrap="square">
            <a:spAutoFit/>
          </a:bodyPr>
          <a:lstStyle/>
          <a:p>
            <a:pPr>
              <a:buNone/>
            </a:pPr>
            <a:r>
              <a:rPr lang="en-IN" b="1" dirty="0"/>
              <a:t>What is Machine Learning?</a:t>
            </a:r>
          </a:p>
          <a:p>
            <a:pPr>
              <a:buNone/>
            </a:pPr>
            <a:endParaRPr lang="en-IN" b="1" dirty="0"/>
          </a:p>
          <a:p>
            <a:pPr>
              <a:buNone/>
            </a:pPr>
            <a:r>
              <a:rPr lang="en-IN" b="1" dirty="0"/>
              <a:t>Machine Learning is a subset of AI where computers learn patterns from data and use those patterns to make predictions or decisions.</a:t>
            </a:r>
          </a:p>
          <a:p>
            <a:pPr>
              <a:buNone/>
            </a:pPr>
            <a:endParaRPr lang="en-IN" dirty="0"/>
          </a:p>
          <a:p>
            <a:pPr>
              <a:buNone/>
            </a:pPr>
            <a:r>
              <a:rPr lang="en-IN" dirty="0"/>
              <a:t>Traditional programming looks like:</a:t>
            </a:r>
          </a:p>
          <a:p>
            <a:pPr rtl="0">
              <a:buNone/>
            </a:pPr>
            <a:r>
              <a:rPr lang="en-IN" dirty="0">
                <a:latin typeface="Courier New" panose="02070309020205020404" pitchFamily="49" charset="0"/>
              </a:rPr>
              <a:t>Rules + Data</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Program</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Output</a:t>
            </a:r>
          </a:p>
          <a:p>
            <a:pPr rtl="0">
              <a:buNone/>
            </a:pPr>
            <a:endParaRPr lang="en-IN" dirty="0">
              <a:latin typeface="Courier New" panose="02070309020205020404" pitchFamily="49" charset="0"/>
            </a:endParaRPr>
          </a:p>
          <a:p>
            <a:pPr>
              <a:buNone/>
            </a:pPr>
            <a:r>
              <a:rPr lang="en-IN" dirty="0"/>
              <a:t>The programmer does not necessarily specify every rule manually.</a:t>
            </a:r>
          </a:p>
          <a:p>
            <a:pPr>
              <a:buNone/>
            </a:pPr>
            <a:r>
              <a:rPr lang="en-IN" dirty="0"/>
              <a:t>Instead, the system learns patterns from examples.</a:t>
            </a:r>
          </a:p>
        </p:txBody>
      </p:sp>
      <p:sp>
        <p:nvSpPr>
          <p:cNvPr id="8" name="TextBox 7">
            <a:extLst>
              <a:ext uri="{FF2B5EF4-FFF2-40B4-BE49-F238E27FC236}">
                <a16:creationId xmlns:a16="http://schemas.microsoft.com/office/drawing/2014/main" id="{C3712ED7-2509-CE13-9FE7-F3D52D0DCD4C}"/>
              </a:ext>
            </a:extLst>
          </p:cNvPr>
          <p:cNvSpPr txBox="1"/>
          <p:nvPr/>
        </p:nvSpPr>
        <p:spPr>
          <a:xfrm>
            <a:off x="5846165" y="1349833"/>
            <a:ext cx="6100996" cy="3693319"/>
          </a:xfrm>
          <a:prstGeom prst="rect">
            <a:avLst/>
          </a:prstGeom>
          <a:noFill/>
        </p:spPr>
        <p:txBody>
          <a:bodyPr wrap="square">
            <a:spAutoFit/>
          </a:bodyPr>
          <a:lstStyle/>
          <a:p>
            <a:pPr>
              <a:buNone/>
            </a:pPr>
            <a:r>
              <a:rPr lang="en-IN" sz="1800" dirty="0"/>
              <a:t>Machine Learning works more like:</a:t>
            </a:r>
          </a:p>
          <a:p>
            <a:pPr>
              <a:buNone/>
            </a:pPr>
            <a:endParaRPr lang="en-IN" sz="1800" dirty="0"/>
          </a:p>
          <a:p>
            <a:pPr rtl="0">
              <a:buNone/>
            </a:pPr>
            <a:r>
              <a:rPr lang="en-IN" sz="1800" dirty="0">
                <a:latin typeface="Courier New" panose="02070309020205020404" pitchFamily="49" charset="0"/>
              </a:rPr>
              <a:t>Data + Examples</a:t>
            </a:r>
          </a:p>
          <a:p>
            <a:pPr rtl="0">
              <a:buNone/>
            </a:pPr>
            <a:r>
              <a:rPr lang="en-IN" sz="1800" dirty="0">
                <a:latin typeface="Courier New" panose="02070309020205020404" pitchFamily="49" charset="0"/>
              </a:rPr>
              <a:t>       ↓</a:t>
            </a:r>
          </a:p>
          <a:p>
            <a:pPr rtl="0">
              <a:buNone/>
            </a:pPr>
            <a:r>
              <a:rPr lang="en-IN" sz="1800" dirty="0">
                <a:latin typeface="Courier New" panose="02070309020205020404" pitchFamily="49" charset="0"/>
              </a:rPr>
              <a:t> ML Algorithm</a:t>
            </a:r>
          </a:p>
          <a:p>
            <a:pPr rtl="0">
              <a:buNone/>
            </a:pPr>
            <a:r>
              <a:rPr lang="en-IN" sz="1800" dirty="0">
                <a:latin typeface="Courier New" panose="02070309020205020404" pitchFamily="49" charset="0"/>
              </a:rPr>
              <a:t>       ↓</a:t>
            </a:r>
          </a:p>
          <a:p>
            <a:pPr rtl="0">
              <a:buNone/>
            </a:pPr>
            <a:r>
              <a:rPr lang="en-IN" sz="1800" dirty="0">
                <a:latin typeface="Courier New" panose="02070309020205020404" pitchFamily="49" charset="0"/>
              </a:rPr>
              <a:t>    Training</a:t>
            </a:r>
          </a:p>
          <a:p>
            <a:pPr rtl="0">
              <a:buNone/>
            </a:pPr>
            <a:r>
              <a:rPr lang="en-IN" sz="1800" dirty="0">
                <a:latin typeface="Courier New" panose="02070309020205020404" pitchFamily="49" charset="0"/>
              </a:rPr>
              <a:t>       ↓</a:t>
            </a:r>
          </a:p>
          <a:p>
            <a:pPr rtl="0">
              <a:buNone/>
            </a:pPr>
            <a:r>
              <a:rPr lang="en-IN" sz="1800" dirty="0">
                <a:latin typeface="Courier New" panose="02070309020205020404" pitchFamily="49" charset="0"/>
              </a:rPr>
              <a:t>     Model</a:t>
            </a:r>
          </a:p>
          <a:p>
            <a:pPr rtl="0">
              <a:buNone/>
            </a:pPr>
            <a:r>
              <a:rPr lang="en-IN" sz="1800" dirty="0">
                <a:latin typeface="Courier New" panose="02070309020205020404" pitchFamily="49" charset="0"/>
              </a:rPr>
              <a:t>       ↓</a:t>
            </a:r>
          </a:p>
          <a:p>
            <a:pPr rtl="0">
              <a:buNone/>
            </a:pPr>
            <a:r>
              <a:rPr lang="en-IN" sz="1800" dirty="0">
                <a:latin typeface="Courier New" panose="02070309020205020404" pitchFamily="49" charset="0"/>
              </a:rPr>
              <a:t> New Data</a:t>
            </a:r>
          </a:p>
          <a:p>
            <a:pPr rtl="0">
              <a:buNone/>
            </a:pPr>
            <a:r>
              <a:rPr lang="en-IN" sz="1800" dirty="0">
                <a:latin typeface="Courier New" panose="02070309020205020404" pitchFamily="49" charset="0"/>
              </a:rPr>
              <a:t>       ↓</a:t>
            </a:r>
          </a:p>
          <a:p>
            <a:pPr rtl="0">
              <a:buNone/>
            </a:pPr>
            <a:r>
              <a:rPr lang="en-IN" sz="1800" dirty="0">
                <a:latin typeface="Courier New" panose="02070309020205020404" pitchFamily="49" charset="0"/>
              </a:rPr>
              <a:t> Prediction</a:t>
            </a:r>
          </a:p>
        </p:txBody>
      </p:sp>
    </p:spTree>
    <p:extLst>
      <p:ext uri="{BB962C8B-B14F-4D97-AF65-F5344CB8AC3E}">
        <p14:creationId xmlns:p14="http://schemas.microsoft.com/office/powerpoint/2010/main" val="329721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F0A17-D4B6-305E-10D6-4596DA903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A9475-5F89-2E87-1E34-58ACB63ACDAA}"/>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graphicFrame>
        <p:nvGraphicFramePr>
          <p:cNvPr id="3" name="Table 2">
            <a:extLst>
              <a:ext uri="{FF2B5EF4-FFF2-40B4-BE49-F238E27FC236}">
                <a16:creationId xmlns:a16="http://schemas.microsoft.com/office/drawing/2014/main" id="{12FECB33-B246-5BFE-9A9D-D1C7FBF4D4C1}"/>
              </a:ext>
            </a:extLst>
          </p:cNvPr>
          <p:cNvGraphicFramePr>
            <a:graphicFrameLocks noGrp="1"/>
          </p:cNvGraphicFramePr>
          <p:nvPr>
            <p:extLst>
              <p:ext uri="{D42A27DB-BD31-4B8C-83A1-F6EECF244321}">
                <p14:modId xmlns:p14="http://schemas.microsoft.com/office/powerpoint/2010/main" val="1287238958"/>
              </p:ext>
            </p:extLst>
          </p:nvPr>
        </p:nvGraphicFramePr>
        <p:xfrm>
          <a:off x="5546890" y="1039169"/>
          <a:ext cx="4763568" cy="2926080"/>
        </p:xfrm>
        <a:graphic>
          <a:graphicData uri="http://schemas.openxmlformats.org/drawingml/2006/table">
            <a:tbl>
              <a:tblPr/>
              <a:tblGrid>
                <a:gridCol w="2381784">
                  <a:extLst>
                    <a:ext uri="{9D8B030D-6E8A-4147-A177-3AD203B41FA5}">
                      <a16:colId xmlns:a16="http://schemas.microsoft.com/office/drawing/2014/main" val="60868782"/>
                    </a:ext>
                  </a:extLst>
                </a:gridCol>
                <a:gridCol w="2381784">
                  <a:extLst>
                    <a:ext uri="{9D8B030D-6E8A-4147-A177-3AD203B41FA5}">
                      <a16:colId xmlns:a16="http://schemas.microsoft.com/office/drawing/2014/main" val="392839569"/>
                    </a:ext>
                  </a:extLst>
                </a:gridCol>
              </a:tblGrid>
              <a:tr h="0">
                <a:tc>
                  <a:txBody>
                    <a:bodyPr/>
                    <a:lstStyle/>
                    <a:p>
                      <a:pPr>
                        <a:buNone/>
                      </a:pPr>
                      <a:r>
                        <a:rPr lang="en-IN"/>
                        <a:t>Email</a:t>
                      </a:r>
                    </a:p>
                  </a:txBody>
                  <a:tcPr anchor="ctr">
                    <a:lnL>
                      <a:noFill/>
                    </a:lnL>
                    <a:lnR>
                      <a:noFill/>
                    </a:lnR>
                    <a:lnT>
                      <a:noFill/>
                    </a:lnT>
                    <a:lnB>
                      <a:noFill/>
                    </a:lnB>
                    <a:noFill/>
                  </a:tcPr>
                </a:tc>
                <a:tc>
                  <a:txBody>
                    <a:bodyPr/>
                    <a:lstStyle/>
                    <a:p>
                      <a:pPr>
                        <a:buNone/>
                      </a:pPr>
                      <a:r>
                        <a:rPr lang="en-IN"/>
                        <a:t>Label</a:t>
                      </a:r>
                    </a:p>
                  </a:txBody>
                  <a:tcPr anchor="ctr">
                    <a:lnL>
                      <a:noFill/>
                    </a:lnL>
                    <a:lnR>
                      <a:noFill/>
                    </a:lnR>
                    <a:lnT>
                      <a:noFill/>
                    </a:lnT>
                    <a:lnB>
                      <a:noFill/>
                    </a:lnB>
                    <a:noFill/>
                  </a:tcPr>
                </a:tc>
                <a:extLst>
                  <a:ext uri="{0D108BD9-81ED-4DB2-BD59-A6C34878D82A}">
                    <a16:rowId xmlns:a16="http://schemas.microsoft.com/office/drawing/2014/main" val="2126597513"/>
                  </a:ext>
                </a:extLst>
              </a:tr>
              <a:tr h="0">
                <a:tc>
                  <a:txBody>
                    <a:bodyPr/>
                    <a:lstStyle/>
                    <a:p>
                      <a:pPr>
                        <a:buNone/>
                      </a:pPr>
                      <a:r>
                        <a:rPr lang="en-IN" dirty="0"/>
                        <a:t>"Congratulations! You won $1 million"</a:t>
                      </a:r>
                    </a:p>
                  </a:txBody>
                  <a:tcPr anchor="ctr">
                    <a:lnL>
                      <a:noFill/>
                    </a:lnL>
                    <a:lnR>
                      <a:noFill/>
                    </a:lnR>
                    <a:lnT>
                      <a:noFill/>
                    </a:lnT>
                    <a:lnB>
                      <a:noFill/>
                    </a:lnB>
                    <a:noFill/>
                  </a:tcPr>
                </a:tc>
                <a:tc>
                  <a:txBody>
                    <a:bodyPr/>
                    <a:lstStyle/>
                    <a:p>
                      <a:pPr>
                        <a:buNone/>
                      </a:pPr>
                      <a:r>
                        <a:rPr lang="en-IN"/>
                        <a:t>Spam</a:t>
                      </a:r>
                    </a:p>
                  </a:txBody>
                  <a:tcPr anchor="ctr">
                    <a:lnL>
                      <a:noFill/>
                    </a:lnL>
                    <a:lnR>
                      <a:noFill/>
                    </a:lnR>
                    <a:lnT>
                      <a:noFill/>
                    </a:lnT>
                    <a:lnB>
                      <a:noFill/>
                    </a:lnB>
                    <a:noFill/>
                  </a:tcPr>
                </a:tc>
                <a:extLst>
                  <a:ext uri="{0D108BD9-81ED-4DB2-BD59-A6C34878D82A}">
                    <a16:rowId xmlns:a16="http://schemas.microsoft.com/office/drawing/2014/main" val="3247590326"/>
                  </a:ext>
                </a:extLst>
              </a:tr>
              <a:tr h="0">
                <a:tc>
                  <a:txBody>
                    <a:bodyPr/>
                    <a:lstStyle/>
                    <a:p>
                      <a:pPr>
                        <a:buNone/>
                      </a:pPr>
                      <a:r>
                        <a:rPr lang="en-IN" dirty="0"/>
                        <a:t>"Meeting scheduled at 10 AM"</a:t>
                      </a:r>
                    </a:p>
                  </a:txBody>
                  <a:tcPr anchor="ctr">
                    <a:lnL>
                      <a:noFill/>
                    </a:lnL>
                    <a:lnR>
                      <a:noFill/>
                    </a:lnR>
                    <a:lnT>
                      <a:noFill/>
                    </a:lnT>
                    <a:lnB>
                      <a:noFill/>
                    </a:lnB>
                    <a:noFill/>
                  </a:tcPr>
                </a:tc>
                <a:tc>
                  <a:txBody>
                    <a:bodyPr/>
                    <a:lstStyle/>
                    <a:p>
                      <a:pPr>
                        <a:buNone/>
                      </a:pPr>
                      <a:r>
                        <a:rPr lang="en-IN" dirty="0"/>
                        <a:t>Not Spam</a:t>
                      </a:r>
                    </a:p>
                  </a:txBody>
                  <a:tcPr anchor="ctr">
                    <a:lnL>
                      <a:noFill/>
                    </a:lnL>
                    <a:lnR>
                      <a:noFill/>
                    </a:lnR>
                    <a:lnT>
                      <a:noFill/>
                    </a:lnT>
                    <a:lnB>
                      <a:noFill/>
                    </a:lnB>
                    <a:noFill/>
                  </a:tcPr>
                </a:tc>
                <a:extLst>
                  <a:ext uri="{0D108BD9-81ED-4DB2-BD59-A6C34878D82A}">
                    <a16:rowId xmlns:a16="http://schemas.microsoft.com/office/drawing/2014/main" val="600006176"/>
                  </a:ext>
                </a:extLst>
              </a:tr>
              <a:tr h="0">
                <a:tc>
                  <a:txBody>
                    <a:bodyPr/>
                    <a:lstStyle/>
                    <a:p>
                      <a:pPr>
                        <a:buNone/>
                      </a:pPr>
                      <a:r>
                        <a:rPr lang="en-IN" dirty="0"/>
                        <a:t>"Claim your free prize"</a:t>
                      </a:r>
                    </a:p>
                  </a:txBody>
                  <a:tcPr anchor="ctr">
                    <a:lnL>
                      <a:noFill/>
                    </a:lnL>
                    <a:lnR>
                      <a:noFill/>
                    </a:lnR>
                    <a:lnT>
                      <a:noFill/>
                    </a:lnT>
                    <a:lnB>
                      <a:noFill/>
                    </a:lnB>
                    <a:noFill/>
                  </a:tcPr>
                </a:tc>
                <a:tc>
                  <a:txBody>
                    <a:bodyPr/>
                    <a:lstStyle/>
                    <a:p>
                      <a:pPr>
                        <a:buNone/>
                      </a:pPr>
                      <a:r>
                        <a:rPr lang="en-IN"/>
                        <a:t>Spam</a:t>
                      </a:r>
                    </a:p>
                  </a:txBody>
                  <a:tcPr anchor="ctr">
                    <a:lnL>
                      <a:noFill/>
                    </a:lnL>
                    <a:lnR>
                      <a:noFill/>
                    </a:lnR>
                    <a:lnT>
                      <a:noFill/>
                    </a:lnT>
                    <a:lnB>
                      <a:noFill/>
                    </a:lnB>
                    <a:noFill/>
                  </a:tcPr>
                </a:tc>
                <a:extLst>
                  <a:ext uri="{0D108BD9-81ED-4DB2-BD59-A6C34878D82A}">
                    <a16:rowId xmlns:a16="http://schemas.microsoft.com/office/drawing/2014/main" val="655139876"/>
                  </a:ext>
                </a:extLst>
              </a:tr>
              <a:tr h="0">
                <a:tc>
                  <a:txBody>
                    <a:bodyPr/>
                    <a:lstStyle/>
                    <a:p>
                      <a:pPr>
                        <a:buNone/>
                      </a:pPr>
                      <a:r>
                        <a:rPr lang="en-IN"/>
                        <a:t>"Please review the project document"</a:t>
                      </a:r>
                    </a:p>
                  </a:txBody>
                  <a:tcPr anchor="ctr">
                    <a:lnL>
                      <a:noFill/>
                    </a:lnL>
                    <a:lnR>
                      <a:noFill/>
                    </a:lnR>
                    <a:lnT>
                      <a:noFill/>
                    </a:lnT>
                    <a:lnB>
                      <a:noFill/>
                    </a:lnB>
                    <a:noFill/>
                  </a:tcPr>
                </a:tc>
                <a:tc>
                  <a:txBody>
                    <a:bodyPr/>
                    <a:lstStyle/>
                    <a:p>
                      <a:pPr>
                        <a:buNone/>
                      </a:pPr>
                      <a:r>
                        <a:rPr lang="en-IN" dirty="0"/>
                        <a:t>Not Spam</a:t>
                      </a:r>
                    </a:p>
                  </a:txBody>
                  <a:tcPr anchor="ctr">
                    <a:lnL>
                      <a:noFill/>
                    </a:lnL>
                    <a:lnR>
                      <a:noFill/>
                    </a:lnR>
                    <a:lnT>
                      <a:noFill/>
                    </a:lnT>
                    <a:lnB>
                      <a:noFill/>
                    </a:lnB>
                    <a:noFill/>
                  </a:tcPr>
                </a:tc>
                <a:extLst>
                  <a:ext uri="{0D108BD9-81ED-4DB2-BD59-A6C34878D82A}">
                    <a16:rowId xmlns:a16="http://schemas.microsoft.com/office/drawing/2014/main" val="2572635180"/>
                  </a:ext>
                </a:extLst>
              </a:tr>
            </a:tbl>
          </a:graphicData>
        </a:graphic>
      </p:graphicFrame>
      <p:sp>
        <p:nvSpPr>
          <p:cNvPr id="5" name="TextBox 4">
            <a:extLst>
              <a:ext uri="{FF2B5EF4-FFF2-40B4-BE49-F238E27FC236}">
                <a16:creationId xmlns:a16="http://schemas.microsoft.com/office/drawing/2014/main" id="{B55D1545-D166-211F-17C4-DC944B7CDBBC}"/>
              </a:ext>
            </a:extLst>
          </p:cNvPr>
          <p:cNvSpPr txBox="1"/>
          <p:nvPr/>
        </p:nvSpPr>
        <p:spPr>
          <a:xfrm>
            <a:off x="423030" y="1028343"/>
            <a:ext cx="4763567" cy="4801314"/>
          </a:xfrm>
          <a:prstGeom prst="rect">
            <a:avLst/>
          </a:prstGeom>
          <a:noFill/>
        </p:spPr>
        <p:txBody>
          <a:bodyPr wrap="square">
            <a:spAutoFit/>
          </a:bodyPr>
          <a:lstStyle/>
          <a:p>
            <a:pPr>
              <a:buNone/>
            </a:pPr>
            <a:r>
              <a:rPr lang="en-IN" b="1" dirty="0"/>
              <a:t>Simple Machine Learning Example</a:t>
            </a:r>
          </a:p>
          <a:p>
            <a:pPr>
              <a:buNone/>
            </a:pPr>
            <a:endParaRPr lang="en-IN" b="1" dirty="0"/>
          </a:p>
          <a:p>
            <a:pPr>
              <a:buNone/>
            </a:pPr>
            <a:r>
              <a:rPr lang="en-IN" dirty="0"/>
              <a:t>Suppose we want to predict whether an email is </a:t>
            </a:r>
            <a:r>
              <a:rPr lang="en-IN" b="1" dirty="0"/>
              <a:t>Spam</a:t>
            </a:r>
            <a:r>
              <a:rPr lang="en-IN" dirty="0"/>
              <a:t> or </a:t>
            </a:r>
            <a:r>
              <a:rPr lang="en-IN" b="1" dirty="0"/>
              <a:t>Not Spam</a:t>
            </a:r>
            <a:r>
              <a:rPr lang="en-IN" dirty="0"/>
              <a:t>.</a:t>
            </a:r>
          </a:p>
          <a:p>
            <a:pPr>
              <a:buNone/>
            </a:pPr>
            <a:endParaRPr lang="en-IN" dirty="0"/>
          </a:p>
          <a:p>
            <a:pPr>
              <a:buNone/>
            </a:pPr>
            <a:r>
              <a:rPr lang="en-IN" dirty="0"/>
              <a:t>We provide thousands of examples:</a:t>
            </a:r>
          </a:p>
          <a:p>
            <a:pPr>
              <a:buNone/>
            </a:pPr>
            <a:endParaRPr lang="en-IN" dirty="0"/>
          </a:p>
          <a:p>
            <a:pPr>
              <a:buNone/>
            </a:pPr>
            <a:r>
              <a:rPr lang="en-IN" dirty="0"/>
              <a:t>The ML algorithm looks for patterns.</a:t>
            </a:r>
          </a:p>
          <a:p>
            <a:pPr>
              <a:buNone/>
            </a:pPr>
            <a:endParaRPr lang="en-IN" dirty="0"/>
          </a:p>
          <a:p>
            <a:pPr>
              <a:buNone/>
            </a:pPr>
            <a:r>
              <a:rPr lang="en-IN" dirty="0"/>
              <a:t>It might discover that certain combinations of words, links, sender information, etc. are associated with spam.</a:t>
            </a:r>
          </a:p>
          <a:p>
            <a:pPr>
              <a:buNone/>
            </a:pPr>
            <a:r>
              <a:rPr lang="en-IN" dirty="0"/>
              <a:t>Then a new email arrives:</a:t>
            </a:r>
          </a:p>
          <a:p>
            <a:pPr>
              <a:buNone/>
            </a:pPr>
            <a:r>
              <a:rPr lang="en-IN" dirty="0"/>
              <a:t>"Congratulations! Claim your free prize now!"</a:t>
            </a:r>
          </a:p>
          <a:p>
            <a:pPr>
              <a:buNone/>
            </a:pPr>
            <a:r>
              <a:rPr lang="en-IN" dirty="0"/>
              <a:t>The trained model predicts:</a:t>
            </a:r>
          </a:p>
          <a:p>
            <a:pPr>
              <a:buNone/>
            </a:pPr>
            <a:r>
              <a:rPr lang="en-IN" b="1" dirty="0"/>
              <a:t>Spam</a:t>
            </a:r>
            <a:endParaRPr lang="en-IN" dirty="0"/>
          </a:p>
        </p:txBody>
      </p:sp>
    </p:spTree>
    <p:extLst>
      <p:ext uri="{BB962C8B-B14F-4D97-AF65-F5344CB8AC3E}">
        <p14:creationId xmlns:p14="http://schemas.microsoft.com/office/powerpoint/2010/main" val="2451620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64980-B5B5-AA38-EAE1-2A56EECBF0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E7285-7082-4209-FAF9-715F5B58BE6C}"/>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6" name="TextBox 5">
            <a:extLst>
              <a:ext uri="{FF2B5EF4-FFF2-40B4-BE49-F238E27FC236}">
                <a16:creationId xmlns:a16="http://schemas.microsoft.com/office/drawing/2014/main" id="{E38644DD-2D60-F930-ED7E-10A7AE194AB1}"/>
              </a:ext>
            </a:extLst>
          </p:cNvPr>
          <p:cNvSpPr txBox="1"/>
          <p:nvPr/>
        </p:nvSpPr>
        <p:spPr>
          <a:xfrm>
            <a:off x="587393" y="955206"/>
            <a:ext cx="8106902" cy="5355312"/>
          </a:xfrm>
          <a:prstGeom prst="rect">
            <a:avLst/>
          </a:prstGeom>
          <a:noFill/>
        </p:spPr>
        <p:txBody>
          <a:bodyPr wrap="square">
            <a:spAutoFit/>
          </a:bodyPr>
          <a:lstStyle/>
          <a:p>
            <a:pPr>
              <a:buNone/>
            </a:pPr>
            <a:r>
              <a:rPr lang="en-IN" b="1" dirty="0"/>
              <a:t>What is Deep Learning?</a:t>
            </a:r>
          </a:p>
          <a:p>
            <a:pPr>
              <a:buNone/>
            </a:pPr>
            <a:endParaRPr lang="en-IN" b="1" dirty="0"/>
          </a:p>
          <a:p>
            <a:pPr>
              <a:buNone/>
            </a:pPr>
            <a:r>
              <a:rPr lang="en-IN" b="1" dirty="0"/>
              <a:t>Deep Learning is a specialized branch of Machine Learning that uses neural networks with multiple layers to learn complex patterns from large amounts of data.</a:t>
            </a:r>
          </a:p>
          <a:p>
            <a:pPr>
              <a:buNone/>
            </a:pPr>
            <a:endParaRPr lang="en-IN" dirty="0"/>
          </a:p>
          <a:p>
            <a:pPr>
              <a:buNone/>
            </a:pPr>
            <a:r>
              <a:rPr lang="en-IN" dirty="0"/>
              <a:t>The key technology is the </a:t>
            </a:r>
            <a:r>
              <a:rPr lang="en-IN" b="1" dirty="0"/>
              <a:t>Artificial Neural Network</a:t>
            </a:r>
            <a:r>
              <a:rPr lang="en-IN" dirty="0"/>
              <a:t>.</a:t>
            </a:r>
          </a:p>
          <a:p>
            <a:pPr>
              <a:buNone/>
            </a:pPr>
            <a:endParaRPr lang="en-IN" dirty="0"/>
          </a:p>
          <a:p>
            <a:pPr>
              <a:buNone/>
            </a:pPr>
            <a:r>
              <a:rPr lang="en-IN" dirty="0"/>
              <a:t>A simplified neural network looks like:</a:t>
            </a:r>
          </a:p>
          <a:p>
            <a:pPr>
              <a:buNone/>
            </a:pPr>
            <a:endParaRPr lang="en-IN" dirty="0"/>
          </a:p>
          <a:p>
            <a:pPr rtl="0">
              <a:buNone/>
            </a:pPr>
            <a:r>
              <a:rPr lang="en-IN" dirty="0">
                <a:latin typeface="Courier New" panose="02070309020205020404" pitchFamily="49" charset="0"/>
              </a:rPr>
              <a:t>Input Layer       Hidden Layers        Output</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Image       ┌───────────────┐</a:t>
            </a:r>
          </a:p>
          <a:p>
            <a:pPr rtl="0">
              <a:buNone/>
            </a:pPr>
            <a:r>
              <a:rPr lang="en-IN" dirty="0">
                <a:latin typeface="Courier New" panose="02070309020205020404" pitchFamily="49" charset="0"/>
              </a:rPr>
              <a:t>    │         │               │</a:t>
            </a:r>
          </a:p>
          <a:p>
            <a:pPr rtl="0">
              <a:buNone/>
            </a:pPr>
            <a:r>
              <a:rPr lang="en-IN" dirty="0">
                <a:latin typeface="Courier New" panose="02070309020205020404" pitchFamily="49" charset="0"/>
              </a:rPr>
              <a:t>    ├────────►│ Neural Network├──────► Cat</a:t>
            </a:r>
          </a:p>
          <a:p>
            <a:pPr rtl="0">
              <a:buNone/>
            </a:pPr>
            <a:r>
              <a:rPr lang="en-IN" dirty="0">
                <a:latin typeface="Courier New" panose="02070309020205020404" pitchFamily="49" charset="0"/>
              </a:rPr>
              <a:t>    │         │               │</a:t>
            </a:r>
          </a:p>
          <a:p>
            <a:pPr rtl="0">
              <a:buNone/>
            </a:pPr>
            <a:r>
              <a:rPr lang="en-IN" dirty="0">
                <a:latin typeface="Courier New" panose="02070309020205020404" pitchFamily="49" charset="0"/>
              </a:rPr>
              <a:t>    │         └───────────────┘</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 Dog</a:t>
            </a:r>
          </a:p>
        </p:txBody>
      </p:sp>
    </p:spTree>
    <p:extLst>
      <p:ext uri="{BB962C8B-B14F-4D97-AF65-F5344CB8AC3E}">
        <p14:creationId xmlns:p14="http://schemas.microsoft.com/office/powerpoint/2010/main" val="718007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5FF30-0445-E3BD-9BC6-E0E3B47E5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CADC8-DC27-8E70-07D5-06C5DD667B18}"/>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4" name="TextBox 3">
            <a:extLst>
              <a:ext uri="{FF2B5EF4-FFF2-40B4-BE49-F238E27FC236}">
                <a16:creationId xmlns:a16="http://schemas.microsoft.com/office/drawing/2014/main" id="{925B43E2-5060-C6D8-58CD-C30252007CB8}"/>
              </a:ext>
            </a:extLst>
          </p:cNvPr>
          <p:cNvSpPr txBox="1"/>
          <p:nvPr/>
        </p:nvSpPr>
        <p:spPr>
          <a:xfrm>
            <a:off x="587393" y="1072834"/>
            <a:ext cx="7882050" cy="4524315"/>
          </a:xfrm>
          <a:prstGeom prst="rect">
            <a:avLst/>
          </a:prstGeom>
          <a:noFill/>
        </p:spPr>
        <p:txBody>
          <a:bodyPr wrap="square">
            <a:spAutoFit/>
          </a:bodyPr>
          <a:lstStyle/>
          <a:p>
            <a:pPr>
              <a:buNone/>
            </a:pPr>
            <a:r>
              <a:rPr lang="en-IN" b="1" dirty="0"/>
              <a:t>Why Do We Need Deep Learning?</a:t>
            </a:r>
          </a:p>
          <a:p>
            <a:pPr>
              <a:buNone/>
            </a:pPr>
            <a:endParaRPr lang="en-IN" b="1" dirty="0"/>
          </a:p>
          <a:p>
            <a:pPr>
              <a:buNone/>
            </a:pPr>
            <a:r>
              <a:rPr lang="en-IN" dirty="0"/>
              <a:t>Traditional ML often requires humans to identify useful features.</a:t>
            </a:r>
          </a:p>
          <a:p>
            <a:pPr>
              <a:buNone/>
            </a:pPr>
            <a:endParaRPr lang="en-IN" dirty="0"/>
          </a:p>
          <a:p>
            <a:pPr>
              <a:buNone/>
            </a:pPr>
            <a:r>
              <a:rPr lang="en-IN" dirty="0"/>
              <a:t>For example, suppose we want to recognize cats in images.</a:t>
            </a:r>
          </a:p>
          <a:p>
            <a:pPr>
              <a:buNone/>
            </a:pPr>
            <a:endParaRPr lang="en-IN" dirty="0"/>
          </a:p>
          <a:p>
            <a:pPr>
              <a:buNone/>
            </a:pPr>
            <a:r>
              <a:rPr lang="en-IN" dirty="0"/>
              <a:t>A traditional approach might require engineers to identify features such as:</a:t>
            </a:r>
          </a:p>
          <a:p>
            <a:pPr marL="342900" lvl="0" indent="-342900">
              <a:buFont typeface="Arial" panose="020B0604020202020204" pitchFamily="34" charset="0"/>
              <a:buChar char="•"/>
            </a:pPr>
            <a:r>
              <a:rPr lang="en-IN" dirty="0"/>
              <a:t>Ear shape </a:t>
            </a:r>
          </a:p>
          <a:p>
            <a:pPr marL="342900" lvl="0" indent="-342900">
              <a:buFont typeface="Arial" panose="020B0604020202020204" pitchFamily="34" charset="0"/>
              <a:buChar char="•"/>
            </a:pPr>
            <a:r>
              <a:rPr lang="en-IN" dirty="0"/>
              <a:t>Eye shape </a:t>
            </a:r>
          </a:p>
          <a:p>
            <a:pPr marL="342900" lvl="0" indent="-342900">
              <a:buFont typeface="Arial" panose="020B0604020202020204" pitchFamily="34" charset="0"/>
              <a:buChar char="•"/>
            </a:pPr>
            <a:r>
              <a:rPr lang="en-IN" dirty="0"/>
              <a:t>Fur patterns </a:t>
            </a:r>
          </a:p>
          <a:p>
            <a:pPr marL="342900" lvl="0" indent="-342900">
              <a:buFont typeface="Arial" panose="020B0604020202020204" pitchFamily="34" charset="0"/>
              <a:buChar char="•"/>
            </a:pPr>
            <a:r>
              <a:rPr lang="en-IN" dirty="0"/>
              <a:t>Face shape </a:t>
            </a:r>
          </a:p>
          <a:p>
            <a:pPr marL="342900" lvl="0" indent="-342900">
              <a:buFont typeface="Arial" panose="020B0604020202020204" pitchFamily="34" charset="0"/>
              <a:buChar char="•"/>
            </a:pPr>
            <a:r>
              <a:rPr lang="en-IN" dirty="0"/>
              <a:t>Body structure </a:t>
            </a:r>
          </a:p>
          <a:p>
            <a:pPr marL="342900" lvl="0" indent="-342900">
              <a:buFont typeface="Arial" panose="020B0604020202020204" pitchFamily="34" charset="0"/>
              <a:buChar char="•"/>
            </a:pPr>
            <a:endParaRPr lang="en-IN" dirty="0"/>
          </a:p>
          <a:p>
            <a:pPr>
              <a:buNone/>
            </a:pPr>
            <a:r>
              <a:rPr lang="en-IN" dirty="0"/>
              <a:t>Deep Learning can learn useful representations automatically from the raw image data.</a:t>
            </a:r>
          </a:p>
        </p:txBody>
      </p:sp>
    </p:spTree>
    <p:extLst>
      <p:ext uri="{BB962C8B-B14F-4D97-AF65-F5344CB8AC3E}">
        <p14:creationId xmlns:p14="http://schemas.microsoft.com/office/powerpoint/2010/main" val="2599584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19973-639E-D83F-0882-2880DBAF7C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8C700-9673-7E41-0A67-C982F4685982}"/>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pic>
        <p:nvPicPr>
          <p:cNvPr id="7" name="Picture 6">
            <a:extLst>
              <a:ext uri="{FF2B5EF4-FFF2-40B4-BE49-F238E27FC236}">
                <a16:creationId xmlns:a16="http://schemas.microsoft.com/office/drawing/2014/main" id="{87F81BE0-1B4A-7228-4812-1BEDA8DD57B6}"/>
              </a:ext>
            </a:extLst>
          </p:cNvPr>
          <p:cNvPicPr>
            <a:picLocks noChangeAspect="1"/>
          </p:cNvPicPr>
          <p:nvPr/>
        </p:nvPicPr>
        <p:blipFill>
          <a:blip r:embed="rId2"/>
          <a:stretch>
            <a:fillRect/>
          </a:stretch>
        </p:blipFill>
        <p:spPr>
          <a:xfrm>
            <a:off x="1315428" y="1615606"/>
            <a:ext cx="2425825" cy="2444876"/>
          </a:xfrm>
          <a:prstGeom prst="rect">
            <a:avLst/>
          </a:prstGeom>
        </p:spPr>
      </p:pic>
      <p:pic>
        <p:nvPicPr>
          <p:cNvPr id="9" name="Picture 8">
            <a:extLst>
              <a:ext uri="{FF2B5EF4-FFF2-40B4-BE49-F238E27FC236}">
                <a16:creationId xmlns:a16="http://schemas.microsoft.com/office/drawing/2014/main" id="{07CDC71B-56A2-7057-8CC6-ED838AAA1EEF}"/>
              </a:ext>
            </a:extLst>
          </p:cNvPr>
          <p:cNvPicPr>
            <a:picLocks noChangeAspect="1"/>
          </p:cNvPicPr>
          <p:nvPr/>
        </p:nvPicPr>
        <p:blipFill>
          <a:blip r:embed="rId3"/>
          <a:stretch>
            <a:fillRect/>
          </a:stretch>
        </p:blipFill>
        <p:spPr>
          <a:xfrm>
            <a:off x="4469288" y="1615606"/>
            <a:ext cx="4311872" cy="2362321"/>
          </a:xfrm>
          <a:prstGeom prst="rect">
            <a:avLst/>
          </a:prstGeom>
        </p:spPr>
      </p:pic>
    </p:spTree>
    <p:extLst>
      <p:ext uri="{BB962C8B-B14F-4D97-AF65-F5344CB8AC3E}">
        <p14:creationId xmlns:p14="http://schemas.microsoft.com/office/powerpoint/2010/main" val="2955900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0D202-A057-A994-B2DE-5867449F2C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9375C-A279-860B-351D-D0A659336FB3}"/>
              </a:ext>
            </a:extLst>
          </p:cNvPr>
          <p:cNvSpPr>
            <a:spLocks noGrp="1"/>
          </p:cNvSpPr>
          <p:nvPr>
            <p:ph type="title"/>
          </p:nvPr>
        </p:nvSpPr>
        <p:spPr>
          <a:xfrm>
            <a:off x="587393" y="294806"/>
            <a:ext cx="8596668" cy="1320800"/>
          </a:xfrm>
        </p:spPr>
        <p:txBody>
          <a:bodyPr>
            <a:noAutofit/>
          </a:bodyPr>
          <a:lstStyle/>
          <a:p>
            <a:r>
              <a:rPr lang="en-IN" sz="2800" dirty="0"/>
              <a:t>AI Vs ML Vs DL Vs Generative AI Vs Agentic AI</a:t>
            </a:r>
          </a:p>
        </p:txBody>
      </p:sp>
      <p:sp>
        <p:nvSpPr>
          <p:cNvPr id="6" name="TextBox 5">
            <a:extLst>
              <a:ext uri="{FF2B5EF4-FFF2-40B4-BE49-F238E27FC236}">
                <a16:creationId xmlns:a16="http://schemas.microsoft.com/office/drawing/2014/main" id="{917027F0-1738-3872-1CF6-AF0AA0079FB0}"/>
              </a:ext>
            </a:extLst>
          </p:cNvPr>
          <p:cNvSpPr txBox="1"/>
          <p:nvPr/>
        </p:nvSpPr>
        <p:spPr>
          <a:xfrm>
            <a:off x="382247" y="955206"/>
            <a:ext cx="5988573" cy="5078313"/>
          </a:xfrm>
          <a:prstGeom prst="rect">
            <a:avLst/>
          </a:prstGeom>
          <a:noFill/>
        </p:spPr>
        <p:txBody>
          <a:bodyPr wrap="square">
            <a:spAutoFit/>
          </a:bodyPr>
          <a:lstStyle/>
          <a:p>
            <a:pPr>
              <a:buNone/>
            </a:pPr>
            <a:r>
              <a:rPr lang="en-IN" b="1" dirty="0"/>
              <a:t>Real-World Example</a:t>
            </a:r>
          </a:p>
          <a:p>
            <a:pPr>
              <a:buNone/>
            </a:pPr>
            <a:endParaRPr lang="en-IN" b="1" dirty="0"/>
          </a:p>
          <a:p>
            <a:pPr>
              <a:buNone/>
            </a:pPr>
            <a:r>
              <a:rPr lang="en-IN" dirty="0"/>
              <a:t>Let's use </a:t>
            </a:r>
            <a:r>
              <a:rPr lang="en-IN" b="1" dirty="0"/>
              <a:t>self-driving cars</a:t>
            </a:r>
            <a:r>
              <a:rPr lang="en-IN" dirty="0"/>
              <a:t>.</a:t>
            </a:r>
          </a:p>
          <a:p>
            <a:pPr>
              <a:buNone/>
            </a:pPr>
            <a:r>
              <a:rPr lang="en-IN" b="1" dirty="0"/>
              <a:t>AI</a:t>
            </a:r>
          </a:p>
          <a:p>
            <a:pPr>
              <a:buNone/>
            </a:pPr>
            <a:r>
              <a:rPr lang="en-IN" dirty="0"/>
              <a:t>The overall goal:</a:t>
            </a:r>
          </a:p>
          <a:p>
            <a:pPr>
              <a:buNone/>
            </a:pPr>
            <a:r>
              <a:rPr lang="en-IN" dirty="0"/>
              <a:t>Build a vehicle that can perceive its environment and make driving decisions.</a:t>
            </a:r>
          </a:p>
          <a:p>
            <a:pPr>
              <a:buNone/>
            </a:pPr>
            <a:r>
              <a:rPr lang="en-IN" dirty="0"/>
              <a:t>AI covers the overall intelligent behaviour.</a:t>
            </a:r>
          </a:p>
          <a:p>
            <a:pPr>
              <a:buNone/>
            </a:pPr>
            <a:endParaRPr lang="en-IN" dirty="0"/>
          </a:p>
          <a:p>
            <a:pPr>
              <a:buNone/>
            </a:pPr>
            <a:r>
              <a:rPr lang="en-IN" b="1" dirty="0"/>
              <a:t>ML</a:t>
            </a:r>
          </a:p>
          <a:p>
            <a:pPr>
              <a:buNone/>
            </a:pPr>
            <a:r>
              <a:rPr lang="en-IN" dirty="0"/>
              <a:t>The vehicle can use Machine Learning to learn patterns from driving data.</a:t>
            </a:r>
          </a:p>
          <a:p>
            <a:pPr>
              <a:buNone/>
            </a:pPr>
            <a:r>
              <a:rPr lang="en-IN" dirty="0"/>
              <a:t>For example:</a:t>
            </a:r>
          </a:p>
          <a:p>
            <a:pPr rtl="0">
              <a:buNone/>
            </a:pPr>
            <a:r>
              <a:rPr lang="en-IN" dirty="0">
                <a:latin typeface="Courier New" panose="02070309020205020404" pitchFamily="49" charset="0"/>
              </a:rPr>
              <a:t>Driving Data</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ML Model</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Prediction</a:t>
            </a:r>
          </a:p>
        </p:txBody>
      </p:sp>
      <p:sp>
        <p:nvSpPr>
          <p:cNvPr id="10" name="TextBox 9">
            <a:extLst>
              <a:ext uri="{FF2B5EF4-FFF2-40B4-BE49-F238E27FC236}">
                <a16:creationId xmlns:a16="http://schemas.microsoft.com/office/drawing/2014/main" id="{2D5DD5FB-A9B0-D816-16BE-92112F2394D4}"/>
              </a:ext>
            </a:extLst>
          </p:cNvPr>
          <p:cNvSpPr txBox="1"/>
          <p:nvPr/>
        </p:nvSpPr>
        <p:spPr>
          <a:xfrm>
            <a:off x="6623522" y="1796470"/>
            <a:ext cx="4499180" cy="2862322"/>
          </a:xfrm>
          <a:prstGeom prst="rect">
            <a:avLst/>
          </a:prstGeom>
          <a:noFill/>
        </p:spPr>
        <p:txBody>
          <a:bodyPr wrap="square">
            <a:spAutoFit/>
          </a:bodyPr>
          <a:lstStyle/>
          <a:p>
            <a:pPr>
              <a:buNone/>
            </a:pPr>
            <a:r>
              <a:rPr lang="en-IN" b="1" dirty="0"/>
              <a:t>DL</a:t>
            </a:r>
          </a:p>
          <a:p>
            <a:pPr>
              <a:buNone/>
            </a:pPr>
            <a:endParaRPr lang="en-IN" b="1" dirty="0"/>
          </a:p>
          <a:p>
            <a:pPr>
              <a:buNone/>
            </a:pPr>
            <a:r>
              <a:rPr lang="en-IN" dirty="0"/>
              <a:t>Deep Learning can be used for difficult perception tasks such as:</a:t>
            </a:r>
          </a:p>
          <a:p>
            <a:pPr>
              <a:buNone/>
            </a:pPr>
            <a:endParaRPr lang="en-IN" dirty="0"/>
          </a:p>
          <a:p>
            <a:pPr marL="342900" lvl="0" indent="-342900">
              <a:buFont typeface="Arial" panose="020B0604020202020204" pitchFamily="34" charset="0"/>
              <a:buChar char="•"/>
            </a:pPr>
            <a:r>
              <a:rPr lang="en-IN" dirty="0"/>
              <a:t>Detecting pedestrians </a:t>
            </a:r>
          </a:p>
          <a:p>
            <a:pPr marL="342900" lvl="0" indent="-342900">
              <a:buFont typeface="Arial" panose="020B0604020202020204" pitchFamily="34" charset="0"/>
              <a:buChar char="•"/>
            </a:pPr>
            <a:r>
              <a:rPr lang="en-IN" dirty="0"/>
              <a:t>Recognizing traffic signs </a:t>
            </a:r>
          </a:p>
          <a:p>
            <a:pPr marL="342900" lvl="0" indent="-342900">
              <a:buFont typeface="Arial" panose="020B0604020202020204" pitchFamily="34" charset="0"/>
              <a:buChar char="•"/>
            </a:pPr>
            <a:r>
              <a:rPr lang="en-IN" dirty="0"/>
              <a:t>Detecting vehicles </a:t>
            </a:r>
          </a:p>
          <a:p>
            <a:pPr marL="342900" lvl="0" indent="-342900">
              <a:buFont typeface="Arial" panose="020B0604020202020204" pitchFamily="34" charset="0"/>
              <a:buChar char="•"/>
            </a:pPr>
            <a:r>
              <a:rPr lang="en-IN" dirty="0"/>
              <a:t>Understanding road scenes </a:t>
            </a:r>
          </a:p>
          <a:p>
            <a:pPr marL="342900" lvl="0" indent="-342900">
              <a:buFont typeface="Arial" panose="020B0604020202020204" pitchFamily="34" charset="0"/>
              <a:buChar char="•"/>
            </a:pPr>
            <a:r>
              <a:rPr lang="en-IN" dirty="0"/>
              <a:t>Processing camera images </a:t>
            </a:r>
          </a:p>
        </p:txBody>
      </p:sp>
    </p:spTree>
    <p:extLst>
      <p:ext uri="{BB962C8B-B14F-4D97-AF65-F5344CB8AC3E}">
        <p14:creationId xmlns:p14="http://schemas.microsoft.com/office/powerpoint/2010/main" val="1324678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914E4-D31C-BF60-CAFE-32BFC3D3DA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4E2C75-F5FF-95CD-B61A-E54AA09AA93F}"/>
              </a:ext>
            </a:extLst>
          </p:cNvPr>
          <p:cNvSpPr>
            <a:spLocks noGrp="1"/>
          </p:cNvSpPr>
          <p:nvPr>
            <p:ph type="title"/>
          </p:nvPr>
        </p:nvSpPr>
        <p:spPr>
          <a:xfrm>
            <a:off x="587393" y="294806"/>
            <a:ext cx="8596668" cy="1320800"/>
          </a:xfrm>
        </p:spPr>
        <p:txBody>
          <a:bodyPr>
            <a:noAutofit/>
          </a:bodyPr>
          <a:lstStyle/>
          <a:p>
            <a:r>
              <a:rPr lang="en-IN" sz="1600" dirty="0"/>
              <a:t>AI Vs ML Vs DL Vs Generative AI Vs Agentic AI</a:t>
            </a:r>
          </a:p>
        </p:txBody>
      </p:sp>
      <p:sp>
        <p:nvSpPr>
          <p:cNvPr id="4" name="TextBox 3">
            <a:extLst>
              <a:ext uri="{FF2B5EF4-FFF2-40B4-BE49-F238E27FC236}">
                <a16:creationId xmlns:a16="http://schemas.microsoft.com/office/drawing/2014/main" id="{A2F39B29-168C-C669-0950-8339B04CDE13}"/>
              </a:ext>
            </a:extLst>
          </p:cNvPr>
          <p:cNvSpPr txBox="1"/>
          <p:nvPr/>
        </p:nvSpPr>
        <p:spPr>
          <a:xfrm>
            <a:off x="587393" y="955206"/>
            <a:ext cx="6100996" cy="1639231"/>
          </a:xfrm>
          <a:prstGeom prst="rect">
            <a:avLst/>
          </a:prstGeom>
          <a:noFill/>
        </p:spPr>
        <p:txBody>
          <a:bodyPr wrap="square">
            <a:spAutoFit/>
          </a:bodyPr>
          <a:lstStyle/>
          <a:p>
            <a:pPr marL="0" marR="0" indent="0" algn="l">
              <a:spcAft>
                <a:spcPts val="1875"/>
              </a:spcAft>
              <a:buNone/>
            </a:pPr>
            <a:r>
              <a:rPr lang="en-IN" sz="1600" b="1" i="0" dirty="0">
                <a:solidFill>
                  <a:srgbClr val="545454"/>
                </a:solidFill>
                <a:effectLst/>
                <a:latin typeface="+mj-lt"/>
              </a:rPr>
              <a:t>Retail and e-commerce:</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AI: round-the-clock support chatbots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ML: "customers also bought" recommendation engines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DL: visual search, where a photo upload returns matching products</a:t>
            </a:r>
          </a:p>
        </p:txBody>
      </p:sp>
      <p:sp>
        <p:nvSpPr>
          <p:cNvPr id="7" name="TextBox 6">
            <a:extLst>
              <a:ext uri="{FF2B5EF4-FFF2-40B4-BE49-F238E27FC236}">
                <a16:creationId xmlns:a16="http://schemas.microsoft.com/office/drawing/2014/main" id="{E013B011-A611-9E17-D564-9FA7292581A9}"/>
              </a:ext>
            </a:extLst>
          </p:cNvPr>
          <p:cNvSpPr txBox="1"/>
          <p:nvPr/>
        </p:nvSpPr>
        <p:spPr>
          <a:xfrm>
            <a:off x="587393" y="2915819"/>
            <a:ext cx="6100996" cy="1908536"/>
          </a:xfrm>
          <a:prstGeom prst="rect">
            <a:avLst/>
          </a:prstGeom>
          <a:noFill/>
        </p:spPr>
        <p:txBody>
          <a:bodyPr wrap="square">
            <a:spAutoFit/>
          </a:bodyPr>
          <a:lstStyle/>
          <a:p>
            <a:pPr marL="0" marR="0" indent="0" algn="l">
              <a:spcAft>
                <a:spcPts val="1875"/>
              </a:spcAft>
              <a:buNone/>
            </a:pPr>
            <a:r>
              <a:rPr lang="en-IN" sz="1600" b="1" i="0" dirty="0">
                <a:solidFill>
                  <a:srgbClr val="545454"/>
                </a:solidFill>
                <a:effectLst/>
                <a:latin typeface="+mj-lt"/>
              </a:rPr>
              <a:t>Banking and finance:</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AI: automating straightforward decisions like standard loan approvals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ML: scoring creditworthiness, flagging unusual transactions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DL: advanced fraud detection across huge transaction volumes</a:t>
            </a:r>
          </a:p>
        </p:txBody>
      </p:sp>
      <p:sp>
        <p:nvSpPr>
          <p:cNvPr id="9" name="TextBox 8">
            <a:extLst>
              <a:ext uri="{FF2B5EF4-FFF2-40B4-BE49-F238E27FC236}">
                <a16:creationId xmlns:a16="http://schemas.microsoft.com/office/drawing/2014/main" id="{B4CEBEFA-FFA5-7931-0C1E-16A351789916}"/>
              </a:ext>
            </a:extLst>
          </p:cNvPr>
          <p:cNvSpPr txBox="1"/>
          <p:nvPr/>
        </p:nvSpPr>
        <p:spPr>
          <a:xfrm>
            <a:off x="587393" y="5003123"/>
            <a:ext cx="6100996" cy="1639231"/>
          </a:xfrm>
          <a:prstGeom prst="rect">
            <a:avLst/>
          </a:prstGeom>
          <a:noFill/>
        </p:spPr>
        <p:txBody>
          <a:bodyPr wrap="square">
            <a:spAutoFit/>
          </a:bodyPr>
          <a:lstStyle/>
          <a:p>
            <a:pPr marL="0" marR="0" indent="0" algn="l">
              <a:spcAft>
                <a:spcPts val="1875"/>
              </a:spcAft>
              <a:buNone/>
            </a:pPr>
            <a:r>
              <a:rPr lang="en-IN" sz="1600" b="1" i="0" dirty="0">
                <a:solidFill>
                  <a:srgbClr val="545454"/>
                </a:solidFill>
                <a:effectLst/>
                <a:latin typeface="+mj-lt"/>
              </a:rPr>
              <a:t>Healthcare:</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AI: clinical decision-support tools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ML: predicting patient risk from structured medical records</a:t>
            </a:r>
          </a:p>
          <a:p>
            <a:pPr marL="342900" marR="0" lvl="0" indent="-342900" algn="just">
              <a:lnSpc>
                <a:spcPts val="2100"/>
              </a:lnSpc>
              <a:buFont typeface="Arial" panose="020B0604020202020204" pitchFamily="34" charset="0"/>
              <a:buChar char="•"/>
            </a:pPr>
            <a:r>
              <a:rPr lang="en-IN" sz="1600" b="0" i="0" dirty="0">
                <a:solidFill>
                  <a:srgbClr val="545454"/>
                </a:solidFill>
                <a:effectLst/>
                <a:latin typeface="+mj-lt"/>
              </a:rPr>
              <a:t>DL: analysing X-rays and scans to catch anomalies humans might miss</a:t>
            </a:r>
          </a:p>
        </p:txBody>
      </p:sp>
    </p:spTree>
    <p:extLst>
      <p:ext uri="{BB962C8B-B14F-4D97-AF65-F5344CB8AC3E}">
        <p14:creationId xmlns:p14="http://schemas.microsoft.com/office/powerpoint/2010/main" val="3571777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39470-7916-DCD0-7656-9AF44960EB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1AF7B9-2364-0A28-9511-E3AB43627A28}"/>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Popular myths about AI</a:t>
            </a:r>
          </a:p>
        </p:txBody>
      </p:sp>
      <p:graphicFrame>
        <p:nvGraphicFramePr>
          <p:cNvPr id="3" name="Table 2">
            <a:extLst>
              <a:ext uri="{FF2B5EF4-FFF2-40B4-BE49-F238E27FC236}">
                <a16:creationId xmlns:a16="http://schemas.microsoft.com/office/drawing/2014/main" id="{F0BCA5F1-56EB-4B97-E14E-D2D0D361DB39}"/>
              </a:ext>
            </a:extLst>
          </p:cNvPr>
          <p:cNvGraphicFramePr>
            <a:graphicFrameLocks noGrp="1"/>
          </p:cNvGraphicFramePr>
          <p:nvPr>
            <p:extLst>
              <p:ext uri="{D42A27DB-BD31-4B8C-83A1-F6EECF244321}">
                <p14:modId xmlns:p14="http://schemas.microsoft.com/office/powerpoint/2010/main" val="1442787204"/>
              </p:ext>
            </p:extLst>
          </p:nvPr>
        </p:nvGraphicFramePr>
        <p:xfrm>
          <a:off x="665018" y="794327"/>
          <a:ext cx="8321655" cy="4947040"/>
        </p:xfrm>
        <a:graphic>
          <a:graphicData uri="http://schemas.openxmlformats.org/drawingml/2006/table">
            <a:tbl>
              <a:tblPr/>
              <a:tblGrid>
                <a:gridCol w="4165291">
                  <a:extLst>
                    <a:ext uri="{9D8B030D-6E8A-4147-A177-3AD203B41FA5}">
                      <a16:colId xmlns:a16="http://schemas.microsoft.com/office/drawing/2014/main" val="121442170"/>
                    </a:ext>
                  </a:extLst>
                </a:gridCol>
                <a:gridCol w="4156364">
                  <a:extLst>
                    <a:ext uri="{9D8B030D-6E8A-4147-A177-3AD203B41FA5}">
                      <a16:colId xmlns:a16="http://schemas.microsoft.com/office/drawing/2014/main" val="4250117654"/>
                    </a:ext>
                  </a:extLst>
                </a:gridCol>
              </a:tblGrid>
              <a:tr h="76860">
                <a:tc>
                  <a:txBody>
                    <a:bodyPr/>
                    <a:lstStyle/>
                    <a:p>
                      <a:pPr>
                        <a:buNone/>
                      </a:pPr>
                      <a:r>
                        <a:rPr lang="en-IN" sz="1200"/>
                        <a:t>Myth</a:t>
                      </a:r>
                    </a:p>
                  </a:txBody>
                  <a:tcPr marL="19215" marR="19215" marT="9608" marB="9608" anchor="ctr">
                    <a:lnL>
                      <a:noFill/>
                    </a:lnL>
                    <a:lnR>
                      <a:noFill/>
                    </a:lnR>
                    <a:lnT>
                      <a:noFill/>
                    </a:lnT>
                    <a:lnB>
                      <a:noFill/>
                    </a:lnB>
                    <a:noFill/>
                  </a:tcPr>
                </a:tc>
                <a:tc>
                  <a:txBody>
                    <a:bodyPr/>
                    <a:lstStyle/>
                    <a:p>
                      <a:pPr>
                        <a:buNone/>
                      </a:pPr>
                      <a:r>
                        <a:rPr lang="en-IN" sz="1200"/>
                        <a:t>Reality</a:t>
                      </a:r>
                    </a:p>
                  </a:txBody>
                  <a:tcPr marL="19215" marR="19215" marT="9608" marB="9608" anchor="ctr">
                    <a:lnL>
                      <a:noFill/>
                    </a:lnL>
                    <a:lnR>
                      <a:noFill/>
                    </a:lnR>
                    <a:lnT>
                      <a:noFill/>
                    </a:lnT>
                    <a:lnB>
                      <a:noFill/>
                    </a:lnB>
                    <a:noFill/>
                  </a:tcPr>
                </a:tc>
                <a:extLst>
                  <a:ext uri="{0D108BD9-81ED-4DB2-BD59-A6C34878D82A}">
                    <a16:rowId xmlns:a16="http://schemas.microsoft.com/office/drawing/2014/main" val="3247513360"/>
                  </a:ext>
                </a:extLst>
              </a:tr>
              <a:tr h="249795">
                <a:tc>
                  <a:txBody>
                    <a:bodyPr/>
                    <a:lstStyle/>
                    <a:p>
                      <a:pPr>
                        <a:buNone/>
                      </a:pPr>
                      <a:r>
                        <a:rPr lang="en-IN" sz="1200" b="1"/>
                        <a:t>1. AI thinks exactly like humans</a:t>
                      </a:r>
                      <a:endParaRPr lang="en-IN" sz="1200"/>
                    </a:p>
                  </a:txBody>
                  <a:tcPr marL="19215" marR="19215" marT="9608" marB="9608" anchor="ctr">
                    <a:lnL>
                      <a:noFill/>
                    </a:lnL>
                    <a:lnR>
                      <a:noFill/>
                    </a:lnR>
                    <a:lnT>
                      <a:noFill/>
                    </a:lnT>
                    <a:lnB>
                      <a:noFill/>
                    </a:lnB>
                    <a:noFill/>
                  </a:tcPr>
                </a:tc>
                <a:tc>
                  <a:txBody>
                    <a:bodyPr/>
                    <a:lstStyle/>
                    <a:p>
                      <a:pPr>
                        <a:buNone/>
                      </a:pPr>
                      <a:r>
                        <a:rPr lang="en-IN" sz="1200"/>
                        <a:t>AI processes patterns in data using mathematical models. It does not think or experience the world exactly like a human.</a:t>
                      </a:r>
                    </a:p>
                  </a:txBody>
                  <a:tcPr marL="19215" marR="19215" marT="9608" marB="9608" anchor="ctr">
                    <a:lnL>
                      <a:noFill/>
                    </a:lnL>
                    <a:lnR>
                      <a:noFill/>
                    </a:lnR>
                    <a:lnT>
                      <a:noFill/>
                    </a:lnT>
                    <a:lnB>
                      <a:noFill/>
                    </a:lnB>
                    <a:noFill/>
                  </a:tcPr>
                </a:tc>
                <a:extLst>
                  <a:ext uri="{0D108BD9-81ED-4DB2-BD59-A6C34878D82A}">
                    <a16:rowId xmlns:a16="http://schemas.microsoft.com/office/drawing/2014/main" val="1664760882"/>
                  </a:ext>
                </a:extLst>
              </a:tr>
              <a:tr h="249795">
                <a:tc>
                  <a:txBody>
                    <a:bodyPr/>
                    <a:lstStyle/>
                    <a:p>
                      <a:pPr>
                        <a:buNone/>
                      </a:pPr>
                      <a:r>
                        <a:rPr lang="en-IN" sz="1200" b="1" dirty="0"/>
                        <a:t>2. AI is always correct</a:t>
                      </a:r>
                      <a:endParaRPr lang="en-IN" sz="1200" dirty="0"/>
                    </a:p>
                  </a:txBody>
                  <a:tcPr marL="19215" marR="19215" marT="9608" marB="9608" anchor="ctr">
                    <a:lnL>
                      <a:noFill/>
                    </a:lnL>
                    <a:lnR>
                      <a:noFill/>
                    </a:lnR>
                    <a:lnT>
                      <a:noFill/>
                    </a:lnT>
                    <a:lnB>
                      <a:noFill/>
                    </a:lnB>
                    <a:noFill/>
                  </a:tcPr>
                </a:tc>
                <a:tc>
                  <a:txBody>
                    <a:bodyPr/>
                    <a:lstStyle/>
                    <a:p>
                      <a:pPr>
                        <a:buNone/>
                      </a:pPr>
                      <a:r>
                        <a:rPr lang="en-IN" sz="1200"/>
                        <a:t>AI can produce incorrect, incomplete, or misleading answers. This is especially important with Generative AI and LLMs.</a:t>
                      </a:r>
                    </a:p>
                  </a:txBody>
                  <a:tcPr marL="19215" marR="19215" marT="9608" marB="9608" anchor="ctr">
                    <a:lnL>
                      <a:noFill/>
                    </a:lnL>
                    <a:lnR>
                      <a:noFill/>
                    </a:lnR>
                    <a:lnT>
                      <a:noFill/>
                    </a:lnT>
                    <a:lnB>
                      <a:noFill/>
                    </a:lnB>
                    <a:noFill/>
                  </a:tcPr>
                </a:tc>
                <a:extLst>
                  <a:ext uri="{0D108BD9-81ED-4DB2-BD59-A6C34878D82A}">
                    <a16:rowId xmlns:a16="http://schemas.microsoft.com/office/drawing/2014/main" val="1431362730"/>
                  </a:ext>
                </a:extLst>
              </a:tr>
              <a:tr h="249795">
                <a:tc>
                  <a:txBody>
                    <a:bodyPr/>
                    <a:lstStyle/>
                    <a:p>
                      <a:pPr>
                        <a:buNone/>
                      </a:pPr>
                      <a:r>
                        <a:rPr lang="en-IN" sz="1200" b="1"/>
                        <a:t>3. AI understands everything</a:t>
                      </a:r>
                      <a:endParaRPr lang="en-IN" sz="1200"/>
                    </a:p>
                  </a:txBody>
                  <a:tcPr marL="19215" marR="19215" marT="9608" marB="9608" anchor="ctr">
                    <a:lnL>
                      <a:noFill/>
                    </a:lnL>
                    <a:lnR>
                      <a:noFill/>
                    </a:lnR>
                    <a:lnT>
                      <a:noFill/>
                    </a:lnT>
                    <a:lnB>
                      <a:noFill/>
                    </a:lnB>
                    <a:noFill/>
                  </a:tcPr>
                </a:tc>
                <a:tc>
                  <a:txBody>
                    <a:bodyPr/>
                    <a:lstStyle/>
                    <a:p>
                      <a:pPr>
                        <a:buNone/>
                      </a:pPr>
                      <a:r>
                        <a:rPr lang="en-IN" sz="1200"/>
                        <a:t>AI can process and generate information, but its "understanding" is fundamentally different from human understanding.</a:t>
                      </a:r>
                    </a:p>
                  </a:txBody>
                  <a:tcPr marL="19215" marR="19215" marT="9608" marB="9608" anchor="ctr">
                    <a:lnL>
                      <a:noFill/>
                    </a:lnL>
                    <a:lnR>
                      <a:noFill/>
                    </a:lnR>
                    <a:lnT>
                      <a:noFill/>
                    </a:lnT>
                    <a:lnB>
                      <a:noFill/>
                    </a:lnB>
                    <a:noFill/>
                  </a:tcPr>
                </a:tc>
                <a:extLst>
                  <a:ext uri="{0D108BD9-81ED-4DB2-BD59-A6C34878D82A}">
                    <a16:rowId xmlns:a16="http://schemas.microsoft.com/office/drawing/2014/main" val="4033817448"/>
                  </a:ext>
                </a:extLst>
              </a:tr>
              <a:tr h="422731">
                <a:tc>
                  <a:txBody>
                    <a:bodyPr/>
                    <a:lstStyle/>
                    <a:p>
                      <a:pPr>
                        <a:buNone/>
                      </a:pPr>
                      <a:r>
                        <a:rPr lang="en-IN" sz="1200" b="1" dirty="0"/>
                        <a:t>4. AI will replace all humans</a:t>
                      </a:r>
                      <a:endParaRPr lang="en-IN" sz="1200" dirty="0"/>
                    </a:p>
                  </a:txBody>
                  <a:tcPr marL="19215" marR="19215" marT="9608" marB="9608" anchor="ctr">
                    <a:lnL>
                      <a:noFill/>
                    </a:lnL>
                    <a:lnR>
                      <a:noFill/>
                    </a:lnR>
                    <a:lnT>
                      <a:noFill/>
                    </a:lnT>
                    <a:lnB>
                      <a:noFill/>
                    </a:lnB>
                    <a:noFill/>
                  </a:tcPr>
                </a:tc>
                <a:tc>
                  <a:txBody>
                    <a:bodyPr/>
                    <a:lstStyle/>
                    <a:p>
                      <a:pPr>
                        <a:buNone/>
                      </a:pPr>
                      <a:r>
                        <a:rPr lang="en-IN" sz="1200"/>
                        <a:t>AI can automate many tasks, but many jobs involve judgment, creativity, communication, responsibility, and physical skills that still require people. AI is more likely to </a:t>
                      </a:r>
                      <a:r>
                        <a:rPr lang="en-IN" sz="1200" b="1"/>
                        <a:t>change many jobs and workflows</a:t>
                      </a:r>
                      <a:r>
                        <a:rPr lang="en-IN" sz="1200"/>
                        <a:t> than simply eliminate all human work.</a:t>
                      </a:r>
                    </a:p>
                  </a:txBody>
                  <a:tcPr marL="19215" marR="19215" marT="9608" marB="9608" anchor="ctr">
                    <a:lnL>
                      <a:noFill/>
                    </a:lnL>
                    <a:lnR>
                      <a:noFill/>
                    </a:lnR>
                    <a:lnT>
                      <a:noFill/>
                    </a:lnT>
                    <a:lnB>
                      <a:noFill/>
                    </a:lnB>
                    <a:noFill/>
                  </a:tcPr>
                </a:tc>
                <a:extLst>
                  <a:ext uri="{0D108BD9-81ED-4DB2-BD59-A6C34878D82A}">
                    <a16:rowId xmlns:a16="http://schemas.microsoft.com/office/drawing/2014/main" val="3255162125"/>
                  </a:ext>
                </a:extLst>
              </a:tr>
              <a:tr h="192150">
                <a:tc>
                  <a:txBody>
                    <a:bodyPr/>
                    <a:lstStyle/>
                    <a:p>
                      <a:pPr>
                        <a:buNone/>
                      </a:pPr>
                      <a:r>
                        <a:rPr lang="en-IN" sz="1200" b="1"/>
                        <a:t>5. More data always makes AI better</a:t>
                      </a:r>
                      <a:endParaRPr lang="en-IN" sz="1200"/>
                    </a:p>
                  </a:txBody>
                  <a:tcPr marL="19215" marR="19215" marT="9608" marB="9608" anchor="ctr">
                    <a:lnL>
                      <a:noFill/>
                    </a:lnL>
                    <a:lnR>
                      <a:noFill/>
                    </a:lnR>
                    <a:lnT>
                      <a:noFill/>
                    </a:lnT>
                    <a:lnB>
                      <a:noFill/>
                    </a:lnB>
                    <a:noFill/>
                  </a:tcPr>
                </a:tc>
                <a:tc>
                  <a:txBody>
                    <a:bodyPr/>
                    <a:lstStyle/>
                    <a:p>
                      <a:pPr>
                        <a:buNone/>
                      </a:pPr>
                      <a:r>
                        <a:rPr lang="en-IN" sz="1200"/>
                        <a:t>Data quality, relevance, diversity, labeling, and bias matter. Poor-quality data can produce poor results.</a:t>
                      </a:r>
                    </a:p>
                  </a:txBody>
                  <a:tcPr marL="19215" marR="19215" marT="9608" marB="9608" anchor="ctr">
                    <a:lnL>
                      <a:noFill/>
                    </a:lnL>
                    <a:lnR>
                      <a:noFill/>
                    </a:lnR>
                    <a:lnT>
                      <a:noFill/>
                    </a:lnT>
                    <a:lnB>
                      <a:noFill/>
                    </a:lnB>
                    <a:noFill/>
                  </a:tcPr>
                </a:tc>
                <a:extLst>
                  <a:ext uri="{0D108BD9-81ED-4DB2-BD59-A6C34878D82A}">
                    <a16:rowId xmlns:a16="http://schemas.microsoft.com/office/drawing/2014/main" val="3349049948"/>
                  </a:ext>
                </a:extLst>
              </a:tr>
              <a:tr h="192150">
                <a:tc>
                  <a:txBody>
                    <a:bodyPr/>
                    <a:lstStyle/>
                    <a:p>
                      <a:pPr>
                        <a:buNone/>
                      </a:pPr>
                      <a:r>
                        <a:rPr lang="en-IN" sz="1200" b="1"/>
                        <a:t>6. AI is the same as Machine Learning</a:t>
                      </a:r>
                      <a:endParaRPr lang="en-IN" sz="1200"/>
                    </a:p>
                  </a:txBody>
                  <a:tcPr marL="19215" marR="19215" marT="9608" marB="9608" anchor="ctr">
                    <a:lnL>
                      <a:noFill/>
                    </a:lnL>
                    <a:lnR>
                      <a:noFill/>
                    </a:lnR>
                    <a:lnT>
                      <a:noFill/>
                    </a:lnT>
                    <a:lnB>
                      <a:noFill/>
                    </a:lnB>
                    <a:noFill/>
                  </a:tcPr>
                </a:tc>
                <a:tc>
                  <a:txBody>
                    <a:bodyPr/>
                    <a:lstStyle/>
                    <a:p>
                      <a:pPr>
                        <a:buNone/>
                      </a:pPr>
                      <a:r>
                        <a:rPr lang="en-IN" sz="1200"/>
                        <a:t>AI is the broader field. Machine Learning is one approach used to build AI systems.</a:t>
                      </a:r>
                    </a:p>
                  </a:txBody>
                  <a:tcPr marL="19215" marR="19215" marT="9608" marB="9608" anchor="ctr">
                    <a:lnL>
                      <a:noFill/>
                    </a:lnL>
                    <a:lnR>
                      <a:noFill/>
                    </a:lnR>
                    <a:lnT>
                      <a:noFill/>
                    </a:lnT>
                    <a:lnB>
                      <a:noFill/>
                    </a:lnB>
                    <a:noFill/>
                  </a:tcPr>
                </a:tc>
                <a:extLst>
                  <a:ext uri="{0D108BD9-81ED-4DB2-BD59-A6C34878D82A}">
                    <a16:rowId xmlns:a16="http://schemas.microsoft.com/office/drawing/2014/main" val="1841665374"/>
                  </a:ext>
                </a:extLst>
              </a:tr>
              <a:tr h="249795">
                <a:tc>
                  <a:txBody>
                    <a:bodyPr/>
                    <a:lstStyle/>
                    <a:p>
                      <a:pPr>
                        <a:buNone/>
                      </a:pPr>
                      <a:r>
                        <a:rPr lang="en-IN" sz="1200" b="1"/>
                        <a:t>7. Generative AI creates information from nothing</a:t>
                      </a:r>
                      <a:endParaRPr lang="en-IN" sz="1200"/>
                    </a:p>
                  </a:txBody>
                  <a:tcPr marL="19215" marR="19215" marT="9608" marB="9608" anchor="ctr">
                    <a:lnL>
                      <a:noFill/>
                    </a:lnL>
                    <a:lnR>
                      <a:noFill/>
                    </a:lnR>
                    <a:lnT>
                      <a:noFill/>
                    </a:lnT>
                    <a:lnB>
                      <a:noFill/>
                    </a:lnB>
                    <a:noFill/>
                  </a:tcPr>
                </a:tc>
                <a:tc>
                  <a:txBody>
                    <a:bodyPr/>
                    <a:lstStyle/>
                    <a:p>
                      <a:pPr>
                        <a:buNone/>
                      </a:pPr>
                      <a:r>
                        <a:rPr lang="en-IN" sz="1200"/>
                        <a:t>Generative AI learns patterns from training data and generates new outputs based on those learned patterns and the current input.</a:t>
                      </a:r>
                    </a:p>
                  </a:txBody>
                  <a:tcPr marL="19215" marR="19215" marT="9608" marB="9608" anchor="ctr">
                    <a:lnL>
                      <a:noFill/>
                    </a:lnL>
                    <a:lnR>
                      <a:noFill/>
                    </a:lnR>
                    <a:lnT>
                      <a:noFill/>
                    </a:lnT>
                    <a:lnB>
                      <a:noFill/>
                    </a:lnB>
                    <a:noFill/>
                  </a:tcPr>
                </a:tc>
                <a:extLst>
                  <a:ext uri="{0D108BD9-81ED-4DB2-BD59-A6C34878D82A}">
                    <a16:rowId xmlns:a16="http://schemas.microsoft.com/office/drawing/2014/main" val="2059202860"/>
                  </a:ext>
                </a:extLst>
              </a:tr>
              <a:tr h="249795">
                <a:tc>
                  <a:txBody>
                    <a:bodyPr/>
                    <a:lstStyle/>
                    <a:p>
                      <a:pPr>
                        <a:buNone/>
                      </a:pPr>
                      <a:r>
                        <a:rPr lang="en-IN" sz="1200" b="1"/>
                        <a:t>8. AI has human-like common sense</a:t>
                      </a:r>
                      <a:endParaRPr lang="en-IN" sz="1200"/>
                    </a:p>
                  </a:txBody>
                  <a:tcPr marL="19215" marR="19215" marT="9608" marB="9608" anchor="ctr">
                    <a:lnL>
                      <a:noFill/>
                    </a:lnL>
                    <a:lnR>
                      <a:noFill/>
                    </a:lnR>
                    <a:lnT>
                      <a:noFill/>
                    </a:lnT>
                    <a:lnB>
                      <a:noFill/>
                    </a:lnB>
                    <a:noFill/>
                  </a:tcPr>
                </a:tc>
                <a:tc>
                  <a:txBody>
                    <a:bodyPr/>
                    <a:lstStyle/>
                    <a:p>
                      <a:pPr>
                        <a:buNone/>
                      </a:pPr>
                      <a:r>
                        <a:rPr lang="en-IN" sz="1200"/>
                        <a:t>AI can perform impressive reasoning tasks but can still make surprisingly basic mistakes or misunderstand context.</a:t>
                      </a:r>
                    </a:p>
                  </a:txBody>
                  <a:tcPr marL="19215" marR="19215" marT="9608" marB="9608" anchor="ctr">
                    <a:lnL>
                      <a:noFill/>
                    </a:lnL>
                    <a:lnR>
                      <a:noFill/>
                    </a:lnR>
                    <a:lnT>
                      <a:noFill/>
                    </a:lnT>
                    <a:lnB>
                      <a:noFill/>
                    </a:lnB>
                    <a:noFill/>
                  </a:tcPr>
                </a:tc>
                <a:extLst>
                  <a:ext uri="{0D108BD9-81ED-4DB2-BD59-A6C34878D82A}">
                    <a16:rowId xmlns:a16="http://schemas.microsoft.com/office/drawing/2014/main" val="3198292392"/>
                  </a:ext>
                </a:extLst>
              </a:tr>
              <a:tr h="192150">
                <a:tc>
                  <a:txBody>
                    <a:bodyPr/>
                    <a:lstStyle/>
                    <a:p>
                      <a:pPr>
                        <a:buNone/>
                      </a:pPr>
                      <a:r>
                        <a:rPr lang="en-IN" sz="1200" b="1"/>
                        <a:t>9. AI is unbiased</a:t>
                      </a:r>
                      <a:endParaRPr lang="en-IN" sz="1200"/>
                    </a:p>
                  </a:txBody>
                  <a:tcPr marL="19215" marR="19215" marT="9608" marB="9608" anchor="ctr">
                    <a:lnL>
                      <a:noFill/>
                    </a:lnL>
                    <a:lnR>
                      <a:noFill/>
                    </a:lnR>
                    <a:lnT>
                      <a:noFill/>
                    </a:lnT>
                    <a:lnB>
                      <a:noFill/>
                    </a:lnB>
                    <a:noFill/>
                  </a:tcPr>
                </a:tc>
                <a:tc>
                  <a:txBody>
                    <a:bodyPr/>
                    <a:lstStyle/>
                    <a:p>
                      <a:pPr>
                        <a:buNone/>
                      </a:pPr>
                      <a:r>
                        <a:rPr lang="en-IN" sz="1200" dirty="0"/>
                        <a:t>AI systems can reproduce or amplify biases present in training data, model design, or deployment.</a:t>
                      </a:r>
                    </a:p>
                  </a:txBody>
                  <a:tcPr marL="19215" marR="19215" marT="9608" marB="9608" anchor="ctr">
                    <a:lnL>
                      <a:noFill/>
                    </a:lnL>
                    <a:lnR>
                      <a:noFill/>
                    </a:lnR>
                    <a:lnT>
                      <a:noFill/>
                    </a:lnT>
                    <a:lnB>
                      <a:noFill/>
                    </a:lnB>
                    <a:noFill/>
                  </a:tcPr>
                </a:tc>
                <a:extLst>
                  <a:ext uri="{0D108BD9-81ED-4DB2-BD59-A6C34878D82A}">
                    <a16:rowId xmlns:a16="http://schemas.microsoft.com/office/drawing/2014/main" val="3863288776"/>
                  </a:ext>
                </a:extLst>
              </a:tr>
            </a:tbl>
          </a:graphicData>
        </a:graphic>
      </p:graphicFrame>
    </p:spTree>
    <p:extLst>
      <p:ext uri="{BB962C8B-B14F-4D97-AF65-F5344CB8AC3E}">
        <p14:creationId xmlns:p14="http://schemas.microsoft.com/office/powerpoint/2010/main" val="6277122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63B52-281C-0DFB-962F-8905593CC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64C729-0106-6A84-3C02-08FB7348B161}"/>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Popular myths about AI</a:t>
            </a:r>
          </a:p>
        </p:txBody>
      </p:sp>
      <p:graphicFrame>
        <p:nvGraphicFramePr>
          <p:cNvPr id="3" name="Table 2">
            <a:extLst>
              <a:ext uri="{FF2B5EF4-FFF2-40B4-BE49-F238E27FC236}">
                <a16:creationId xmlns:a16="http://schemas.microsoft.com/office/drawing/2014/main" id="{E16D2B87-4E39-A5FE-47DF-6E1FE9E7B690}"/>
              </a:ext>
            </a:extLst>
          </p:cNvPr>
          <p:cNvGraphicFramePr>
            <a:graphicFrameLocks noGrp="1"/>
          </p:cNvGraphicFramePr>
          <p:nvPr>
            <p:extLst>
              <p:ext uri="{D42A27DB-BD31-4B8C-83A1-F6EECF244321}">
                <p14:modId xmlns:p14="http://schemas.microsoft.com/office/powerpoint/2010/main" val="2411076121"/>
              </p:ext>
            </p:extLst>
          </p:nvPr>
        </p:nvGraphicFramePr>
        <p:xfrm>
          <a:off x="665018" y="794327"/>
          <a:ext cx="8321655" cy="3945158"/>
        </p:xfrm>
        <a:graphic>
          <a:graphicData uri="http://schemas.openxmlformats.org/drawingml/2006/table">
            <a:tbl>
              <a:tblPr/>
              <a:tblGrid>
                <a:gridCol w="4165291">
                  <a:extLst>
                    <a:ext uri="{9D8B030D-6E8A-4147-A177-3AD203B41FA5}">
                      <a16:colId xmlns:a16="http://schemas.microsoft.com/office/drawing/2014/main" val="121442170"/>
                    </a:ext>
                  </a:extLst>
                </a:gridCol>
                <a:gridCol w="4156364">
                  <a:extLst>
                    <a:ext uri="{9D8B030D-6E8A-4147-A177-3AD203B41FA5}">
                      <a16:colId xmlns:a16="http://schemas.microsoft.com/office/drawing/2014/main" val="4250117654"/>
                    </a:ext>
                  </a:extLst>
                </a:gridCol>
              </a:tblGrid>
              <a:tr h="76860">
                <a:tc>
                  <a:txBody>
                    <a:bodyPr/>
                    <a:lstStyle/>
                    <a:p>
                      <a:pPr>
                        <a:buNone/>
                      </a:pPr>
                      <a:r>
                        <a:rPr lang="en-IN" sz="1200" b="1" dirty="0"/>
                        <a:t>10. AI automatically knows the latest information</a:t>
                      </a:r>
                      <a:endParaRPr lang="en-IN" sz="1200" dirty="0"/>
                    </a:p>
                  </a:txBody>
                  <a:tcPr marL="19215" marR="19215" marT="9608" marB="9608" anchor="ctr">
                    <a:lnL>
                      <a:noFill/>
                    </a:lnL>
                    <a:lnR>
                      <a:noFill/>
                    </a:lnR>
                    <a:lnT>
                      <a:noFill/>
                    </a:lnT>
                    <a:lnB>
                      <a:noFill/>
                    </a:lnB>
                    <a:noFill/>
                  </a:tcPr>
                </a:tc>
                <a:tc>
                  <a:txBody>
                    <a:bodyPr/>
                    <a:lstStyle/>
                    <a:p>
                      <a:pPr>
                        <a:buNone/>
                      </a:pPr>
                      <a:r>
                        <a:rPr lang="en-IN" sz="1200" dirty="0"/>
                        <a:t>An AI model does not necessarily have real-time knowledge. Current information may require access to updated data or tools.</a:t>
                      </a:r>
                    </a:p>
                  </a:txBody>
                  <a:tcPr marL="19215" marR="19215" marT="9608" marB="9608" anchor="ctr">
                    <a:lnL>
                      <a:noFill/>
                    </a:lnL>
                    <a:lnR>
                      <a:noFill/>
                    </a:lnR>
                    <a:lnT>
                      <a:noFill/>
                    </a:lnT>
                    <a:lnB>
                      <a:noFill/>
                    </a:lnB>
                    <a:noFill/>
                  </a:tcPr>
                </a:tc>
                <a:extLst>
                  <a:ext uri="{0D108BD9-81ED-4DB2-BD59-A6C34878D82A}">
                    <a16:rowId xmlns:a16="http://schemas.microsoft.com/office/drawing/2014/main" val="3247513360"/>
                  </a:ext>
                </a:extLst>
              </a:tr>
              <a:tr h="249795">
                <a:tc>
                  <a:txBody>
                    <a:bodyPr/>
                    <a:lstStyle/>
                    <a:p>
                      <a:pPr>
                        <a:buNone/>
                      </a:pPr>
                      <a:r>
                        <a:rPr lang="en-IN" sz="1200" b="1"/>
                        <a:t>11. AI can completely replace human decision-making</a:t>
                      </a:r>
                      <a:endParaRPr lang="en-IN" sz="1200"/>
                    </a:p>
                  </a:txBody>
                  <a:tcPr marL="19215" marR="19215" marT="9608" marB="9608" anchor="ctr">
                    <a:lnL>
                      <a:noFill/>
                    </a:lnL>
                    <a:lnR>
                      <a:noFill/>
                    </a:lnR>
                    <a:lnT>
                      <a:noFill/>
                    </a:lnT>
                    <a:lnB>
                      <a:noFill/>
                    </a:lnB>
                    <a:noFill/>
                  </a:tcPr>
                </a:tc>
                <a:tc>
                  <a:txBody>
                    <a:bodyPr/>
                    <a:lstStyle/>
                    <a:p>
                      <a:pPr>
                        <a:buNone/>
                      </a:pPr>
                      <a:r>
                        <a:rPr lang="en-IN" sz="1200"/>
                        <a:t>In high-impact situations, human oversight, validation, accountability, and domain expertise remain important.</a:t>
                      </a:r>
                    </a:p>
                  </a:txBody>
                  <a:tcPr marL="19215" marR="19215" marT="9608" marB="9608" anchor="ctr">
                    <a:lnL>
                      <a:noFill/>
                    </a:lnL>
                    <a:lnR>
                      <a:noFill/>
                    </a:lnR>
                    <a:lnT>
                      <a:noFill/>
                    </a:lnT>
                    <a:lnB>
                      <a:noFill/>
                    </a:lnB>
                    <a:noFill/>
                  </a:tcPr>
                </a:tc>
                <a:extLst>
                  <a:ext uri="{0D108BD9-81ED-4DB2-BD59-A6C34878D82A}">
                    <a16:rowId xmlns:a16="http://schemas.microsoft.com/office/drawing/2014/main" val="1664760882"/>
                  </a:ext>
                </a:extLst>
              </a:tr>
              <a:tr h="249795">
                <a:tc>
                  <a:txBody>
                    <a:bodyPr/>
                    <a:lstStyle/>
                    <a:p>
                      <a:pPr>
                        <a:buNone/>
                      </a:pPr>
                      <a:r>
                        <a:rPr lang="en-IN" sz="1200" b="1"/>
                        <a:t>12. AI and robots are the same thing</a:t>
                      </a:r>
                      <a:endParaRPr lang="en-IN" sz="1200"/>
                    </a:p>
                  </a:txBody>
                  <a:tcPr marL="19215" marR="19215" marT="9608" marB="9608" anchor="ctr">
                    <a:lnL>
                      <a:noFill/>
                    </a:lnL>
                    <a:lnR>
                      <a:noFill/>
                    </a:lnR>
                    <a:lnT>
                      <a:noFill/>
                    </a:lnT>
                    <a:lnB>
                      <a:noFill/>
                    </a:lnB>
                    <a:noFill/>
                  </a:tcPr>
                </a:tc>
                <a:tc>
                  <a:txBody>
                    <a:bodyPr/>
                    <a:lstStyle/>
                    <a:p>
                      <a:pPr>
                        <a:buNone/>
                      </a:pPr>
                      <a:r>
                        <a:rPr lang="en-IN" sz="1200"/>
                        <a:t>AI is software/intelligence; robotics is concerned with machines that interact with the physical world. Robots can use AI, but AI does not require a robot.</a:t>
                      </a:r>
                    </a:p>
                  </a:txBody>
                  <a:tcPr marL="19215" marR="19215" marT="9608" marB="9608" anchor="ctr">
                    <a:lnL>
                      <a:noFill/>
                    </a:lnL>
                    <a:lnR>
                      <a:noFill/>
                    </a:lnR>
                    <a:lnT>
                      <a:noFill/>
                    </a:lnT>
                    <a:lnB>
                      <a:noFill/>
                    </a:lnB>
                    <a:noFill/>
                  </a:tcPr>
                </a:tc>
                <a:extLst>
                  <a:ext uri="{0D108BD9-81ED-4DB2-BD59-A6C34878D82A}">
                    <a16:rowId xmlns:a16="http://schemas.microsoft.com/office/drawing/2014/main" val="1431362730"/>
                  </a:ext>
                </a:extLst>
              </a:tr>
              <a:tr h="249795">
                <a:tc>
                  <a:txBody>
                    <a:bodyPr/>
                    <a:lstStyle/>
                    <a:p>
                      <a:pPr>
                        <a:buNone/>
                      </a:pPr>
                      <a:r>
                        <a:rPr lang="en-IN" sz="1200" b="1"/>
                        <a:t>13. A bigger AI model is always better</a:t>
                      </a:r>
                      <a:endParaRPr lang="en-IN" sz="1200"/>
                    </a:p>
                  </a:txBody>
                  <a:tcPr marL="19215" marR="19215" marT="9608" marB="9608" anchor="ctr">
                    <a:lnL>
                      <a:noFill/>
                    </a:lnL>
                    <a:lnR>
                      <a:noFill/>
                    </a:lnR>
                    <a:lnT>
                      <a:noFill/>
                    </a:lnT>
                    <a:lnB>
                      <a:noFill/>
                    </a:lnB>
                    <a:noFill/>
                  </a:tcPr>
                </a:tc>
                <a:tc>
                  <a:txBody>
                    <a:bodyPr/>
                    <a:lstStyle/>
                    <a:p>
                      <a:pPr>
                        <a:buNone/>
                      </a:pPr>
                      <a:r>
                        <a:rPr lang="en-IN" sz="1200"/>
                        <a:t>Larger models can have advantages, but performance also depends on architecture, training data, tools, prompting, evaluation, cost, latency, and the specific task.</a:t>
                      </a:r>
                    </a:p>
                  </a:txBody>
                  <a:tcPr marL="19215" marR="19215" marT="9608" marB="9608" anchor="ctr">
                    <a:lnL>
                      <a:noFill/>
                    </a:lnL>
                    <a:lnR>
                      <a:noFill/>
                    </a:lnR>
                    <a:lnT>
                      <a:noFill/>
                    </a:lnT>
                    <a:lnB>
                      <a:noFill/>
                    </a:lnB>
                    <a:noFill/>
                  </a:tcPr>
                </a:tc>
                <a:extLst>
                  <a:ext uri="{0D108BD9-81ED-4DB2-BD59-A6C34878D82A}">
                    <a16:rowId xmlns:a16="http://schemas.microsoft.com/office/drawing/2014/main" val="4033817448"/>
                  </a:ext>
                </a:extLst>
              </a:tr>
              <a:tr h="422731">
                <a:tc>
                  <a:txBody>
                    <a:bodyPr/>
                    <a:lstStyle/>
                    <a:p>
                      <a:pPr>
                        <a:buNone/>
                      </a:pPr>
                      <a:r>
                        <a:rPr lang="en-IN" sz="1200" b="1"/>
                        <a:t>14. AI learns every time you talk to it</a:t>
                      </a:r>
                      <a:endParaRPr lang="en-IN" sz="1200"/>
                    </a:p>
                  </a:txBody>
                  <a:tcPr marL="19215" marR="19215" marT="9608" marB="9608" anchor="ctr">
                    <a:lnL>
                      <a:noFill/>
                    </a:lnL>
                    <a:lnR>
                      <a:noFill/>
                    </a:lnR>
                    <a:lnT>
                      <a:noFill/>
                    </a:lnT>
                    <a:lnB>
                      <a:noFill/>
                    </a:lnB>
                    <a:noFill/>
                  </a:tcPr>
                </a:tc>
                <a:tc>
                  <a:txBody>
                    <a:bodyPr/>
                    <a:lstStyle/>
                    <a:p>
                      <a:pPr>
                        <a:buNone/>
                      </a:pPr>
                      <a:r>
                        <a:rPr lang="en-IN" sz="1200"/>
                        <a:t>A model's behavior during a conversation does not necessarily mean its underlying model is being permanently retrained from that conversation.</a:t>
                      </a:r>
                    </a:p>
                  </a:txBody>
                  <a:tcPr marL="19215" marR="19215" marT="9608" marB="9608" anchor="ctr">
                    <a:lnL>
                      <a:noFill/>
                    </a:lnL>
                    <a:lnR>
                      <a:noFill/>
                    </a:lnR>
                    <a:lnT>
                      <a:noFill/>
                    </a:lnT>
                    <a:lnB>
                      <a:noFill/>
                    </a:lnB>
                    <a:noFill/>
                  </a:tcPr>
                </a:tc>
                <a:extLst>
                  <a:ext uri="{0D108BD9-81ED-4DB2-BD59-A6C34878D82A}">
                    <a16:rowId xmlns:a16="http://schemas.microsoft.com/office/drawing/2014/main" val="3255162125"/>
                  </a:ext>
                </a:extLst>
              </a:tr>
              <a:tr h="192150">
                <a:tc>
                  <a:txBody>
                    <a:bodyPr/>
                    <a:lstStyle/>
                    <a:p>
                      <a:pPr>
                        <a:buNone/>
                      </a:pPr>
                      <a:r>
                        <a:rPr lang="en-IN" sz="1200" b="1"/>
                        <a:t>15. If AI gives a confident answer, it must be true</a:t>
                      </a:r>
                      <a:endParaRPr lang="en-IN" sz="1200"/>
                    </a:p>
                  </a:txBody>
                  <a:tcPr marL="19215" marR="19215" marT="9608" marB="9608" anchor="ctr">
                    <a:lnL>
                      <a:noFill/>
                    </a:lnL>
                    <a:lnR>
                      <a:noFill/>
                    </a:lnR>
                    <a:lnT>
                      <a:noFill/>
                    </a:lnT>
                    <a:lnB>
                      <a:noFill/>
                    </a:lnB>
                    <a:noFill/>
                  </a:tcPr>
                </a:tc>
                <a:tc>
                  <a:txBody>
                    <a:bodyPr/>
                    <a:lstStyle/>
                    <a:p>
                      <a:pPr>
                        <a:buNone/>
                      </a:pPr>
                      <a:r>
                        <a:rPr lang="en-IN" sz="1200" dirty="0"/>
                        <a:t>Confidence in wording is not proof of correctness. AI output should be verified when accuracy matters.</a:t>
                      </a:r>
                    </a:p>
                  </a:txBody>
                  <a:tcPr marL="19215" marR="19215" marT="9608" marB="9608" anchor="ctr">
                    <a:lnL>
                      <a:noFill/>
                    </a:lnL>
                    <a:lnR>
                      <a:noFill/>
                    </a:lnR>
                    <a:lnT>
                      <a:noFill/>
                    </a:lnT>
                    <a:lnB>
                      <a:noFill/>
                    </a:lnB>
                    <a:noFill/>
                  </a:tcPr>
                </a:tc>
                <a:extLst>
                  <a:ext uri="{0D108BD9-81ED-4DB2-BD59-A6C34878D82A}">
                    <a16:rowId xmlns:a16="http://schemas.microsoft.com/office/drawing/2014/main" val="3349049948"/>
                  </a:ext>
                </a:extLst>
              </a:tr>
              <a:tr h="192150">
                <a:tc>
                  <a:txBody>
                    <a:bodyPr/>
                    <a:lstStyle/>
                    <a:p>
                      <a:pPr>
                        <a:buNone/>
                      </a:pPr>
                      <a:endParaRPr lang="en-IN" sz="1200"/>
                    </a:p>
                  </a:txBody>
                  <a:tcPr marL="19215" marR="19215" marT="9608" marB="9608" anchor="ctr">
                    <a:lnL>
                      <a:noFill/>
                    </a:lnL>
                    <a:lnR>
                      <a:noFill/>
                    </a:lnR>
                    <a:lnT>
                      <a:noFill/>
                    </a:lnT>
                    <a:lnB>
                      <a:noFill/>
                    </a:lnB>
                    <a:noFill/>
                  </a:tcPr>
                </a:tc>
                <a:tc>
                  <a:txBody>
                    <a:bodyPr/>
                    <a:lstStyle/>
                    <a:p>
                      <a:pPr>
                        <a:buNone/>
                      </a:pPr>
                      <a:endParaRPr lang="en-IN" sz="1200"/>
                    </a:p>
                  </a:txBody>
                  <a:tcPr marL="19215" marR="19215" marT="9608" marB="9608" anchor="ctr">
                    <a:lnL>
                      <a:noFill/>
                    </a:lnL>
                    <a:lnR>
                      <a:noFill/>
                    </a:lnR>
                    <a:lnT>
                      <a:noFill/>
                    </a:lnT>
                    <a:lnB>
                      <a:noFill/>
                    </a:lnB>
                    <a:noFill/>
                  </a:tcPr>
                </a:tc>
                <a:extLst>
                  <a:ext uri="{0D108BD9-81ED-4DB2-BD59-A6C34878D82A}">
                    <a16:rowId xmlns:a16="http://schemas.microsoft.com/office/drawing/2014/main" val="1841665374"/>
                  </a:ext>
                </a:extLst>
              </a:tr>
              <a:tr h="249795">
                <a:tc>
                  <a:txBody>
                    <a:bodyPr/>
                    <a:lstStyle/>
                    <a:p>
                      <a:pPr>
                        <a:buNone/>
                      </a:pPr>
                      <a:endParaRPr lang="en-IN" sz="1200"/>
                    </a:p>
                  </a:txBody>
                  <a:tcPr marL="19215" marR="19215" marT="9608" marB="9608" anchor="ctr">
                    <a:lnL>
                      <a:noFill/>
                    </a:lnL>
                    <a:lnR>
                      <a:noFill/>
                    </a:lnR>
                    <a:lnT>
                      <a:noFill/>
                    </a:lnT>
                    <a:lnB>
                      <a:noFill/>
                    </a:lnB>
                    <a:noFill/>
                  </a:tcPr>
                </a:tc>
                <a:tc>
                  <a:txBody>
                    <a:bodyPr/>
                    <a:lstStyle/>
                    <a:p>
                      <a:pPr>
                        <a:buNone/>
                      </a:pPr>
                      <a:endParaRPr lang="en-IN" sz="1200"/>
                    </a:p>
                  </a:txBody>
                  <a:tcPr marL="19215" marR="19215" marT="9608" marB="9608" anchor="ctr">
                    <a:lnL>
                      <a:noFill/>
                    </a:lnL>
                    <a:lnR>
                      <a:noFill/>
                    </a:lnR>
                    <a:lnT>
                      <a:noFill/>
                    </a:lnT>
                    <a:lnB>
                      <a:noFill/>
                    </a:lnB>
                    <a:noFill/>
                  </a:tcPr>
                </a:tc>
                <a:extLst>
                  <a:ext uri="{0D108BD9-81ED-4DB2-BD59-A6C34878D82A}">
                    <a16:rowId xmlns:a16="http://schemas.microsoft.com/office/drawing/2014/main" val="2059202860"/>
                  </a:ext>
                </a:extLst>
              </a:tr>
              <a:tr h="249795">
                <a:tc>
                  <a:txBody>
                    <a:bodyPr/>
                    <a:lstStyle/>
                    <a:p>
                      <a:pPr>
                        <a:buNone/>
                      </a:pPr>
                      <a:endParaRPr lang="en-IN" sz="1200"/>
                    </a:p>
                  </a:txBody>
                  <a:tcPr marL="19215" marR="19215" marT="9608" marB="9608" anchor="ctr">
                    <a:lnL>
                      <a:noFill/>
                    </a:lnL>
                    <a:lnR>
                      <a:noFill/>
                    </a:lnR>
                    <a:lnT>
                      <a:noFill/>
                    </a:lnT>
                    <a:lnB>
                      <a:noFill/>
                    </a:lnB>
                    <a:noFill/>
                  </a:tcPr>
                </a:tc>
                <a:tc>
                  <a:txBody>
                    <a:bodyPr/>
                    <a:lstStyle/>
                    <a:p>
                      <a:pPr>
                        <a:buNone/>
                      </a:pPr>
                      <a:endParaRPr lang="en-IN" sz="1200"/>
                    </a:p>
                  </a:txBody>
                  <a:tcPr marL="19215" marR="19215" marT="9608" marB="9608" anchor="ctr">
                    <a:lnL>
                      <a:noFill/>
                    </a:lnL>
                    <a:lnR>
                      <a:noFill/>
                    </a:lnR>
                    <a:lnT>
                      <a:noFill/>
                    </a:lnT>
                    <a:lnB>
                      <a:noFill/>
                    </a:lnB>
                    <a:noFill/>
                  </a:tcPr>
                </a:tc>
                <a:extLst>
                  <a:ext uri="{0D108BD9-81ED-4DB2-BD59-A6C34878D82A}">
                    <a16:rowId xmlns:a16="http://schemas.microsoft.com/office/drawing/2014/main" val="3198292392"/>
                  </a:ext>
                </a:extLst>
              </a:tr>
              <a:tr h="192150">
                <a:tc>
                  <a:txBody>
                    <a:bodyPr/>
                    <a:lstStyle/>
                    <a:p>
                      <a:pPr>
                        <a:buNone/>
                      </a:pPr>
                      <a:endParaRPr lang="en-IN" sz="1200"/>
                    </a:p>
                  </a:txBody>
                  <a:tcPr marL="19215" marR="19215" marT="9608" marB="9608" anchor="ctr">
                    <a:lnL>
                      <a:noFill/>
                    </a:lnL>
                    <a:lnR>
                      <a:noFill/>
                    </a:lnR>
                    <a:lnT>
                      <a:noFill/>
                    </a:lnT>
                    <a:lnB>
                      <a:noFill/>
                    </a:lnB>
                    <a:noFill/>
                  </a:tcPr>
                </a:tc>
                <a:tc>
                  <a:txBody>
                    <a:bodyPr/>
                    <a:lstStyle/>
                    <a:p>
                      <a:pPr>
                        <a:buNone/>
                      </a:pPr>
                      <a:endParaRPr lang="en-IN" sz="1200" dirty="0"/>
                    </a:p>
                  </a:txBody>
                  <a:tcPr marL="19215" marR="19215" marT="9608" marB="9608" anchor="ctr">
                    <a:lnL>
                      <a:noFill/>
                    </a:lnL>
                    <a:lnR>
                      <a:noFill/>
                    </a:lnR>
                    <a:lnT>
                      <a:noFill/>
                    </a:lnT>
                    <a:lnB>
                      <a:noFill/>
                    </a:lnB>
                    <a:noFill/>
                  </a:tcPr>
                </a:tc>
                <a:extLst>
                  <a:ext uri="{0D108BD9-81ED-4DB2-BD59-A6C34878D82A}">
                    <a16:rowId xmlns:a16="http://schemas.microsoft.com/office/drawing/2014/main" val="3863288776"/>
                  </a:ext>
                </a:extLst>
              </a:tr>
            </a:tbl>
          </a:graphicData>
        </a:graphic>
      </p:graphicFrame>
    </p:spTree>
    <p:extLst>
      <p:ext uri="{BB962C8B-B14F-4D97-AF65-F5344CB8AC3E}">
        <p14:creationId xmlns:p14="http://schemas.microsoft.com/office/powerpoint/2010/main" val="2598773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2DA2-0887-0EE8-1E67-96809118B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5857C5-D666-ED4F-51C5-FBA78E69B3CA}"/>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Introduction to data in AI </a:t>
            </a:r>
          </a:p>
        </p:txBody>
      </p:sp>
      <p:sp>
        <p:nvSpPr>
          <p:cNvPr id="5" name="TextBox 4">
            <a:extLst>
              <a:ext uri="{FF2B5EF4-FFF2-40B4-BE49-F238E27FC236}">
                <a16:creationId xmlns:a16="http://schemas.microsoft.com/office/drawing/2014/main" id="{1FF67920-BE7C-C5CB-5A48-4DBA1B040E5A}"/>
              </a:ext>
            </a:extLst>
          </p:cNvPr>
          <p:cNvSpPr txBox="1"/>
          <p:nvPr/>
        </p:nvSpPr>
        <p:spPr>
          <a:xfrm>
            <a:off x="531974" y="974728"/>
            <a:ext cx="9175443" cy="3539430"/>
          </a:xfrm>
          <a:prstGeom prst="rect">
            <a:avLst/>
          </a:prstGeom>
          <a:noFill/>
        </p:spPr>
        <p:txBody>
          <a:bodyPr wrap="square">
            <a:spAutoFit/>
          </a:bodyPr>
          <a:lstStyle/>
          <a:p>
            <a:pPr>
              <a:buNone/>
            </a:pPr>
            <a:r>
              <a:rPr lang="en-IN" sz="1600" b="1" dirty="0"/>
              <a:t>Data is the foundation of Artificial Intelligence.</a:t>
            </a:r>
            <a:r>
              <a:rPr lang="en-IN" sz="1600" dirty="0"/>
              <a:t> AI systems learn patterns from data and use those patterns to make predictions, classifications, recommendations, or generate content.</a:t>
            </a:r>
          </a:p>
          <a:p>
            <a:pPr>
              <a:buNone/>
            </a:pPr>
            <a:endParaRPr lang="en-IN" sz="1600" dirty="0"/>
          </a:p>
          <a:p>
            <a:pPr>
              <a:buNone/>
            </a:pPr>
            <a:r>
              <a:rPr lang="en-IN" sz="1600" dirty="0"/>
              <a:t>A simple way to understand the relationship is:</a:t>
            </a:r>
          </a:p>
          <a:p>
            <a:pPr>
              <a:buNone/>
            </a:pPr>
            <a:r>
              <a:rPr lang="en-IN" sz="1600" b="1" dirty="0"/>
              <a:t>Data → Learning → Model → Prediction/Generation</a:t>
            </a:r>
          </a:p>
          <a:p>
            <a:pPr>
              <a:buNone/>
            </a:pPr>
            <a:endParaRPr lang="en-IN" sz="1600" b="1" dirty="0"/>
          </a:p>
          <a:p>
            <a:pPr lvl="0" fontAlgn="base"/>
            <a:r>
              <a:rPr lang="en-IN" sz="1600" dirty="0"/>
              <a:t>Data refers to raw facts, figures, or information that can be processed and analysed to extract meaningful insights.</a:t>
            </a:r>
          </a:p>
          <a:p>
            <a:pPr lvl="0" fontAlgn="base"/>
            <a:endParaRPr lang="en-IN" sz="1600" dirty="0"/>
          </a:p>
          <a:p>
            <a:pPr lvl="0" fontAlgn="base"/>
            <a:r>
              <a:rPr lang="en-IN" sz="1600" dirty="0"/>
              <a:t>In data science and computing, data is categorised into different types based on its structure and nature.</a:t>
            </a:r>
          </a:p>
          <a:p>
            <a:pPr lvl="0" fontAlgn="base"/>
            <a:endParaRPr lang="en-IN" sz="1600" dirty="0"/>
          </a:p>
          <a:p>
            <a:pPr lvl="0" fontAlgn="base"/>
            <a:r>
              <a:rPr lang="en-IN" sz="1600" dirty="0"/>
              <a:t>Understanding its type helps in selecting appropriate analysis and processing methods.</a:t>
            </a:r>
          </a:p>
          <a:p>
            <a:pPr>
              <a:buNone/>
            </a:pPr>
            <a:endParaRPr lang="en-IN" sz="1600" dirty="0"/>
          </a:p>
        </p:txBody>
      </p:sp>
    </p:spTree>
    <p:extLst>
      <p:ext uri="{BB962C8B-B14F-4D97-AF65-F5344CB8AC3E}">
        <p14:creationId xmlns:p14="http://schemas.microsoft.com/office/powerpoint/2010/main" val="4511463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4C9B8-13A4-89BD-82DD-F8099CC33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7B03BC-4FAB-9207-BCC1-3E352593E0F7}"/>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Introduction to data in AI </a:t>
            </a:r>
          </a:p>
        </p:txBody>
      </p:sp>
      <p:sp>
        <p:nvSpPr>
          <p:cNvPr id="5" name="TextBox 4">
            <a:extLst>
              <a:ext uri="{FF2B5EF4-FFF2-40B4-BE49-F238E27FC236}">
                <a16:creationId xmlns:a16="http://schemas.microsoft.com/office/drawing/2014/main" id="{3CFDBE83-C1A5-8AB4-9F6C-06479EE61D1E}"/>
              </a:ext>
            </a:extLst>
          </p:cNvPr>
          <p:cNvSpPr txBox="1"/>
          <p:nvPr/>
        </p:nvSpPr>
        <p:spPr>
          <a:xfrm>
            <a:off x="531974" y="974728"/>
            <a:ext cx="9175443" cy="4524315"/>
          </a:xfrm>
          <a:prstGeom prst="rect">
            <a:avLst/>
          </a:prstGeom>
          <a:noFill/>
        </p:spPr>
        <p:txBody>
          <a:bodyPr wrap="square">
            <a:spAutoFit/>
          </a:bodyPr>
          <a:lstStyle/>
          <a:p>
            <a:r>
              <a:rPr lang="en-IN" sz="1600" b="1" dirty="0"/>
              <a:t>What is Data?</a:t>
            </a:r>
          </a:p>
          <a:p>
            <a:endParaRPr lang="en-IN" sz="1600" b="1" dirty="0"/>
          </a:p>
          <a:p>
            <a:r>
              <a:rPr lang="en-IN" sz="1600" b="1" dirty="0"/>
              <a:t>Data is a collection of facts, observations, measurements, or information that can be processed by a computer.</a:t>
            </a:r>
          </a:p>
          <a:p>
            <a:endParaRPr lang="en-IN" sz="1600" dirty="0"/>
          </a:p>
          <a:p>
            <a:r>
              <a:rPr lang="en-IN" sz="1600" dirty="0"/>
              <a:t>Examples:</a:t>
            </a:r>
          </a:p>
          <a:p>
            <a:endParaRPr lang="en-IN" sz="1600" dirty="0"/>
          </a:p>
          <a:p>
            <a:pPr lvl="0"/>
            <a:r>
              <a:rPr lang="en-IN" sz="1600" dirty="0"/>
              <a:t>Customer names and transactions </a:t>
            </a:r>
          </a:p>
          <a:p>
            <a:pPr lvl="0"/>
            <a:r>
              <a:rPr lang="en-IN" sz="1600" dirty="0"/>
              <a:t>Images </a:t>
            </a:r>
          </a:p>
          <a:p>
            <a:pPr lvl="0"/>
            <a:r>
              <a:rPr lang="en-IN" sz="1600" dirty="0"/>
              <a:t>Videos </a:t>
            </a:r>
          </a:p>
          <a:p>
            <a:pPr lvl="0"/>
            <a:r>
              <a:rPr lang="en-IN" sz="1600" dirty="0"/>
              <a:t>Audio </a:t>
            </a:r>
          </a:p>
          <a:p>
            <a:pPr lvl="0"/>
            <a:r>
              <a:rPr lang="en-IN" sz="1600" dirty="0"/>
              <a:t>Text </a:t>
            </a:r>
          </a:p>
          <a:p>
            <a:pPr lvl="0"/>
            <a:r>
              <a:rPr lang="en-IN" sz="1600" dirty="0"/>
              <a:t>Sensor readings </a:t>
            </a:r>
          </a:p>
          <a:p>
            <a:pPr lvl="0"/>
            <a:r>
              <a:rPr lang="en-IN" sz="1600" dirty="0"/>
              <a:t>Test execution results </a:t>
            </a:r>
          </a:p>
          <a:p>
            <a:pPr lvl="0"/>
            <a:r>
              <a:rPr lang="en-IN" sz="1600" dirty="0"/>
              <a:t>Application logs </a:t>
            </a:r>
          </a:p>
          <a:p>
            <a:pPr lvl="0"/>
            <a:r>
              <a:rPr lang="en-IN" sz="1600" dirty="0"/>
              <a:t>Financial transactions </a:t>
            </a:r>
          </a:p>
          <a:p>
            <a:pPr lvl="0"/>
            <a:r>
              <a:rPr lang="en-IN" sz="1600" dirty="0"/>
              <a:t>Medical records</a:t>
            </a:r>
          </a:p>
          <a:p>
            <a:pPr>
              <a:buNone/>
            </a:pPr>
            <a:endParaRPr lang="en-IN" sz="1600" dirty="0"/>
          </a:p>
        </p:txBody>
      </p:sp>
    </p:spTree>
    <p:extLst>
      <p:ext uri="{BB962C8B-B14F-4D97-AF65-F5344CB8AC3E}">
        <p14:creationId xmlns:p14="http://schemas.microsoft.com/office/powerpoint/2010/main" val="34242604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B07A8-9F99-D5DA-E3A6-46FFFD22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FBF029-E012-2EB1-73F9-0BE67597ECBD}"/>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Introduction to data in AI </a:t>
            </a:r>
          </a:p>
        </p:txBody>
      </p:sp>
      <p:graphicFrame>
        <p:nvGraphicFramePr>
          <p:cNvPr id="3" name="Table 2">
            <a:extLst>
              <a:ext uri="{FF2B5EF4-FFF2-40B4-BE49-F238E27FC236}">
                <a16:creationId xmlns:a16="http://schemas.microsoft.com/office/drawing/2014/main" id="{68FA3E19-9AF6-24F3-C1BD-E7F3DD561120}"/>
              </a:ext>
            </a:extLst>
          </p:cNvPr>
          <p:cNvGraphicFramePr>
            <a:graphicFrameLocks noGrp="1"/>
          </p:cNvGraphicFramePr>
          <p:nvPr>
            <p:extLst>
              <p:ext uri="{D42A27DB-BD31-4B8C-83A1-F6EECF244321}">
                <p14:modId xmlns:p14="http://schemas.microsoft.com/office/powerpoint/2010/main" val="902354936"/>
              </p:ext>
            </p:extLst>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r>
                        <a:rPr lang="en-IN" sz="1600"/>
                        <a:t>Customer</a:t>
                      </a:r>
                    </a:p>
                  </a:txBody>
                  <a:tcPr anchor="ctr">
                    <a:lnL>
                      <a:noFill/>
                    </a:lnL>
                    <a:lnR>
                      <a:noFill/>
                    </a:lnR>
                    <a:lnT>
                      <a:noFill/>
                    </a:lnT>
                    <a:lnB>
                      <a:noFill/>
                    </a:lnB>
                    <a:noFill/>
                  </a:tcPr>
                </a:tc>
                <a:tc>
                  <a:txBody>
                    <a:bodyPr/>
                    <a:lstStyle/>
                    <a:p>
                      <a:pPr>
                        <a:buNone/>
                      </a:pPr>
                      <a:r>
                        <a:rPr lang="en-IN" sz="1600"/>
                        <a:t>Product</a:t>
                      </a:r>
                    </a:p>
                  </a:txBody>
                  <a:tcPr anchor="ctr">
                    <a:lnL>
                      <a:noFill/>
                    </a:lnL>
                    <a:lnR>
                      <a:noFill/>
                    </a:lnR>
                    <a:lnT>
                      <a:noFill/>
                    </a:lnT>
                    <a:lnB>
                      <a:noFill/>
                    </a:lnB>
                    <a:noFill/>
                  </a:tcPr>
                </a:tc>
                <a:tc>
                  <a:txBody>
                    <a:bodyPr/>
                    <a:lstStyle/>
                    <a:p>
                      <a:pPr>
                        <a:buNone/>
                      </a:pPr>
                      <a:r>
                        <a:rPr lang="en-IN" sz="1600"/>
                        <a:t>Price</a:t>
                      </a:r>
                    </a:p>
                  </a:txBody>
                  <a:tcPr anchor="ctr">
                    <a:lnL>
                      <a:noFill/>
                    </a:lnL>
                    <a:lnR>
                      <a:noFill/>
                    </a:lnR>
                    <a:lnT>
                      <a:noFill/>
                    </a:lnT>
                    <a:lnB>
                      <a:noFill/>
                    </a:lnB>
                    <a:noFill/>
                  </a:tcPr>
                </a:tc>
                <a:tc>
                  <a:txBody>
                    <a:bodyPr/>
                    <a:lstStyle/>
                    <a:p>
                      <a:pPr>
                        <a:buNone/>
                      </a:pPr>
                      <a:r>
                        <a:rPr lang="en-IN" sz="1600"/>
                        <a:t>Quantity</a:t>
                      </a:r>
                    </a:p>
                  </a:txBody>
                  <a:tcPr anchor="ctr">
                    <a:lnL>
                      <a:noFill/>
                    </a:lnL>
                    <a:lnR>
                      <a:noFill/>
                    </a:lnR>
                    <a:lnT>
                      <a:noFill/>
                    </a:lnT>
                    <a:lnB>
                      <a:noFill/>
                    </a:lnB>
                    <a:noFill/>
                  </a:tcPr>
                </a:tc>
                <a:tc>
                  <a:txBody>
                    <a:bodyPr/>
                    <a:lstStyle/>
                    <a:p>
                      <a:pPr>
                        <a:buNone/>
                      </a:pPr>
                      <a:r>
                        <a:rPr lang="en-IN" sz="1600"/>
                        <a:t>Purchase</a:t>
                      </a:r>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r>
                        <a:rPr lang="en-IN" sz="1600"/>
                        <a:t>C001</a:t>
                      </a:r>
                    </a:p>
                  </a:txBody>
                  <a:tcPr anchor="ctr">
                    <a:lnL>
                      <a:noFill/>
                    </a:lnL>
                    <a:lnR>
                      <a:noFill/>
                    </a:lnR>
                    <a:lnT>
                      <a:noFill/>
                    </a:lnT>
                    <a:lnB>
                      <a:noFill/>
                    </a:lnB>
                    <a:noFill/>
                  </a:tcPr>
                </a:tc>
                <a:tc>
                  <a:txBody>
                    <a:bodyPr/>
                    <a:lstStyle/>
                    <a:p>
                      <a:pPr>
                        <a:buNone/>
                      </a:pPr>
                      <a:r>
                        <a:rPr lang="en-IN" sz="1600"/>
                        <a:t>Laptop</a:t>
                      </a:r>
                    </a:p>
                  </a:txBody>
                  <a:tcPr anchor="ctr">
                    <a:lnL>
                      <a:noFill/>
                    </a:lnL>
                    <a:lnR>
                      <a:noFill/>
                    </a:lnR>
                    <a:lnT>
                      <a:noFill/>
                    </a:lnT>
                    <a:lnB>
                      <a:noFill/>
                    </a:lnB>
                    <a:noFill/>
                  </a:tcPr>
                </a:tc>
                <a:tc>
                  <a:txBody>
                    <a:bodyPr/>
                    <a:lstStyle/>
                    <a:p>
                      <a:pPr>
                        <a:buNone/>
                      </a:pPr>
                      <a:r>
                        <a:rPr lang="en-IN" sz="1600"/>
                        <a:t>₹60,000</a:t>
                      </a:r>
                    </a:p>
                  </a:txBody>
                  <a:tcPr anchor="ctr">
                    <a:lnL>
                      <a:noFill/>
                    </a:lnL>
                    <a:lnR>
                      <a:noFill/>
                    </a:lnR>
                    <a:lnT>
                      <a:noFill/>
                    </a:lnT>
                    <a:lnB>
                      <a:noFill/>
                    </a:lnB>
                    <a:noFill/>
                  </a:tcPr>
                </a:tc>
                <a:tc>
                  <a:txBody>
                    <a:bodyPr/>
                    <a:lstStyle/>
                    <a:p>
                      <a:pPr>
                        <a:buNone/>
                      </a:pPr>
                      <a:r>
                        <a:rPr lang="en-IN" sz="1600"/>
                        <a:t>1</a:t>
                      </a:r>
                    </a:p>
                  </a:txBody>
                  <a:tcPr anchor="ctr">
                    <a:lnL>
                      <a:noFill/>
                    </a:lnL>
                    <a:lnR>
                      <a:noFill/>
                    </a:lnR>
                    <a:lnT>
                      <a:noFill/>
                    </a:lnT>
                    <a:lnB>
                      <a:noFill/>
                    </a:lnB>
                    <a:noFill/>
                  </a:tcPr>
                </a:tc>
                <a:tc>
                  <a:txBody>
                    <a:bodyPr/>
                    <a:lstStyle/>
                    <a:p>
                      <a:pPr>
                        <a:buNone/>
                      </a:pPr>
                      <a:r>
                        <a:rPr lang="en-IN" sz="1600"/>
                        <a:t>Yes</a:t>
                      </a:r>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r>
                        <a:rPr lang="en-IN" sz="1600" dirty="0"/>
                        <a:t>C002</a:t>
                      </a:r>
                    </a:p>
                  </a:txBody>
                  <a:tcPr anchor="ctr">
                    <a:lnL>
                      <a:noFill/>
                    </a:lnL>
                    <a:lnR>
                      <a:noFill/>
                    </a:lnR>
                    <a:lnT>
                      <a:noFill/>
                    </a:lnT>
                    <a:lnB>
                      <a:noFill/>
                    </a:lnB>
                    <a:noFill/>
                  </a:tcPr>
                </a:tc>
                <a:tc>
                  <a:txBody>
                    <a:bodyPr/>
                    <a:lstStyle/>
                    <a:p>
                      <a:pPr>
                        <a:buNone/>
                      </a:pPr>
                      <a:r>
                        <a:rPr lang="en-IN" sz="1600" dirty="0"/>
                        <a:t>Phone</a:t>
                      </a:r>
                    </a:p>
                  </a:txBody>
                  <a:tcPr anchor="ctr">
                    <a:lnL>
                      <a:noFill/>
                    </a:lnL>
                    <a:lnR>
                      <a:noFill/>
                    </a:lnR>
                    <a:lnT>
                      <a:noFill/>
                    </a:lnT>
                    <a:lnB>
                      <a:noFill/>
                    </a:lnB>
                    <a:noFill/>
                  </a:tcPr>
                </a:tc>
                <a:tc>
                  <a:txBody>
                    <a:bodyPr/>
                    <a:lstStyle/>
                    <a:p>
                      <a:pPr>
                        <a:buNone/>
                      </a:pPr>
                      <a:r>
                        <a:rPr lang="en-IN" sz="1600"/>
                        <a:t>₹25,000</a:t>
                      </a:r>
                    </a:p>
                  </a:txBody>
                  <a:tcPr anchor="ctr">
                    <a:lnL>
                      <a:noFill/>
                    </a:lnL>
                    <a:lnR>
                      <a:noFill/>
                    </a:lnR>
                    <a:lnT>
                      <a:noFill/>
                    </a:lnT>
                    <a:lnB>
                      <a:noFill/>
                    </a:lnB>
                    <a:noFill/>
                  </a:tcPr>
                </a:tc>
                <a:tc>
                  <a:txBody>
                    <a:bodyPr/>
                    <a:lstStyle/>
                    <a:p>
                      <a:pPr>
                        <a:buNone/>
                      </a:pPr>
                      <a:r>
                        <a:rPr lang="en-IN" sz="1600"/>
                        <a:t>2</a:t>
                      </a:r>
                    </a:p>
                  </a:txBody>
                  <a:tcPr anchor="ctr">
                    <a:lnL>
                      <a:noFill/>
                    </a:lnL>
                    <a:lnR>
                      <a:noFill/>
                    </a:lnR>
                    <a:lnT>
                      <a:noFill/>
                    </a:lnT>
                    <a:lnB>
                      <a:noFill/>
                    </a:lnB>
                    <a:noFill/>
                  </a:tcPr>
                </a:tc>
                <a:tc>
                  <a:txBody>
                    <a:bodyPr/>
                    <a:lstStyle/>
                    <a:p>
                      <a:pPr>
                        <a:buNone/>
                      </a:pPr>
                      <a:r>
                        <a:rPr lang="en-IN" sz="1600"/>
                        <a:t>Yes</a:t>
                      </a:r>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r>
                        <a:rPr lang="en-IN" sz="1600"/>
                        <a:t>C003</a:t>
                      </a:r>
                    </a:p>
                  </a:txBody>
                  <a:tcPr anchor="ctr">
                    <a:lnL>
                      <a:noFill/>
                    </a:lnL>
                    <a:lnR>
                      <a:noFill/>
                    </a:lnR>
                    <a:lnT>
                      <a:noFill/>
                    </a:lnT>
                    <a:lnB>
                      <a:noFill/>
                    </a:lnB>
                    <a:noFill/>
                  </a:tcPr>
                </a:tc>
                <a:tc>
                  <a:txBody>
                    <a:bodyPr/>
                    <a:lstStyle/>
                    <a:p>
                      <a:pPr>
                        <a:buNone/>
                      </a:pPr>
                      <a:r>
                        <a:rPr lang="en-IN" sz="1600" dirty="0"/>
                        <a:t>Laptop</a:t>
                      </a:r>
                    </a:p>
                  </a:txBody>
                  <a:tcPr anchor="ctr">
                    <a:lnL>
                      <a:noFill/>
                    </a:lnL>
                    <a:lnR>
                      <a:noFill/>
                    </a:lnR>
                    <a:lnT>
                      <a:noFill/>
                    </a:lnT>
                    <a:lnB>
                      <a:noFill/>
                    </a:lnB>
                    <a:noFill/>
                  </a:tcPr>
                </a:tc>
                <a:tc>
                  <a:txBody>
                    <a:bodyPr/>
                    <a:lstStyle/>
                    <a:p>
                      <a:pPr>
                        <a:buNone/>
                      </a:pPr>
                      <a:r>
                        <a:rPr lang="en-IN" sz="1600"/>
                        <a:t>₹60,000</a:t>
                      </a:r>
                    </a:p>
                  </a:txBody>
                  <a:tcPr anchor="ctr">
                    <a:lnL>
                      <a:noFill/>
                    </a:lnL>
                    <a:lnR>
                      <a:noFill/>
                    </a:lnR>
                    <a:lnT>
                      <a:noFill/>
                    </a:lnT>
                    <a:lnB>
                      <a:noFill/>
                    </a:lnB>
                    <a:noFill/>
                  </a:tcPr>
                </a:tc>
                <a:tc>
                  <a:txBody>
                    <a:bodyPr/>
                    <a:lstStyle/>
                    <a:p>
                      <a:pPr>
                        <a:buNone/>
                      </a:pPr>
                      <a:r>
                        <a:rPr lang="en-IN" sz="1600"/>
                        <a:t>0</a:t>
                      </a:r>
                    </a:p>
                  </a:txBody>
                  <a:tcPr anchor="ctr">
                    <a:lnL>
                      <a:noFill/>
                    </a:lnL>
                    <a:lnR>
                      <a:noFill/>
                    </a:lnR>
                    <a:lnT>
                      <a:noFill/>
                    </a:lnT>
                    <a:lnB>
                      <a:noFill/>
                    </a:lnB>
                    <a:noFill/>
                  </a:tcPr>
                </a:tc>
                <a:tc>
                  <a:txBody>
                    <a:bodyPr/>
                    <a:lstStyle/>
                    <a:p>
                      <a:pPr>
                        <a:buNone/>
                      </a:pPr>
                      <a:r>
                        <a:rPr lang="en-IN" sz="1600" dirty="0"/>
                        <a:t>No</a:t>
                      </a:r>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1B7E3EEB-F2D3-D0CB-8F0D-773C8B287CAE}"/>
              </a:ext>
            </a:extLst>
          </p:cNvPr>
          <p:cNvSpPr txBox="1"/>
          <p:nvPr/>
        </p:nvSpPr>
        <p:spPr>
          <a:xfrm>
            <a:off x="677864" y="1011535"/>
            <a:ext cx="6100618" cy="830997"/>
          </a:xfrm>
          <a:prstGeom prst="rect">
            <a:avLst/>
          </a:prstGeom>
          <a:noFill/>
        </p:spPr>
        <p:txBody>
          <a:bodyPr wrap="square">
            <a:spAutoFit/>
          </a:bodyPr>
          <a:lstStyle/>
          <a:p>
            <a:pPr>
              <a:buNone/>
            </a:pPr>
            <a:r>
              <a:rPr lang="en-IN" sz="1600" dirty="0"/>
              <a:t>For example, an e-commerce company might have:</a:t>
            </a:r>
          </a:p>
          <a:p>
            <a:pPr>
              <a:buNone/>
            </a:pPr>
            <a:r>
              <a:rPr lang="en-IN" sz="1600" dirty="0"/>
              <a:t>This data can be used by AI to identify patterns and make predictions.</a:t>
            </a:r>
          </a:p>
        </p:txBody>
      </p:sp>
    </p:spTree>
    <p:extLst>
      <p:ext uri="{BB962C8B-B14F-4D97-AF65-F5344CB8AC3E}">
        <p14:creationId xmlns:p14="http://schemas.microsoft.com/office/powerpoint/2010/main" val="3301913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7AAE-821B-BBBD-A59D-1B00C6D9C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FDAF3-C9EA-C322-397D-06AAEC709554}"/>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2DD179AF-9767-DA6B-C73B-5316E4C36832}"/>
              </a:ext>
            </a:extLst>
          </p:cNvPr>
          <p:cNvGraphicFramePr>
            <a:graphicFrameLocks noGrp="1"/>
          </p:cNvGraphicFramePr>
          <p:nvPr>
            <p:extLst>
              <p:ext uri="{D42A27DB-BD31-4B8C-83A1-F6EECF244321}">
                <p14:modId xmlns:p14="http://schemas.microsoft.com/office/powerpoint/2010/main" val="2187768707"/>
              </p:ext>
            </p:extLst>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pic>
        <p:nvPicPr>
          <p:cNvPr id="5" name="Picture 4">
            <a:extLst>
              <a:ext uri="{FF2B5EF4-FFF2-40B4-BE49-F238E27FC236}">
                <a16:creationId xmlns:a16="http://schemas.microsoft.com/office/drawing/2014/main" id="{46A38930-9EBE-C903-92EB-762B7BF5A39B}"/>
              </a:ext>
            </a:extLst>
          </p:cNvPr>
          <p:cNvPicPr>
            <a:picLocks noChangeAspect="1"/>
          </p:cNvPicPr>
          <p:nvPr/>
        </p:nvPicPr>
        <p:blipFill>
          <a:blip r:embed="rId2"/>
          <a:stretch>
            <a:fillRect/>
          </a:stretch>
        </p:blipFill>
        <p:spPr>
          <a:xfrm>
            <a:off x="531975" y="1111128"/>
            <a:ext cx="8205625" cy="4853520"/>
          </a:xfrm>
          <a:prstGeom prst="rect">
            <a:avLst/>
          </a:prstGeom>
        </p:spPr>
      </p:pic>
    </p:spTree>
    <p:extLst>
      <p:ext uri="{BB962C8B-B14F-4D97-AF65-F5344CB8AC3E}">
        <p14:creationId xmlns:p14="http://schemas.microsoft.com/office/powerpoint/2010/main" val="22151120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A98E5-4044-02EC-A74B-AEAB9FA52E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E2CAB-D3DD-42C6-B8B0-A460EDBA1A8C}"/>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F0A56A51-F7B3-C078-9E70-77CEE1E5B9D2}"/>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70139DEF-7BE3-BCF1-A642-23472CD659CE}"/>
              </a:ext>
            </a:extLst>
          </p:cNvPr>
          <p:cNvSpPr txBox="1"/>
          <p:nvPr/>
        </p:nvSpPr>
        <p:spPr>
          <a:xfrm>
            <a:off x="787400" y="1054406"/>
            <a:ext cx="7146636" cy="4080604"/>
          </a:xfrm>
          <a:prstGeom prst="rect">
            <a:avLst/>
          </a:prstGeom>
          <a:noFill/>
        </p:spPr>
        <p:txBody>
          <a:bodyPr wrap="square">
            <a:spAutoFit/>
          </a:bodyPr>
          <a:lstStyle/>
          <a:p>
            <a:pPr marL="0" marR="0" indent="0" algn="l" fontAlgn="base">
              <a:lnSpc>
                <a:spcPts val="2100"/>
              </a:lnSpc>
              <a:spcBef>
                <a:spcPts val="1800"/>
              </a:spcBef>
              <a:spcAft>
                <a:spcPts val="1800"/>
              </a:spcAft>
              <a:buNone/>
            </a:pPr>
            <a:r>
              <a:rPr lang="en-IN" sz="1600" b="1" i="0" spc="12" dirty="0">
                <a:solidFill>
                  <a:srgbClr val="273239"/>
                </a:solidFill>
                <a:effectLst/>
              </a:rPr>
              <a:t>1. Quantitative Data</a:t>
            </a:r>
            <a:endParaRPr lang="en-IN" sz="1600" b="1" i="0" spc="0" dirty="0">
              <a:solidFill>
                <a:srgbClr val="273239"/>
              </a:solidFill>
              <a:effectLst/>
            </a:endParaRPr>
          </a:p>
          <a:p>
            <a:pPr marL="0" marR="0" indent="0" algn="l" rtl="0" fontAlgn="base">
              <a:spcAft>
                <a:spcPts val="750"/>
              </a:spcAft>
              <a:buNone/>
            </a:pPr>
            <a:r>
              <a:rPr lang="en-IN" sz="1600" b="0" i="0" u="sng" spc="12" dirty="0">
                <a:solidFill>
                  <a:srgbClr val="357960"/>
                </a:solidFill>
                <a:effectLst/>
                <a:hlinkClick r:id="rId2"/>
              </a:rPr>
              <a:t>Quantitative data</a:t>
            </a:r>
            <a:r>
              <a:rPr lang="en-IN" sz="1600" b="0" i="0" spc="12" dirty="0">
                <a:solidFill>
                  <a:srgbClr val="273239"/>
                </a:solidFill>
                <a:effectLst/>
              </a:rPr>
              <a:t> is information that can be measured, counted and expressed in numerical form. It provides objective values that can be </a:t>
            </a:r>
            <a:r>
              <a:rPr lang="en-IN" sz="1600" b="0" i="0" spc="12" dirty="0" err="1">
                <a:solidFill>
                  <a:srgbClr val="273239"/>
                </a:solidFill>
                <a:effectLst/>
              </a:rPr>
              <a:t>analyzed</a:t>
            </a:r>
            <a:r>
              <a:rPr lang="en-IN" sz="1600" b="0" i="0" spc="12" dirty="0">
                <a:solidFill>
                  <a:srgbClr val="273239"/>
                </a:solidFill>
                <a:effectLst/>
              </a:rPr>
              <a:t> statistically to identify patterns, trends and relationships.</a:t>
            </a:r>
            <a:endParaRPr lang="en-IN" sz="1600" b="0" i="0" spc="10" dirty="0">
              <a:solidFill>
                <a:srgbClr val="273239"/>
              </a:solidFill>
              <a:effectLst/>
            </a:endParaRPr>
          </a:p>
          <a:p>
            <a:pPr marL="342900" marR="0" lvl="0" indent="-342900" algn="l" fontAlgn="base">
              <a:spcAft>
                <a:spcPts val="1800"/>
              </a:spcAft>
              <a:buFont typeface="Arial" panose="020B0604020202020204" pitchFamily="34" charset="0"/>
              <a:buChar char="•"/>
            </a:pPr>
            <a:r>
              <a:rPr lang="en-IN" sz="1600" b="0" i="0" spc="12" dirty="0">
                <a:solidFill>
                  <a:srgbClr val="273239"/>
                </a:solidFill>
                <a:effectLst/>
              </a:rPr>
              <a:t>Represents numbers and measurable values.</a:t>
            </a:r>
            <a:endParaRPr lang="en-IN" sz="1600" b="0" i="0" spc="10" dirty="0">
              <a:solidFill>
                <a:srgbClr val="273239"/>
              </a:solidFill>
              <a:effectLst/>
            </a:endParaRPr>
          </a:p>
          <a:p>
            <a:pPr marL="342900" marR="0" lvl="0" indent="-342900" algn="l" fontAlgn="base">
              <a:spcAft>
                <a:spcPts val="1800"/>
              </a:spcAft>
              <a:buFont typeface="Arial" panose="020B0604020202020204" pitchFamily="34" charset="0"/>
              <a:buChar char="•"/>
            </a:pPr>
            <a:r>
              <a:rPr lang="en-IN" sz="1600" b="0" i="0" spc="12" dirty="0">
                <a:solidFill>
                  <a:srgbClr val="273239"/>
                </a:solidFill>
                <a:effectLst/>
              </a:rPr>
              <a:t>Can be divided into: Discrete data (Whole numbers) and Continuous data (Values on a scale).</a:t>
            </a:r>
            <a:endParaRPr lang="en-IN" sz="1600" b="0" i="0" spc="10" dirty="0">
              <a:solidFill>
                <a:srgbClr val="273239"/>
              </a:solidFill>
              <a:effectLst/>
            </a:endParaRPr>
          </a:p>
          <a:p>
            <a:pPr marL="342900" marR="0" lvl="0" indent="-342900" algn="l" fontAlgn="base">
              <a:spcAft>
                <a:spcPts val="1800"/>
              </a:spcAft>
              <a:buFont typeface="Arial" panose="020B0604020202020204" pitchFamily="34" charset="0"/>
              <a:buChar char="•"/>
            </a:pPr>
            <a:r>
              <a:rPr lang="en-IN" sz="1600" b="0" i="0" spc="12" dirty="0">
                <a:solidFill>
                  <a:srgbClr val="273239"/>
                </a:solidFill>
                <a:effectLst/>
              </a:rPr>
              <a:t>Widely used in research, finance, engineering and business analytics.</a:t>
            </a:r>
          </a:p>
          <a:p>
            <a:pPr marL="342900" marR="0" lvl="0" indent="-342900" algn="l" fontAlgn="base">
              <a:spcAft>
                <a:spcPts val="1800"/>
              </a:spcAft>
              <a:buFont typeface="Arial" panose="020B0604020202020204" pitchFamily="34" charset="0"/>
              <a:buChar char="•"/>
            </a:pPr>
            <a:endParaRPr lang="en-IN" sz="1600" spc="12" dirty="0">
              <a:solidFill>
                <a:srgbClr val="273239"/>
              </a:solidFill>
            </a:endParaRPr>
          </a:p>
          <a:p>
            <a:pPr marL="342900" lvl="0" indent="-342900" fontAlgn="base">
              <a:spcAft>
                <a:spcPts val="1800"/>
              </a:spcAft>
              <a:buFont typeface="Arial" panose="020B0604020202020204" pitchFamily="34" charset="0"/>
              <a:buChar char="•"/>
            </a:pPr>
            <a:r>
              <a:rPr lang="en-IN" sz="1600" b="1" dirty="0"/>
              <a:t>Example</a:t>
            </a:r>
            <a:r>
              <a:rPr lang="en-IN" sz="1600" dirty="0"/>
              <a:t>: Age of people, number of customers visiting a store, temperature readings, sales revenue.</a:t>
            </a:r>
            <a:endParaRPr lang="en-IN" sz="1600" b="0" i="0" spc="10" dirty="0">
              <a:solidFill>
                <a:srgbClr val="273239"/>
              </a:solidFill>
              <a:effectLst/>
            </a:endParaRPr>
          </a:p>
        </p:txBody>
      </p:sp>
    </p:spTree>
    <p:extLst>
      <p:ext uri="{BB962C8B-B14F-4D97-AF65-F5344CB8AC3E}">
        <p14:creationId xmlns:p14="http://schemas.microsoft.com/office/powerpoint/2010/main" val="20189352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0E852-B829-3126-FDD0-4C8AE3BFE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711AE-61C0-BA61-0797-D6C98EC06AE2}"/>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1A1748DC-7073-7C73-FF48-8BEF08DB7865}"/>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B8007CCB-799D-3703-FC58-BA0C51616CD4}"/>
              </a:ext>
            </a:extLst>
          </p:cNvPr>
          <p:cNvSpPr txBox="1"/>
          <p:nvPr/>
        </p:nvSpPr>
        <p:spPr>
          <a:xfrm>
            <a:off x="787400" y="1054406"/>
            <a:ext cx="7146636" cy="4019370"/>
          </a:xfrm>
          <a:prstGeom prst="rect">
            <a:avLst/>
          </a:prstGeom>
          <a:noFill/>
        </p:spPr>
        <p:txBody>
          <a:bodyPr wrap="square">
            <a:spAutoFit/>
          </a:bodyPr>
          <a:lstStyle/>
          <a:p>
            <a:pPr fontAlgn="base"/>
            <a:r>
              <a:rPr lang="en-IN" sz="1600" b="1" dirty="0"/>
              <a:t>2. Qualitative Data</a:t>
            </a:r>
          </a:p>
          <a:p>
            <a:pPr fontAlgn="base"/>
            <a:endParaRPr lang="en-IN" sz="1600" b="1" dirty="0"/>
          </a:p>
          <a:p>
            <a:pPr fontAlgn="base"/>
            <a:r>
              <a:rPr lang="en-IN" sz="1600" u="sng" dirty="0">
                <a:hlinkClick r:id="rId2"/>
              </a:rPr>
              <a:t>Qualitative data</a:t>
            </a:r>
            <a:r>
              <a:rPr lang="en-IN" sz="1600" dirty="0"/>
              <a:t> is descriptive, non-numeric information that explains qualities, characteristics or categories rather than quantities. </a:t>
            </a:r>
          </a:p>
          <a:p>
            <a:pPr marL="285750" indent="-285750" fontAlgn="base">
              <a:buFont typeface="Arial" panose="020B0604020202020204" pitchFamily="34" charset="0"/>
              <a:buChar char="•"/>
            </a:pPr>
            <a:endParaRPr lang="en-IN" sz="1600" dirty="0"/>
          </a:p>
          <a:p>
            <a:pPr marL="285750" indent="-285750" fontAlgn="base">
              <a:buFont typeface="Arial" panose="020B0604020202020204" pitchFamily="34" charset="0"/>
              <a:buChar char="•"/>
            </a:pPr>
            <a:r>
              <a:rPr lang="en-IN" sz="1600" dirty="0"/>
              <a:t>It helps understand opinions, experiences and meanings behind behaviours.</a:t>
            </a:r>
          </a:p>
          <a:p>
            <a:pPr marL="285750" lvl="0" indent="-285750" fontAlgn="base">
              <a:buFont typeface="Arial" panose="020B0604020202020204" pitchFamily="34" charset="0"/>
              <a:buChar char="•"/>
            </a:pPr>
            <a:r>
              <a:rPr lang="en-IN" sz="1600" dirty="0"/>
              <a:t>Focuses on qualities, attributes and categories rather than numbers.</a:t>
            </a:r>
          </a:p>
          <a:p>
            <a:pPr marL="285750" lvl="0" indent="-285750" fontAlgn="base">
              <a:buFont typeface="Arial" panose="020B0604020202020204" pitchFamily="34" charset="0"/>
              <a:buChar char="•"/>
            </a:pPr>
            <a:r>
              <a:rPr lang="en-IN" sz="1600" dirty="0"/>
              <a:t>Often collected through surveys, interviews or observations.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dirty="0"/>
              <a:t>Useful for understanding opinions, motivations and </a:t>
            </a:r>
            <a:r>
              <a:rPr lang="en-IN" sz="1600" dirty="0" err="1"/>
              <a:t>behaviors</a:t>
            </a:r>
            <a:r>
              <a:rPr lang="en-IN" sz="1600" dirty="0"/>
              <a:t>.</a:t>
            </a:r>
          </a:p>
          <a:p>
            <a:pPr lvl="0" fontAlgn="base"/>
            <a:endParaRPr lang="en-IN" sz="1600" dirty="0"/>
          </a:p>
          <a:p>
            <a:pPr fontAlgn="base"/>
            <a:r>
              <a:rPr lang="en-IN" sz="1600" b="1" dirty="0"/>
              <a:t>Example</a:t>
            </a:r>
            <a:r>
              <a:rPr lang="en-IN" sz="1600" dirty="0"/>
              <a:t>: Customer feedback (“satisfied”, “unsatisfied”), product </a:t>
            </a:r>
            <a:r>
              <a:rPr lang="en-IN" sz="1600" dirty="0" err="1"/>
              <a:t>colors</a:t>
            </a:r>
            <a:r>
              <a:rPr lang="en-IN" sz="1600" dirty="0"/>
              <a:t>, interview transcripts, social media comments.</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27163285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54D37-693A-FEF1-6196-81F341E07F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94E8F-A2EA-EF4C-1AD9-4BE8601B5D1A}"/>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A62CD702-FC6E-030D-3618-4A7615831ED2}"/>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1BBC4BA3-3F93-192C-C972-70D916D204A3}"/>
              </a:ext>
            </a:extLst>
          </p:cNvPr>
          <p:cNvSpPr txBox="1"/>
          <p:nvPr/>
        </p:nvSpPr>
        <p:spPr>
          <a:xfrm>
            <a:off x="787400" y="1054406"/>
            <a:ext cx="7146636" cy="3773149"/>
          </a:xfrm>
          <a:prstGeom prst="rect">
            <a:avLst/>
          </a:prstGeom>
          <a:noFill/>
        </p:spPr>
        <p:txBody>
          <a:bodyPr wrap="square">
            <a:spAutoFit/>
          </a:bodyPr>
          <a:lstStyle/>
          <a:p>
            <a:pPr fontAlgn="base"/>
            <a:r>
              <a:rPr lang="en-IN" sz="1600" b="1" dirty="0"/>
              <a:t>3. Structured Data</a:t>
            </a:r>
          </a:p>
          <a:p>
            <a:pPr fontAlgn="base"/>
            <a:endParaRPr lang="en-IN" sz="1600" b="1" dirty="0"/>
          </a:p>
          <a:p>
            <a:pPr marL="285750" indent="-285750" fontAlgn="base">
              <a:buFont typeface="Arial" panose="020B0604020202020204" pitchFamily="34" charset="0"/>
              <a:buChar char="•"/>
            </a:pPr>
            <a:r>
              <a:rPr lang="en-IN" sz="1600" u="sng" dirty="0">
                <a:hlinkClick r:id="rId2"/>
              </a:rPr>
              <a:t>Structured data</a:t>
            </a:r>
            <a:r>
              <a:rPr lang="en-IN" sz="1600" dirty="0"/>
              <a:t> is information organized into a predefined format (rows and columns) that makes it easily searchable and manageable by traditional databases.</a:t>
            </a:r>
          </a:p>
          <a:p>
            <a:pPr marL="28575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dirty="0"/>
              <a:t>Stored in relational databases or spreadsheets.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dirty="0"/>
              <a:t>Easy to process with SQL and other tools.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dirty="0"/>
              <a:t>Best suited for tasks requiring accuracy and consistency.</a:t>
            </a:r>
          </a:p>
          <a:p>
            <a:pPr lvl="0" fontAlgn="base"/>
            <a:endParaRPr lang="en-IN" sz="1600" dirty="0"/>
          </a:p>
          <a:p>
            <a:pPr fontAlgn="base"/>
            <a:r>
              <a:rPr lang="en-IN" sz="1600" b="1" dirty="0"/>
              <a:t>Example</a:t>
            </a:r>
            <a:r>
              <a:rPr lang="en-IN" sz="1600" dirty="0"/>
              <a:t>: Bank transactions, employee records, product inventories.</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9871330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568A5-6581-43D8-56C6-8A2A0FA987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EAC02-B050-4EE8-60A1-DC12BDBEBCB8}"/>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F60500A4-3D1E-8AA1-3377-5C602033C8DE}"/>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8DE86667-5786-99B9-C1E1-0B18DC4B6E8E}"/>
              </a:ext>
            </a:extLst>
          </p:cNvPr>
          <p:cNvSpPr txBox="1"/>
          <p:nvPr/>
        </p:nvSpPr>
        <p:spPr>
          <a:xfrm>
            <a:off x="787400" y="1054406"/>
            <a:ext cx="7146636" cy="3773149"/>
          </a:xfrm>
          <a:prstGeom prst="rect">
            <a:avLst/>
          </a:prstGeom>
          <a:noFill/>
        </p:spPr>
        <p:txBody>
          <a:bodyPr wrap="square">
            <a:spAutoFit/>
          </a:bodyPr>
          <a:lstStyle/>
          <a:p>
            <a:pPr fontAlgn="base"/>
            <a:r>
              <a:rPr lang="en-IN" sz="1600" b="1" dirty="0"/>
              <a:t>4. Unstructured Data</a:t>
            </a:r>
          </a:p>
          <a:p>
            <a:pPr fontAlgn="base"/>
            <a:endParaRPr lang="en-IN" sz="1600" b="1" dirty="0"/>
          </a:p>
          <a:p>
            <a:pPr fontAlgn="base"/>
            <a:r>
              <a:rPr lang="en-IN" sz="1600" u="sng" dirty="0">
                <a:hlinkClick r:id="rId2"/>
              </a:rPr>
              <a:t>Unstructured data</a:t>
            </a:r>
            <a:r>
              <a:rPr lang="en-IN" sz="1600" dirty="0"/>
              <a:t> is raw information that does not follow a predefined structure or format making it harder to organize and </a:t>
            </a:r>
            <a:r>
              <a:rPr lang="en-IN" sz="1600" dirty="0" err="1"/>
              <a:t>analyze</a:t>
            </a:r>
            <a:r>
              <a:rPr lang="en-IN" sz="1600" dirty="0"/>
              <a:t> with conventional tools.</a:t>
            </a:r>
          </a:p>
          <a:p>
            <a:pPr fontAlgn="base"/>
            <a:endParaRPr lang="en-IN" sz="1600" dirty="0"/>
          </a:p>
          <a:p>
            <a:pPr lvl="0" fontAlgn="base"/>
            <a:r>
              <a:rPr lang="en-IN" sz="1600" dirty="0"/>
              <a:t>Accounts for over 80% of data generated globally.</a:t>
            </a:r>
          </a:p>
          <a:p>
            <a:pPr lvl="0" fontAlgn="base"/>
            <a:endParaRPr lang="en-IN" sz="1600" dirty="0"/>
          </a:p>
          <a:p>
            <a:pPr lvl="0" fontAlgn="base"/>
            <a:r>
              <a:rPr lang="en-IN" sz="1600" dirty="0"/>
              <a:t>Requires advanced tools (AI, NLP, computer vision) to extract insights.</a:t>
            </a:r>
          </a:p>
          <a:p>
            <a:pPr lvl="0" fontAlgn="base"/>
            <a:endParaRPr lang="en-IN" sz="1600" dirty="0"/>
          </a:p>
          <a:p>
            <a:pPr lvl="0" fontAlgn="base"/>
            <a:r>
              <a:rPr lang="en-IN" sz="1600" dirty="0"/>
              <a:t>Common in social media, multimedia and IoT applications.</a:t>
            </a:r>
          </a:p>
          <a:p>
            <a:pPr lvl="0" fontAlgn="base"/>
            <a:endParaRPr lang="en-IN" sz="1600" dirty="0"/>
          </a:p>
          <a:p>
            <a:pPr fontAlgn="base"/>
            <a:r>
              <a:rPr lang="en-IN" sz="1600" b="1" dirty="0"/>
              <a:t>Example</a:t>
            </a:r>
            <a:r>
              <a:rPr lang="en-IN" sz="1600" dirty="0"/>
              <a:t>: Emails, images, videos, voice recordings, PDF documents.</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3776831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04EE3-7364-888D-8A8E-5907154E4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1F4D6-4D5E-288F-E540-B6EFA8C70F0A}"/>
              </a:ext>
            </a:extLst>
          </p:cNvPr>
          <p:cNvSpPr>
            <a:spLocks noGrp="1"/>
          </p:cNvSpPr>
          <p:nvPr>
            <p:ph type="title"/>
          </p:nvPr>
        </p:nvSpPr>
        <p:spPr>
          <a:xfrm>
            <a:off x="531975" y="240145"/>
            <a:ext cx="8596668" cy="554182"/>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20270E04-7DB8-8584-7822-31AEC22CCF40}"/>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FF5377EE-DED5-A52A-8BB5-0582E7F0D530}"/>
              </a:ext>
            </a:extLst>
          </p:cNvPr>
          <p:cNvSpPr txBox="1"/>
          <p:nvPr/>
        </p:nvSpPr>
        <p:spPr>
          <a:xfrm>
            <a:off x="787400" y="1054406"/>
            <a:ext cx="7146636" cy="4727256"/>
          </a:xfrm>
          <a:prstGeom prst="rect">
            <a:avLst/>
          </a:prstGeom>
          <a:noFill/>
        </p:spPr>
        <p:txBody>
          <a:bodyPr wrap="square">
            <a:spAutoFit/>
          </a:bodyPr>
          <a:lstStyle/>
          <a:p>
            <a:pPr fontAlgn="base"/>
            <a:r>
              <a:rPr lang="en-IN" b="1" dirty="0"/>
              <a:t>5. Semi-Structured Data</a:t>
            </a:r>
          </a:p>
          <a:p>
            <a:pPr fontAlgn="base"/>
            <a:endParaRPr lang="en-IN" b="1" dirty="0"/>
          </a:p>
          <a:p>
            <a:pPr marL="285750" indent="-285750" fontAlgn="base">
              <a:buFont typeface="Arial" panose="020B0604020202020204" pitchFamily="34" charset="0"/>
              <a:buChar char="•"/>
            </a:pPr>
            <a:r>
              <a:rPr lang="en-IN" u="sng" dirty="0">
                <a:hlinkClick r:id="rId2"/>
              </a:rPr>
              <a:t>Semi-structured data</a:t>
            </a:r>
            <a:r>
              <a:rPr lang="en-IN" dirty="0"/>
              <a:t> combines aspects of structured and unstructured data. It does not reside in traditional tables but still contains tags or markers that provide a loose structure.</a:t>
            </a:r>
          </a:p>
          <a:p>
            <a:pPr marL="285750" indent="-285750" fontAlgn="base">
              <a:buFont typeface="Arial" panose="020B0604020202020204" pitchFamily="34" charset="0"/>
              <a:buChar char="•"/>
            </a:pPr>
            <a:endParaRPr lang="en-IN" dirty="0"/>
          </a:p>
          <a:p>
            <a:pPr marL="285750" lvl="0" indent="-285750" fontAlgn="base">
              <a:buFont typeface="Arial" panose="020B0604020202020204" pitchFamily="34" charset="0"/>
              <a:buChar char="•"/>
            </a:pPr>
            <a:r>
              <a:rPr lang="en-IN" dirty="0"/>
              <a:t>Provides a balance between flexibility and structure.</a:t>
            </a:r>
          </a:p>
          <a:p>
            <a:pPr marL="285750" lvl="0" indent="-285750" fontAlgn="base">
              <a:buFont typeface="Arial" panose="020B0604020202020204" pitchFamily="34" charset="0"/>
              <a:buChar char="•"/>
            </a:pPr>
            <a:endParaRPr lang="en-IN" dirty="0"/>
          </a:p>
          <a:p>
            <a:pPr marL="285750" lvl="0" indent="-285750" fontAlgn="base">
              <a:buFont typeface="Arial" panose="020B0604020202020204" pitchFamily="34" charset="0"/>
              <a:buChar char="•"/>
            </a:pPr>
            <a:r>
              <a:rPr lang="en-IN" dirty="0"/>
              <a:t>Easier to </a:t>
            </a:r>
            <a:r>
              <a:rPr lang="en-IN" dirty="0" err="1"/>
              <a:t>analyze</a:t>
            </a:r>
            <a:r>
              <a:rPr lang="en-IN" dirty="0"/>
              <a:t> than unstructured data, but less rigid than structured data.</a:t>
            </a:r>
          </a:p>
          <a:p>
            <a:pPr marL="285750" lvl="0" indent="-285750" fontAlgn="base">
              <a:buFont typeface="Arial" panose="020B0604020202020204" pitchFamily="34" charset="0"/>
              <a:buChar char="•"/>
            </a:pPr>
            <a:endParaRPr lang="en-IN" dirty="0"/>
          </a:p>
          <a:p>
            <a:pPr marL="285750" lvl="0" indent="-285750" fontAlgn="base">
              <a:buFont typeface="Arial" panose="020B0604020202020204" pitchFamily="34" charset="0"/>
              <a:buChar char="•"/>
            </a:pPr>
            <a:r>
              <a:rPr lang="en-IN" dirty="0"/>
              <a:t>Often used in web applications, IoT devices and log systems.</a:t>
            </a:r>
          </a:p>
          <a:p>
            <a:pPr lvl="0" fontAlgn="base"/>
            <a:endParaRPr lang="en-IN" dirty="0"/>
          </a:p>
          <a:p>
            <a:pPr fontAlgn="base"/>
            <a:r>
              <a:rPr lang="en-IN" b="1" dirty="0"/>
              <a:t>Example</a:t>
            </a:r>
            <a:r>
              <a:rPr lang="en-IN" dirty="0"/>
              <a:t>: JSON files, XML documents, NoSQL databases, sensor logs.</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7395568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D316-7F2E-C5ED-8A9B-3C70C7860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99650B-C392-9B6F-7AB4-FE1A700C0A5A}"/>
              </a:ext>
            </a:extLst>
          </p:cNvPr>
          <p:cNvSpPr>
            <a:spLocks noGrp="1"/>
          </p:cNvSpPr>
          <p:nvPr>
            <p:ph type="title"/>
          </p:nvPr>
        </p:nvSpPr>
        <p:spPr>
          <a:xfrm>
            <a:off x="531975" y="131052"/>
            <a:ext cx="8596668" cy="277091"/>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310A6E0F-3949-4213-ADAF-C4229BF0EA5A}"/>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481FC67B-5C01-213C-B2EC-34E73E406F5D}"/>
              </a:ext>
            </a:extLst>
          </p:cNvPr>
          <p:cNvSpPr txBox="1"/>
          <p:nvPr/>
        </p:nvSpPr>
        <p:spPr>
          <a:xfrm>
            <a:off x="654493" y="509951"/>
            <a:ext cx="7146636" cy="2357377"/>
          </a:xfrm>
          <a:prstGeom prst="rect">
            <a:avLst/>
          </a:prstGeom>
          <a:noFill/>
        </p:spPr>
        <p:txBody>
          <a:bodyPr wrap="square">
            <a:spAutoFit/>
          </a:bodyPr>
          <a:lstStyle/>
          <a:p>
            <a:pPr fontAlgn="base"/>
            <a:r>
              <a:rPr lang="en-IN" b="1" dirty="0"/>
              <a:t>Big Data</a:t>
            </a:r>
          </a:p>
          <a:p>
            <a:pPr fontAlgn="base"/>
            <a:endParaRPr lang="en-IN" b="1" dirty="0"/>
          </a:p>
          <a:p>
            <a:pPr marL="285750" indent="-285750" fontAlgn="base">
              <a:buFont typeface="Arial" panose="020B0604020202020204" pitchFamily="34" charset="0"/>
              <a:buChar char="•"/>
            </a:pPr>
            <a:r>
              <a:rPr lang="en-IN" sz="1600" dirty="0"/>
              <a:t>When datasets grow in size, complexity and speed, traditional methods don’t suffice.</a:t>
            </a:r>
          </a:p>
          <a:p>
            <a:pPr marL="285750" indent="-285750" fontAlgn="base">
              <a:buFont typeface="Arial" panose="020B0604020202020204" pitchFamily="34" charset="0"/>
              <a:buChar char="•"/>
            </a:pPr>
            <a:endParaRPr lang="en-IN" sz="1600" dirty="0"/>
          </a:p>
          <a:p>
            <a:pPr marL="285750" indent="-285750" fontAlgn="base">
              <a:buFont typeface="Arial" panose="020B0604020202020204" pitchFamily="34" charset="0"/>
              <a:buChar char="•"/>
            </a:pPr>
            <a:r>
              <a:rPr lang="en-IN" sz="1600" dirty="0"/>
              <a:t> </a:t>
            </a:r>
            <a:r>
              <a:rPr lang="en-IN" sz="1600" u="sng" dirty="0">
                <a:hlinkClick r:id="rId2"/>
              </a:rPr>
              <a:t>Big Data</a:t>
            </a:r>
            <a:r>
              <a:rPr lang="en-IN" sz="1600" dirty="0"/>
              <a:t> refers to datasets that are too large, too varied or too fast to be handled by traditional data processing tools.</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pic>
        <p:nvPicPr>
          <p:cNvPr id="4" name="Picture 3" descr="BigData">
            <a:extLst>
              <a:ext uri="{FF2B5EF4-FFF2-40B4-BE49-F238E27FC236}">
                <a16:creationId xmlns:a16="http://schemas.microsoft.com/office/drawing/2014/main" id="{5BAC428D-D68A-E9E6-729C-9CE86E3B2FDB}"/>
              </a:ext>
            </a:extLst>
          </p:cNvPr>
          <p:cNvPicPr>
            <a:picLocks noChangeAspect="1"/>
          </p:cNvPicPr>
          <p:nvPr/>
        </p:nvPicPr>
        <p:blipFill>
          <a:blip r:embed="rId3"/>
          <a:stretch>
            <a:fillRect/>
          </a:stretch>
        </p:blipFill>
        <p:spPr>
          <a:xfrm>
            <a:off x="777010" y="2674300"/>
            <a:ext cx="6901602" cy="3943555"/>
          </a:xfrm>
          <a:prstGeom prst="rect">
            <a:avLst/>
          </a:prstGeom>
        </p:spPr>
      </p:pic>
    </p:spTree>
    <p:extLst>
      <p:ext uri="{BB962C8B-B14F-4D97-AF65-F5344CB8AC3E}">
        <p14:creationId xmlns:p14="http://schemas.microsoft.com/office/powerpoint/2010/main" val="24488155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271CE-4DC5-B60E-F051-51355CDC6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37928-A07E-1BFC-4FDA-965C36009E8F}"/>
              </a:ext>
            </a:extLst>
          </p:cNvPr>
          <p:cNvSpPr>
            <a:spLocks noGrp="1"/>
          </p:cNvSpPr>
          <p:nvPr>
            <p:ph type="title"/>
          </p:nvPr>
        </p:nvSpPr>
        <p:spPr>
          <a:xfrm>
            <a:off x="531975" y="131052"/>
            <a:ext cx="8596668" cy="277091"/>
          </a:xfrm>
        </p:spPr>
        <p:txBody>
          <a:bodyPr>
            <a:noAutofit/>
          </a:bodyPr>
          <a:lstStyle/>
          <a:p>
            <a:pPr lvl="1"/>
            <a:r>
              <a:rPr lang="en-IN" dirty="0">
                <a:solidFill>
                  <a:schemeClr val="accent1"/>
                </a:solidFill>
              </a:rPr>
              <a:t>Types of Data</a:t>
            </a:r>
          </a:p>
        </p:txBody>
      </p:sp>
      <p:graphicFrame>
        <p:nvGraphicFramePr>
          <p:cNvPr id="3" name="Table 2">
            <a:extLst>
              <a:ext uri="{FF2B5EF4-FFF2-40B4-BE49-F238E27FC236}">
                <a16:creationId xmlns:a16="http://schemas.microsoft.com/office/drawing/2014/main" id="{B096834A-C111-6657-A7B2-E54735159E36}"/>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3FE69783-3DF6-27F3-178E-6DC6A0DD69EC}"/>
              </a:ext>
            </a:extLst>
          </p:cNvPr>
          <p:cNvSpPr txBox="1"/>
          <p:nvPr/>
        </p:nvSpPr>
        <p:spPr>
          <a:xfrm>
            <a:off x="531975" y="888642"/>
            <a:ext cx="7146636" cy="3280706"/>
          </a:xfrm>
          <a:prstGeom prst="rect">
            <a:avLst/>
          </a:prstGeom>
          <a:noFill/>
        </p:spPr>
        <p:txBody>
          <a:bodyPr wrap="square">
            <a:spAutoFit/>
          </a:bodyPr>
          <a:lstStyle/>
          <a:p>
            <a:pPr fontAlgn="base"/>
            <a:r>
              <a:rPr lang="en-IN" sz="1600" dirty="0"/>
              <a:t>The defining characteristics often called the Vs of Big Data are:</a:t>
            </a:r>
          </a:p>
          <a:p>
            <a:pPr lvl="0" fontAlgn="base"/>
            <a:r>
              <a:rPr lang="en-IN" sz="1600" b="1" dirty="0"/>
              <a:t>Volume</a:t>
            </a:r>
            <a:r>
              <a:rPr lang="en-IN" sz="1600" dirty="0"/>
              <a:t>: Massive amounts of data.</a:t>
            </a:r>
          </a:p>
          <a:p>
            <a:pPr lvl="0" fontAlgn="base"/>
            <a:endParaRPr lang="en-IN" sz="1600" dirty="0"/>
          </a:p>
          <a:p>
            <a:pPr lvl="0" fontAlgn="base"/>
            <a:r>
              <a:rPr lang="en-IN" sz="1600" b="1" dirty="0"/>
              <a:t>Velocity</a:t>
            </a:r>
            <a:r>
              <a:rPr lang="en-IN" sz="1600" dirty="0"/>
              <a:t>: Speed of generation and processing.</a:t>
            </a:r>
          </a:p>
          <a:p>
            <a:pPr lvl="0" fontAlgn="base"/>
            <a:endParaRPr lang="en-IN" sz="1600" dirty="0"/>
          </a:p>
          <a:p>
            <a:pPr lvl="0" fontAlgn="base"/>
            <a:r>
              <a:rPr lang="en-IN" sz="1600" b="1" dirty="0"/>
              <a:t>Variety</a:t>
            </a:r>
            <a:r>
              <a:rPr lang="en-IN" sz="1600" dirty="0"/>
              <a:t>: Different formats: structured, unstructured, semi-structured.</a:t>
            </a:r>
          </a:p>
          <a:p>
            <a:pPr lvl="0" fontAlgn="base"/>
            <a:endParaRPr lang="en-IN" sz="1600" dirty="0"/>
          </a:p>
          <a:p>
            <a:pPr lvl="0" fontAlgn="base"/>
            <a:r>
              <a:rPr lang="en-IN" sz="1600" b="1" dirty="0"/>
              <a:t>Veracity</a:t>
            </a:r>
            <a:r>
              <a:rPr lang="en-IN" sz="1600" dirty="0"/>
              <a:t>: Accuracy, trustworthiness of data to deal with noise and errors.</a:t>
            </a:r>
          </a:p>
          <a:p>
            <a:pPr lvl="0" fontAlgn="base"/>
            <a:endParaRPr lang="en-IN" sz="1600" dirty="0"/>
          </a:p>
          <a:p>
            <a:pPr lvl="0" fontAlgn="base"/>
            <a:r>
              <a:rPr lang="en-IN" sz="1600" b="1" dirty="0"/>
              <a:t>Value</a:t>
            </a:r>
            <a:r>
              <a:rPr lang="en-IN" sz="1600" dirty="0"/>
              <a:t>: The usefulness of data i.e. having data is not enough, we must extract value from data.</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8076787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3EDAE-CABE-2AD9-44E5-D464B2E64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2C2E20-55E0-DD52-67F4-DF5C43EC160F}"/>
              </a:ext>
            </a:extLst>
          </p:cNvPr>
          <p:cNvSpPr>
            <a:spLocks noGrp="1"/>
          </p:cNvSpPr>
          <p:nvPr>
            <p:ph type="title"/>
          </p:nvPr>
        </p:nvSpPr>
        <p:spPr>
          <a:xfrm>
            <a:off x="531975" y="131052"/>
            <a:ext cx="8596668" cy="277091"/>
          </a:xfrm>
        </p:spPr>
        <p:txBody>
          <a:bodyPr>
            <a:noAutofit/>
          </a:bodyPr>
          <a:lstStyle/>
          <a:p>
            <a:pPr fontAlgn="base"/>
            <a:r>
              <a:rPr lang="en-IN" b="1" dirty="0"/>
              <a:t>Role of Data in AI</a:t>
            </a:r>
          </a:p>
        </p:txBody>
      </p:sp>
      <p:graphicFrame>
        <p:nvGraphicFramePr>
          <p:cNvPr id="3" name="Table 2">
            <a:extLst>
              <a:ext uri="{FF2B5EF4-FFF2-40B4-BE49-F238E27FC236}">
                <a16:creationId xmlns:a16="http://schemas.microsoft.com/office/drawing/2014/main" id="{0E918A1A-EEB9-AF48-8648-24AE5C451AA7}"/>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EFD5184F-4B9B-F5C3-1FA6-6D52DB1F4DC2}"/>
              </a:ext>
            </a:extLst>
          </p:cNvPr>
          <p:cNvSpPr txBox="1"/>
          <p:nvPr/>
        </p:nvSpPr>
        <p:spPr>
          <a:xfrm>
            <a:off x="531975" y="888642"/>
            <a:ext cx="8833698" cy="4173258"/>
          </a:xfrm>
          <a:prstGeom prst="rect">
            <a:avLst/>
          </a:prstGeom>
          <a:noFill/>
        </p:spPr>
        <p:txBody>
          <a:bodyPr wrap="square">
            <a:spAutoFit/>
          </a:bodyPr>
          <a:lstStyle/>
          <a:p>
            <a:pPr marL="285750" indent="-285750" fontAlgn="base">
              <a:buFont typeface="Arial" panose="020B0604020202020204" pitchFamily="34" charset="0"/>
              <a:buChar char="•"/>
            </a:pPr>
            <a:r>
              <a:rPr lang="en-IN" dirty="0"/>
              <a:t>Data is fundamental to </a:t>
            </a:r>
            <a:r>
              <a:rPr lang="en-IN" u="sng" dirty="0">
                <a:hlinkClick r:id="rId2"/>
              </a:rPr>
              <a:t>Artificial Intelligence (AI)</a:t>
            </a:r>
            <a:r>
              <a:rPr lang="en-IN" dirty="0"/>
              <a:t> and </a:t>
            </a:r>
            <a:r>
              <a:rPr lang="en-IN" u="sng" dirty="0">
                <a:hlinkClick r:id="rId3"/>
              </a:rPr>
              <a:t>Machine Learning (ML)</a:t>
            </a:r>
            <a:r>
              <a:rPr lang="en-IN" dirty="0"/>
              <a:t>. AI models are trained on data and their performance, fairness, and reliability depends heavily on the quality, relevance and appropriateness of that data.</a:t>
            </a:r>
          </a:p>
          <a:p>
            <a:pPr marL="285750" indent="-285750" fontAlgn="base">
              <a:buFont typeface="Arial" panose="020B0604020202020204" pitchFamily="34" charset="0"/>
              <a:buChar char="•"/>
            </a:pPr>
            <a:endParaRPr lang="en-IN" dirty="0"/>
          </a:p>
          <a:p>
            <a:pPr marL="285750" lvl="0" indent="-285750" fontAlgn="base">
              <a:buFont typeface="Arial" panose="020B0604020202020204" pitchFamily="34" charset="0"/>
              <a:buChar char="•"/>
            </a:pPr>
            <a:r>
              <a:rPr lang="en-IN" dirty="0"/>
              <a:t>AI models depend on accurate, clean and relevant data.</a:t>
            </a:r>
          </a:p>
          <a:p>
            <a:pPr marL="285750" lvl="0" indent="-285750" fontAlgn="base">
              <a:buFont typeface="Arial" panose="020B0604020202020204" pitchFamily="34" charset="0"/>
              <a:buChar char="•"/>
            </a:pPr>
            <a:r>
              <a:rPr lang="en-IN" dirty="0"/>
              <a:t>Poor or biased data can make AI give wrong or unfair results.</a:t>
            </a:r>
          </a:p>
          <a:p>
            <a:pPr marL="285750" lvl="0" indent="-285750" fontAlgn="base">
              <a:buFont typeface="Arial" panose="020B0604020202020204" pitchFamily="34" charset="0"/>
              <a:buChar char="•"/>
            </a:pPr>
            <a:endParaRPr lang="en-IN" dirty="0"/>
          </a:p>
          <a:p>
            <a:pPr marL="285750" lvl="0" indent="-285750" fontAlgn="base">
              <a:buFont typeface="Arial" panose="020B0604020202020204" pitchFamily="34" charset="0"/>
              <a:buChar char="•"/>
            </a:pPr>
            <a:r>
              <a:rPr lang="en-IN" dirty="0"/>
              <a:t>Properly managed data improves AI accuracy and usefulness.</a:t>
            </a:r>
          </a:p>
          <a:p>
            <a:pPr lvl="0" fontAlgn="base"/>
            <a:endParaRPr lang="en-IN" dirty="0"/>
          </a:p>
          <a:p>
            <a:pPr fontAlgn="base"/>
            <a:r>
              <a:rPr lang="en-IN" b="1" dirty="0"/>
              <a:t>Examples</a:t>
            </a:r>
          </a:p>
          <a:p>
            <a:pPr fontAlgn="base"/>
            <a:endParaRPr lang="en-IN" dirty="0"/>
          </a:p>
          <a:p>
            <a:pPr lvl="0" fontAlgn="base"/>
            <a:r>
              <a:rPr lang="en-IN" i="1" dirty="0"/>
              <a:t>Netflix uses viewing history to suggest shows.</a:t>
            </a:r>
          </a:p>
          <a:p>
            <a:pPr lvl="0" fontAlgn="base"/>
            <a:r>
              <a:rPr lang="en-IN" i="1" dirty="0"/>
              <a:t>Self-driving cars use sensor data to navigate safely.</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3593809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27C8A-ED57-709E-CD3D-E00935721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50EAE-BFF8-9F31-D804-C9DBAD2271C1}"/>
              </a:ext>
            </a:extLst>
          </p:cNvPr>
          <p:cNvSpPr>
            <a:spLocks noGrp="1"/>
          </p:cNvSpPr>
          <p:nvPr>
            <p:ph type="title"/>
          </p:nvPr>
        </p:nvSpPr>
        <p:spPr>
          <a:xfrm>
            <a:off x="531975" y="131052"/>
            <a:ext cx="8596668" cy="277091"/>
          </a:xfrm>
        </p:spPr>
        <p:txBody>
          <a:bodyPr>
            <a:noAutofit/>
          </a:bodyPr>
          <a:lstStyle/>
          <a:p>
            <a:pPr fontAlgn="base"/>
            <a:r>
              <a:rPr lang="en-IN" b="1" dirty="0"/>
              <a:t>Applications</a:t>
            </a:r>
          </a:p>
        </p:txBody>
      </p:sp>
      <p:graphicFrame>
        <p:nvGraphicFramePr>
          <p:cNvPr id="3" name="Table 2">
            <a:extLst>
              <a:ext uri="{FF2B5EF4-FFF2-40B4-BE49-F238E27FC236}">
                <a16:creationId xmlns:a16="http://schemas.microsoft.com/office/drawing/2014/main" id="{C36A62EE-241B-95CA-D968-4E1FB8C79F6C}"/>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06B309C8-DE3D-F713-2618-B55B807823FF}"/>
              </a:ext>
            </a:extLst>
          </p:cNvPr>
          <p:cNvSpPr txBox="1"/>
          <p:nvPr/>
        </p:nvSpPr>
        <p:spPr>
          <a:xfrm>
            <a:off x="531975" y="888642"/>
            <a:ext cx="8833698" cy="4265591"/>
          </a:xfrm>
          <a:prstGeom prst="rect">
            <a:avLst/>
          </a:prstGeom>
          <a:noFill/>
        </p:spPr>
        <p:txBody>
          <a:bodyPr wrap="square">
            <a:spAutoFit/>
          </a:bodyPr>
          <a:lstStyle/>
          <a:p>
            <a:pPr marL="285750" indent="-285750" fontAlgn="base">
              <a:buFont typeface="Arial" panose="020B0604020202020204" pitchFamily="34" charset="0"/>
              <a:buChar char="•"/>
            </a:pPr>
            <a:endParaRPr lang="en-IN" sz="1600" b="1" dirty="0"/>
          </a:p>
          <a:p>
            <a:pPr marL="285750" lvl="0" indent="-285750" fontAlgn="base">
              <a:buFont typeface="Arial" panose="020B0604020202020204" pitchFamily="34" charset="0"/>
              <a:buChar char="•"/>
            </a:pPr>
            <a:r>
              <a:rPr lang="en-IN" sz="1600" b="1" dirty="0"/>
              <a:t>Business and Decision-Making</a:t>
            </a:r>
            <a:r>
              <a:rPr lang="en-IN" sz="1600" dirty="0"/>
              <a:t>: Organizations </a:t>
            </a:r>
            <a:r>
              <a:rPr lang="en-IN" sz="1600" dirty="0" err="1"/>
              <a:t>analyze</a:t>
            </a:r>
            <a:r>
              <a:rPr lang="en-IN" sz="1600" dirty="0"/>
              <a:t> data to identify trends, optimize operations and make informed decisions.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Healthcare:</a:t>
            </a:r>
            <a:r>
              <a:rPr lang="en-IN" sz="1600" dirty="0"/>
              <a:t> Patient records and medical data help in accurate diagnoses, personalized treatments and predicting disease outbreaks.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Finance:</a:t>
            </a:r>
            <a:r>
              <a:rPr lang="en-IN" sz="1600" dirty="0"/>
              <a:t> Banks and financial institutions rely on data for fraud detection, credit scoring and market analysis.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Technology and AI</a:t>
            </a:r>
            <a:r>
              <a:rPr lang="en-IN" sz="1600" dirty="0"/>
              <a:t>: Data fuels artificial intelligence and is used in applications like natural language processing, image recognition and predictive models.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Marketing and Customer Experience</a:t>
            </a:r>
            <a:r>
              <a:rPr lang="en-IN" sz="1600" dirty="0"/>
              <a:t>: Customer data enables targeted advertising, personalized offers and better engagement.</a:t>
            </a:r>
          </a:p>
          <a:p>
            <a:pPr marL="0" marR="0" indent="0" algn="l" fontAlgn="base">
              <a:lnSpc>
                <a:spcPts val="2100"/>
              </a:lnSpc>
              <a:spcBef>
                <a:spcPts val="1800"/>
              </a:spcBef>
              <a:spcAft>
                <a:spcPts val="1800"/>
              </a:spcAft>
              <a:buNone/>
            </a:pPr>
            <a:endParaRPr lang="en-IN" sz="1600" b="0" i="0" spc="10" dirty="0">
              <a:solidFill>
                <a:srgbClr val="273239"/>
              </a:solidFill>
              <a:effectLst/>
            </a:endParaRPr>
          </a:p>
        </p:txBody>
      </p:sp>
    </p:spTree>
    <p:extLst>
      <p:ext uri="{BB962C8B-B14F-4D97-AF65-F5344CB8AC3E}">
        <p14:creationId xmlns:p14="http://schemas.microsoft.com/office/powerpoint/2010/main" val="1745926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FA2B1-D7CE-AB27-73E3-A65BAA82A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4F461-0D4C-BED7-B3E1-CEA2C55A02EA}"/>
              </a:ext>
            </a:extLst>
          </p:cNvPr>
          <p:cNvSpPr>
            <a:spLocks noGrp="1"/>
          </p:cNvSpPr>
          <p:nvPr>
            <p:ph type="title"/>
          </p:nvPr>
        </p:nvSpPr>
        <p:spPr>
          <a:xfrm>
            <a:off x="531975" y="131052"/>
            <a:ext cx="8596668" cy="277091"/>
          </a:xfrm>
        </p:spPr>
        <p:txBody>
          <a:bodyPr>
            <a:noAutofit/>
          </a:bodyPr>
          <a:lstStyle/>
          <a:p>
            <a:pPr fontAlgn="base"/>
            <a:r>
              <a:rPr lang="en-IN" b="1" dirty="0"/>
              <a:t>Challenges</a:t>
            </a:r>
          </a:p>
        </p:txBody>
      </p:sp>
      <p:graphicFrame>
        <p:nvGraphicFramePr>
          <p:cNvPr id="3" name="Table 2">
            <a:extLst>
              <a:ext uri="{FF2B5EF4-FFF2-40B4-BE49-F238E27FC236}">
                <a16:creationId xmlns:a16="http://schemas.microsoft.com/office/drawing/2014/main" id="{D7C80B7E-A4EA-66F3-161B-37724FDDA251}"/>
              </a:ext>
            </a:extLst>
          </p:cNvPr>
          <p:cNvGraphicFramePr>
            <a:graphicFrameLocks noGrp="1"/>
          </p:cNvGraphicFramePr>
          <p:nvPr/>
        </p:nvGraphicFramePr>
        <p:xfrm>
          <a:off x="677864" y="2196768"/>
          <a:ext cx="8596310" cy="1341120"/>
        </p:xfrm>
        <a:graphic>
          <a:graphicData uri="http://schemas.openxmlformats.org/drawingml/2006/table">
            <a:tbl>
              <a:tblPr/>
              <a:tblGrid>
                <a:gridCol w="1719262">
                  <a:extLst>
                    <a:ext uri="{9D8B030D-6E8A-4147-A177-3AD203B41FA5}">
                      <a16:colId xmlns:a16="http://schemas.microsoft.com/office/drawing/2014/main" val="704808204"/>
                    </a:ext>
                  </a:extLst>
                </a:gridCol>
                <a:gridCol w="1719262">
                  <a:extLst>
                    <a:ext uri="{9D8B030D-6E8A-4147-A177-3AD203B41FA5}">
                      <a16:colId xmlns:a16="http://schemas.microsoft.com/office/drawing/2014/main" val="475278823"/>
                    </a:ext>
                  </a:extLst>
                </a:gridCol>
                <a:gridCol w="1719262">
                  <a:extLst>
                    <a:ext uri="{9D8B030D-6E8A-4147-A177-3AD203B41FA5}">
                      <a16:colId xmlns:a16="http://schemas.microsoft.com/office/drawing/2014/main" val="2372472516"/>
                    </a:ext>
                  </a:extLst>
                </a:gridCol>
                <a:gridCol w="1719262">
                  <a:extLst>
                    <a:ext uri="{9D8B030D-6E8A-4147-A177-3AD203B41FA5}">
                      <a16:colId xmlns:a16="http://schemas.microsoft.com/office/drawing/2014/main" val="1134657306"/>
                    </a:ext>
                  </a:extLst>
                </a:gridCol>
                <a:gridCol w="1719262">
                  <a:extLst>
                    <a:ext uri="{9D8B030D-6E8A-4147-A177-3AD203B41FA5}">
                      <a16:colId xmlns:a16="http://schemas.microsoft.com/office/drawing/2014/main" val="1108145486"/>
                    </a:ext>
                  </a:extLst>
                </a:gridCol>
              </a:tblGrid>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149245092"/>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2859030564"/>
                  </a:ext>
                </a:extLst>
              </a:tr>
              <a:tr h="0">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extLst>
                  <a:ext uri="{0D108BD9-81ED-4DB2-BD59-A6C34878D82A}">
                    <a16:rowId xmlns:a16="http://schemas.microsoft.com/office/drawing/2014/main" val="3343779515"/>
                  </a:ext>
                </a:extLst>
              </a:tr>
              <a:tr h="0">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a:p>
                  </a:txBody>
                  <a:tcPr anchor="ctr">
                    <a:lnL>
                      <a:noFill/>
                    </a:lnL>
                    <a:lnR>
                      <a:noFill/>
                    </a:lnR>
                    <a:lnT>
                      <a:noFill/>
                    </a:lnT>
                    <a:lnB>
                      <a:noFill/>
                    </a:lnB>
                    <a:noFill/>
                  </a:tcPr>
                </a:tc>
                <a:tc>
                  <a:txBody>
                    <a:bodyPr/>
                    <a:lstStyle/>
                    <a:p>
                      <a:pPr>
                        <a:buNone/>
                      </a:pPr>
                      <a:endParaRPr lang="en-IN" sz="1600" dirty="0"/>
                    </a:p>
                  </a:txBody>
                  <a:tcPr anchor="ctr">
                    <a:lnL>
                      <a:noFill/>
                    </a:lnL>
                    <a:lnR>
                      <a:noFill/>
                    </a:lnR>
                    <a:lnT>
                      <a:noFill/>
                    </a:lnT>
                    <a:lnB>
                      <a:noFill/>
                    </a:lnB>
                    <a:noFill/>
                  </a:tcPr>
                </a:tc>
                <a:extLst>
                  <a:ext uri="{0D108BD9-81ED-4DB2-BD59-A6C34878D82A}">
                    <a16:rowId xmlns:a16="http://schemas.microsoft.com/office/drawing/2014/main" val="1262741696"/>
                  </a:ext>
                </a:extLst>
              </a:tr>
            </a:tbl>
          </a:graphicData>
        </a:graphic>
      </p:graphicFrame>
      <p:sp>
        <p:nvSpPr>
          <p:cNvPr id="6" name="TextBox 5">
            <a:extLst>
              <a:ext uri="{FF2B5EF4-FFF2-40B4-BE49-F238E27FC236}">
                <a16:creationId xmlns:a16="http://schemas.microsoft.com/office/drawing/2014/main" id="{28102294-768B-C4FA-FBFF-3BAEC404C256}"/>
              </a:ext>
            </a:extLst>
          </p:cNvPr>
          <p:cNvSpPr txBox="1"/>
          <p:nvPr/>
        </p:nvSpPr>
        <p:spPr>
          <a:xfrm>
            <a:off x="531975" y="888642"/>
            <a:ext cx="8833698" cy="4019370"/>
          </a:xfrm>
          <a:prstGeom prst="rect">
            <a:avLst/>
          </a:prstGeom>
          <a:noFill/>
        </p:spPr>
        <p:txBody>
          <a:bodyPr wrap="square">
            <a:spAutoFit/>
          </a:bodyPr>
          <a:lstStyle/>
          <a:p>
            <a:pPr marL="285750" lvl="0" indent="-285750" fontAlgn="base">
              <a:buFont typeface="Arial" panose="020B0604020202020204" pitchFamily="34" charset="0"/>
              <a:buChar char="•"/>
            </a:pPr>
            <a:r>
              <a:rPr lang="en-IN" sz="1600" b="1" dirty="0"/>
              <a:t>Quality and Accuracy</a:t>
            </a:r>
            <a:r>
              <a:rPr lang="en-IN" sz="1600" dirty="0"/>
              <a:t>: If data is wrong or incomplete, the insights we get will also be wrong.</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Volume and Complexity</a:t>
            </a:r>
            <a:r>
              <a:rPr lang="en-IN" sz="1600" dirty="0"/>
              <a:t>: There is a huge amount of data in many formats, which can be hard to handle with normal tools.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Privacy and Ethics</a:t>
            </a:r>
            <a:r>
              <a:rPr lang="en-IN" sz="1600" dirty="0"/>
              <a:t>: Personal data must be protected to avoid misuse and to follow laws like GDPR or CCPA.</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Bias and Fairness</a:t>
            </a:r>
            <a:r>
              <a:rPr lang="en-IN" sz="1600" dirty="0"/>
              <a:t>: If data reflects existing biases, AI or machine learning can make unfair decisions.</a:t>
            </a:r>
          </a:p>
          <a:p>
            <a:pPr marL="285750" lvl="0" indent="-285750" fontAlgn="base">
              <a:buFont typeface="Arial" panose="020B0604020202020204" pitchFamily="34" charset="0"/>
              <a:buChar char="•"/>
            </a:pPr>
            <a:endParaRPr lang="en-IN" sz="1600" dirty="0"/>
          </a:p>
          <a:p>
            <a:pPr marL="285750" lvl="0" indent="-285750" fontAlgn="base">
              <a:buFont typeface="Arial" panose="020B0604020202020204" pitchFamily="34" charset="0"/>
              <a:buChar char="•"/>
            </a:pPr>
            <a:r>
              <a:rPr lang="en-IN" sz="1600" b="1" dirty="0"/>
              <a:t>Management Effort</a:t>
            </a:r>
            <a:r>
              <a:rPr lang="en-IN" sz="1600" dirty="0"/>
              <a:t>: Storing, processing and maintaining data can be costly and time-consuming.</a:t>
            </a:r>
          </a:p>
          <a:p>
            <a:pPr marL="285750" marR="0" indent="-285750" algn="l" fontAlgn="base">
              <a:lnSpc>
                <a:spcPts val="2100"/>
              </a:lnSpc>
              <a:spcBef>
                <a:spcPts val="1800"/>
              </a:spcBef>
              <a:spcAft>
                <a:spcPts val="1800"/>
              </a:spcAft>
              <a:buFont typeface="Arial" panose="020B0604020202020204" pitchFamily="34" charset="0"/>
              <a:buChar char="•"/>
            </a:pPr>
            <a:endParaRPr lang="en-IN" sz="1600" b="0" i="0" spc="10" dirty="0">
              <a:solidFill>
                <a:srgbClr val="273239"/>
              </a:solidFill>
              <a:effectLst/>
            </a:endParaRPr>
          </a:p>
        </p:txBody>
      </p:sp>
    </p:spTree>
    <p:extLst>
      <p:ext uri="{BB962C8B-B14F-4D97-AF65-F5344CB8AC3E}">
        <p14:creationId xmlns:p14="http://schemas.microsoft.com/office/powerpoint/2010/main" val="41360063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257CA-FBAB-6B3F-6128-338195885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DBBD16-6736-C089-310A-5743B6F08500}"/>
              </a:ext>
            </a:extLst>
          </p:cNvPr>
          <p:cNvSpPr>
            <a:spLocks noGrp="1"/>
          </p:cNvSpPr>
          <p:nvPr>
            <p:ph type="title"/>
          </p:nvPr>
        </p:nvSpPr>
        <p:spPr>
          <a:xfrm>
            <a:off x="585894" y="188976"/>
            <a:ext cx="8596668" cy="697992"/>
          </a:xfrm>
        </p:spPr>
        <p:txBody>
          <a:bodyPr>
            <a:normAutofit/>
          </a:bodyPr>
          <a:lstStyle/>
          <a:p>
            <a:r>
              <a:rPr lang="en-IN" dirty="0"/>
              <a:t>AI Spectrum</a:t>
            </a:r>
          </a:p>
        </p:txBody>
      </p:sp>
      <p:pic>
        <p:nvPicPr>
          <p:cNvPr id="7" name="Picture 6">
            <a:extLst>
              <a:ext uri="{FF2B5EF4-FFF2-40B4-BE49-F238E27FC236}">
                <a16:creationId xmlns:a16="http://schemas.microsoft.com/office/drawing/2014/main" id="{3E25EDD4-6004-7666-7F59-ADAF6D74F8B8}"/>
              </a:ext>
            </a:extLst>
          </p:cNvPr>
          <p:cNvPicPr>
            <a:picLocks noChangeAspect="1"/>
          </p:cNvPicPr>
          <p:nvPr/>
        </p:nvPicPr>
        <p:blipFill>
          <a:blip r:embed="rId2"/>
          <a:stretch>
            <a:fillRect/>
          </a:stretch>
        </p:blipFill>
        <p:spPr>
          <a:xfrm>
            <a:off x="987552" y="1297452"/>
            <a:ext cx="8394192" cy="4740636"/>
          </a:xfrm>
          <a:prstGeom prst="rect">
            <a:avLst/>
          </a:prstGeom>
        </p:spPr>
      </p:pic>
    </p:spTree>
    <p:extLst>
      <p:ext uri="{BB962C8B-B14F-4D97-AF65-F5344CB8AC3E}">
        <p14:creationId xmlns:p14="http://schemas.microsoft.com/office/powerpoint/2010/main" val="37178873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BB58-9679-1409-2EE7-9E45D47FA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B35A7-254E-2B5C-5678-97EB619D1B2A}"/>
              </a:ext>
            </a:extLst>
          </p:cNvPr>
          <p:cNvSpPr>
            <a:spLocks noGrp="1"/>
          </p:cNvSpPr>
          <p:nvPr>
            <p:ph type="title"/>
          </p:nvPr>
        </p:nvSpPr>
        <p:spPr>
          <a:xfrm>
            <a:off x="677334" y="225552"/>
            <a:ext cx="8596668" cy="789432"/>
          </a:xfrm>
        </p:spPr>
        <p:txBody>
          <a:bodyPr>
            <a:normAutofit/>
          </a:bodyPr>
          <a:lstStyle/>
          <a:p>
            <a:r>
              <a:rPr lang="en-IN" dirty="0"/>
              <a:t>AI Spectrum - Symbolic AI</a:t>
            </a:r>
          </a:p>
        </p:txBody>
      </p:sp>
      <p:sp>
        <p:nvSpPr>
          <p:cNvPr id="4" name="Content Placeholder 3">
            <a:extLst>
              <a:ext uri="{FF2B5EF4-FFF2-40B4-BE49-F238E27FC236}">
                <a16:creationId xmlns:a16="http://schemas.microsoft.com/office/drawing/2014/main" id="{49322040-C024-BB49-7F25-553DBF149B6D}"/>
              </a:ext>
            </a:extLst>
          </p:cNvPr>
          <p:cNvSpPr>
            <a:spLocks noGrp="1"/>
          </p:cNvSpPr>
          <p:nvPr>
            <p:ph idx="1"/>
          </p:nvPr>
        </p:nvSpPr>
        <p:spPr>
          <a:xfrm>
            <a:off x="748279" y="1014984"/>
            <a:ext cx="8596668" cy="5328031"/>
          </a:xfrm>
        </p:spPr>
        <p:txBody>
          <a:bodyPr>
            <a:noAutofit/>
          </a:bodyPr>
          <a:lstStyle/>
          <a:p>
            <a:pPr marL="0" indent="0">
              <a:buNone/>
            </a:pPr>
            <a:r>
              <a:rPr lang="en-US" sz="1600" dirty="0"/>
              <a:t>Symbolic AI uses a rule-based system to mimic human decision-making. Essentially, symbolic AI represents knowledge using symbols and logical rules.</a:t>
            </a:r>
          </a:p>
          <a:p>
            <a:pPr marL="0" indent="0">
              <a:buNone/>
            </a:pPr>
            <a:r>
              <a:rPr lang="en-US" sz="1600" b="1" dirty="0"/>
              <a:t>Symbolic AI</a:t>
            </a:r>
            <a:r>
              <a:rPr lang="en-US" sz="1600" dirty="0"/>
              <a:t> is one of the earliest approaches to artificial intelligence where knowledge is represented using </a:t>
            </a:r>
            <a:r>
              <a:rPr lang="en-US" sz="1600" b="1" dirty="0"/>
              <a:t>symbols, rules, and logic created by humans</a:t>
            </a:r>
            <a:r>
              <a:rPr lang="en-US" sz="1600" dirty="0"/>
              <a:t>.</a:t>
            </a:r>
          </a:p>
          <a:p>
            <a:pPr marL="0" indent="0">
              <a:buNone/>
            </a:pPr>
            <a:r>
              <a:rPr lang="en-US" sz="1600" dirty="0"/>
              <a:t>In symbolic AI, computers solve problems using:</a:t>
            </a:r>
          </a:p>
          <a:p>
            <a:r>
              <a:rPr lang="en-US" sz="1600" b="1" dirty="0"/>
              <a:t>Rules</a:t>
            </a:r>
            <a:endParaRPr lang="en-US" sz="1600" dirty="0"/>
          </a:p>
          <a:p>
            <a:r>
              <a:rPr lang="en-US" sz="1600" b="1" dirty="0"/>
              <a:t>Logic and relationships</a:t>
            </a:r>
            <a:endParaRPr lang="en-US" sz="1600" dirty="0"/>
          </a:p>
          <a:p>
            <a:r>
              <a:rPr lang="en-US" sz="1600" b="1" dirty="0"/>
              <a:t>Knowledge representations</a:t>
            </a:r>
            <a:endParaRPr lang="en-US" sz="1600" dirty="0"/>
          </a:p>
          <a:p>
            <a:r>
              <a:rPr lang="en-US" sz="1600" b="1" dirty="0"/>
              <a:t>Reasoning systems</a:t>
            </a:r>
            <a:endParaRPr lang="en-US" sz="1600" dirty="0"/>
          </a:p>
          <a:p>
            <a:pPr marL="0" indent="0">
              <a:buNone/>
            </a:pPr>
            <a:r>
              <a:rPr lang="en-US" sz="1600" dirty="0"/>
              <a:t>Simple definition:</a:t>
            </a:r>
          </a:p>
          <a:p>
            <a:r>
              <a:rPr lang="en-US" sz="1600" b="1" dirty="0"/>
              <a:t>Symbolic AI = AI that works using human-defined rules and logical reasoning.</a:t>
            </a:r>
            <a:endParaRPr lang="en-US" sz="1600" dirty="0"/>
          </a:p>
          <a:p>
            <a:r>
              <a:rPr lang="en-US" sz="1600" dirty="0"/>
              <a:t>Example rule:</a:t>
            </a:r>
          </a:p>
          <a:p>
            <a:r>
              <a:rPr lang="en-US" sz="1600" dirty="0"/>
              <a:t>IF temperature &gt; 38°C</a:t>
            </a:r>
            <a:br>
              <a:rPr lang="en-US" sz="1600" dirty="0"/>
            </a:br>
            <a:r>
              <a:rPr lang="en-US" sz="1600" dirty="0"/>
              <a:t>THEN </a:t>
            </a:r>
            <a:r>
              <a:rPr lang="en-US" sz="1600" dirty="0" err="1"/>
              <a:t>patient_has_fever</a:t>
            </a:r>
            <a:r>
              <a:rPr lang="en-US" sz="1600" dirty="0"/>
              <a:t> = TRUE</a:t>
            </a:r>
          </a:p>
          <a:p>
            <a:r>
              <a:rPr lang="en-US" sz="1600" dirty="0"/>
              <a:t>The system evaluates rules like this to make decisions.</a:t>
            </a:r>
          </a:p>
          <a:p>
            <a:pPr marL="0" indent="0">
              <a:buNone/>
            </a:pPr>
            <a:r>
              <a:rPr lang="en-US" sz="1600" dirty="0"/>
              <a:t> </a:t>
            </a:r>
            <a:endParaRPr lang="en-IN" sz="1600" dirty="0"/>
          </a:p>
        </p:txBody>
      </p:sp>
    </p:spTree>
    <p:extLst>
      <p:ext uri="{BB962C8B-B14F-4D97-AF65-F5344CB8AC3E}">
        <p14:creationId xmlns:p14="http://schemas.microsoft.com/office/powerpoint/2010/main" val="15883037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630A3-7D48-D202-1842-630B42F06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0AD5BF-29DC-E852-0440-6023E20205E8}"/>
              </a:ext>
            </a:extLst>
          </p:cNvPr>
          <p:cNvSpPr>
            <a:spLocks noGrp="1"/>
          </p:cNvSpPr>
          <p:nvPr>
            <p:ph type="title"/>
          </p:nvPr>
        </p:nvSpPr>
        <p:spPr>
          <a:xfrm>
            <a:off x="677334" y="225552"/>
            <a:ext cx="8596668" cy="789432"/>
          </a:xfrm>
        </p:spPr>
        <p:txBody>
          <a:bodyPr>
            <a:normAutofit/>
          </a:bodyPr>
          <a:lstStyle/>
          <a:p>
            <a:r>
              <a:rPr lang="en-IN" dirty="0"/>
              <a:t>AI Spectrum - Symbolic AI</a:t>
            </a:r>
          </a:p>
        </p:txBody>
      </p:sp>
      <p:pic>
        <p:nvPicPr>
          <p:cNvPr id="7" name="Picture 6">
            <a:extLst>
              <a:ext uri="{FF2B5EF4-FFF2-40B4-BE49-F238E27FC236}">
                <a16:creationId xmlns:a16="http://schemas.microsoft.com/office/drawing/2014/main" id="{D0A3B993-4A59-B46C-764F-7FDE89BE5831}"/>
              </a:ext>
            </a:extLst>
          </p:cNvPr>
          <p:cNvPicPr>
            <a:picLocks noChangeAspect="1"/>
          </p:cNvPicPr>
          <p:nvPr/>
        </p:nvPicPr>
        <p:blipFill>
          <a:blip r:embed="rId2"/>
          <a:stretch>
            <a:fillRect/>
          </a:stretch>
        </p:blipFill>
        <p:spPr>
          <a:xfrm>
            <a:off x="1180204" y="1346364"/>
            <a:ext cx="6921529" cy="4648052"/>
          </a:xfrm>
          <a:prstGeom prst="rect">
            <a:avLst/>
          </a:prstGeom>
        </p:spPr>
      </p:pic>
    </p:spTree>
    <p:extLst>
      <p:ext uri="{BB962C8B-B14F-4D97-AF65-F5344CB8AC3E}">
        <p14:creationId xmlns:p14="http://schemas.microsoft.com/office/powerpoint/2010/main" val="3135027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6AEFE-D1B0-3AD6-6085-0E2BCE60F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6F2B6-F3EC-3172-76FA-55605A653965}"/>
              </a:ext>
            </a:extLst>
          </p:cNvPr>
          <p:cNvSpPr>
            <a:spLocks noGrp="1"/>
          </p:cNvSpPr>
          <p:nvPr>
            <p:ph type="title"/>
          </p:nvPr>
        </p:nvSpPr>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C51D0985-ED7A-CD2D-C2EF-62E3D0C2D231}"/>
              </a:ext>
            </a:extLst>
          </p:cNvPr>
          <p:cNvSpPr>
            <a:spLocks noGrp="1"/>
          </p:cNvSpPr>
          <p:nvPr>
            <p:ph idx="1"/>
          </p:nvPr>
        </p:nvSpPr>
        <p:spPr>
          <a:xfrm>
            <a:off x="771927" y="1569383"/>
            <a:ext cx="8596668" cy="3880773"/>
          </a:xfrm>
        </p:spPr>
        <p:txBody>
          <a:bodyPr>
            <a:noAutofit/>
          </a:bodyPr>
          <a:lstStyle/>
          <a:p>
            <a:pPr marL="0" indent="0">
              <a:buNone/>
            </a:pPr>
            <a:r>
              <a:rPr lang="en-US" sz="1600" dirty="0"/>
              <a:t>Why it is called “Symbolic” AI</a:t>
            </a:r>
          </a:p>
          <a:p>
            <a:pPr marL="0" indent="0">
              <a:buNone/>
            </a:pPr>
            <a:r>
              <a:rPr lang="en-US" sz="1600" dirty="0"/>
              <a:t>It is called symbolic because knowledge is represented using symbols that represent real-world objects or concepts.</a:t>
            </a:r>
          </a:p>
          <a:p>
            <a:pPr marL="0" indent="0">
              <a:buNone/>
            </a:pPr>
            <a:r>
              <a:rPr lang="en-US" sz="1600" b="1" dirty="0"/>
              <a:t>Symbol	Meaning</a:t>
            </a:r>
          </a:p>
          <a:p>
            <a:pPr marL="0" indent="0">
              <a:buNone/>
            </a:pPr>
            <a:r>
              <a:rPr lang="en-US" sz="1600" b="1" dirty="0"/>
              <a:t>Fever</a:t>
            </a:r>
            <a:r>
              <a:rPr lang="en-US" sz="1600" dirty="0"/>
              <a:t>	Patient temperature above threshold</a:t>
            </a:r>
          </a:p>
          <a:p>
            <a:pPr marL="0" indent="0">
              <a:buNone/>
            </a:pPr>
            <a:r>
              <a:rPr lang="en-US" sz="1600" dirty="0"/>
              <a:t>Rain	Weather condition</a:t>
            </a:r>
          </a:p>
          <a:p>
            <a:pPr marL="0" indent="0">
              <a:buNone/>
            </a:pPr>
            <a:r>
              <a:rPr lang="en-US" sz="1600" b="1" dirty="0" err="1"/>
              <a:t>Wet_ground</a:t>
            </a:r>
            <a:r>
              <a:rPr lang="en-US" sz="1600" dirty="0"/>
              <a:t>	Result of rain</a:t>
            </a:r>
          </a:p>
          <a:p>
            <a:pPr marL="0" indent="0">
              <a:buNone/>
            </a:pPr>
            <a:r>
              <a:rPr lang="en-US" sz="1600" dirty="0"/>
              <a:t>Example relationship:</a:t>
            </a:r>
          </a:p>
          <a:p>
            <a:pPr marL="0" indent="0">
              <a:buNone/>
            </a:pPr>
            <a:r>
              <a:rPr lang="en-US" sz="1600" dirty="0"/>
              <a:t>Rain → </a:t>
            </a:r>
            <a:r>
              <a:rPr lang="en-US" sz="1600" u="sng" dirty="0" err="1"/>
              <a:t>Wet_ground</a:t>
            </a:r>
            <a:endParaRPr lang="en-US" sz="1600" u="sng" dirty="0"/>
          </a:p>
          <a:p>
            <a:pPr marL="0" indent="0">
              <a:buNone/>
            </a:pPr>
            <a:r>
              <a:rPr lang="en-US" sz="1600" dirty="0"/>
              <a:t>The AI uses these symbols and relationships to perform reasoning.</a:t>
            </a:r>
            <a:endParaRPr lang="en-IN" sz="1600" dirty="0"/>
          </a:p>
        </p:txBody>
      </p:sp>
    </p:spTree>
    <p:extLst>
      <p:ext uri="{BB962C8B-B14F-4D97-AF65-F5344CB8AC3E}">
        <p14:creationId xmlns:p14="http://schemas.microsoft.com/office/powerpoint/2010/main" val="18062234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2E088-5106-2224-E352-4BA05FACDA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88811-D970-5F39-B67B-1D75F64E9644}"/>
              </a:ext>
            </a:extLst>
          </p:cNvPr>
          <p:cNvSpPr>
            <a:spLocks noGrp="1"/>
          </p:cNvSpPr>
          <p:nvPr>
            <p:ph type="title"/>
          </p:nvPr>
        </p:nvSpPr>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BC5CCDB4-F845-92C6-4586-AC0CF73A96A2}"/>
              </a:ext>
            </a:extLst>
          </p:cNvPr>
          <p:cNvSpPr>
            <a:spLocks noGrp="1"/>
          </p:cNvSpPr>
          <p:nvPr>
            <p:ph idx="1"/>
          </p:nvPr>
        </p:nvSpPr>
        <p:spPr>
          <a:xfrm>
            <a:off x="771927" y="1569383"/>
            <a:ext cx="8596668" cy="4910245"/>
          </a:xfrm>
        </p:spPr>
        <p:txBody>
          <a:bodyPr>
            <a:noAutofit/>
          </a:bodyPr>
          <a:lstStyle/>
          <a:p>
            <a:pPr marL="0" indent="0">
              <a:buNone/>
            </a:pPr>
            <a:r>
              <a:rPr lang="en-US" sz="1600" b="1" dirty="0"/>
              <a:t>Example of Symbolic AI System</a:t>
            </a:r>
          </a:p>
          <a:p>
            <a:pPr marL="0" indent="0">
              <a:buNone/>
            </a:pPr>
            <a:r>
              <a:rPr lang="en-US" sz="1600" dirty="0"/>
              <a:t>Expert systems are the most famous symbolic AI systems.</a:t>
            </a:r>
          </a:p>
          <a:p>
            <a:r>
              <a:rPr lang="en-US" sz="1600" dirty="0"/>
              <a:t>They mimic </a:t>
            </a:r>
            <a:r>
              <a:rPr lang="en-US" sz="1600" b="1" dirty="0"/>
              <a:t>human expert decision-making</a:t>
            </a:r>
            <a:r>
              <a:rPr lang="en-US" sz="1600" dirty="0"/>
              <a:t>.</a:t>
            </a:r>
          </a:p>
          <a:p>
            <a:r>
              <a:rPr lang="en-US" sz="1600" dirty="0"/>
              <a:t>Example: Medical diagnosis system.</a:t>
            </a:r>
          </a:p>
          <a:p>
            <a:pPr marL="0" indent="0">
              <a:buNone/>
            </a:pPr>
            <a:r>
              <a:rPr lang="en-US" sz="1600" dirty="0"/>
              <a:t>Rules:</a:t>
            </a:r>
          </a:p>
          <a:p>
            <a:r>
              <a:rPr lang="en-US" sz="1600" dirty="0"/>
              <a:t>IF fever AND cough</a:t>
            </a:r>
            <a:br>
              <a:rPr lang="en-US" sz="1600" dirty="0"/>
            </a:br>
            <a:r>
              <a:rPr lang="en-US" sz="1600" dirty="0"/>
              <a:t>THEN possible disease = flu</a:t>
            </a:r>
          </a:p>
          <a:p>
            <a:r>
              <a:rPr lang="en-US" sz="1600" dirty="0"/>
              <a:t>Input:</a:t>
            </a:r>
          </a:p>
          <a:p>
            <a:r>
              <a:rPr lang="en-US" sz="1600" dirty="0"/>
              <a:t>fever = TRUE</a:t>
            </a:r>
            <a:br>
              <a:rPr lang="en-US" sz="1600" dirty="0"/>
            </a:br>
            <a:r>
              <a:rPr lang="en-US" sz="1600" dirty="0"/>
              <a:t>cough = TRUE</a:t>
            </a:r>
          </a:p>
          <a:p>
            <a:r>
              <a:rPr lang="en-US" sz="1600" dirty="0"/>
              <a:t>Output:</a:t>
            </a:r>
          </a:p>
          <a:p>
            <a:r>
              <a:rPr lang="en-US" sz="1600" dirty="0"/>
              <a:t>Diagnosis = Flu</a:t>
            </a:r>
          </a:p>
          <a:p>
            <a:pPr marL="0" indent="0">
              <a:buNone/>
            </a:pPr>
            <a:endParaRPr lang="en-IN" sz="1600" dirty="0"/>
          </a:p>
        </p:txBody>
      </p:sp>
    </p:spTree>
    <p:extLst>
      <p:ext uri="{BB962C8B-B14F-4D97-AF65-F5344CB8AC3E}">
        <p14:creationId xmlns:p14="http://schemas.microsoft.com/office/powerpoint/2010/main" val="35546922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F7C12-A24F-C7AE-C311-42488D26D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E9945-214D-2F3B-8971-154D4315EB5D}"/>
              </a:ext>
            </a:extLst>
          </p:cNvPr>
          <p:cNvSpPr>
            <a:spLocks noGrp="1"/>
          </p:cNvSpPr>
          <p:nvPr>
            <p:ph type="title"/>
          </p:nvPr>
        </p:nvSpPr>
        <p:spPr>
          <a:xfrm>
            <a:off x="622470" y="248583"/>
            <a:ext cx="8596668" cy="1320800"/>
          </a:xfrm>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E8B8F0C2-391E-6A79-C3BA-AC4B47D6DC83}"/>
              </a:ext>
            </a:extLst>
          </p:cNvPr>
          <p:cNvSpPr>
            <a:spLocks noGrp="1"/>
          </p:cNvSpPr>
          <p:nvPr>
            <p:ph idx="1"/>
          </p:nvPr>
        </p:nvSpPr>
        <p:spPr>
          <a:xfrm>
            <a:off x="4037946" y="1261872"/>
            <a:ext cx="2500668" cy="497161"/>
          </a:xfrm>
        </p:spPr>
        <p:txBody>
          <a:bodyPr>
            <a:noAutofit/>
          </a:bodyPr>
          <a:lstStyle/>
          <a:p>
            <a:pPr marL="0" indent="0">
              <a:buNone/>
            </a:pPr>
            <a:r>
              <a:rPr lang="en-IN" sz="1600" b="1" dirty="0"/>
              <a:t>Types of Symbolic AI</a:t>
            </a:r>
          </a:p>
          <a:p>
            <a:endParaRPr lang="en-US" sz="1600" dirty="0"/>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IN" sz="1600" dirty="0"/>
          </a:p>
        </p:txBody>
      </p:sp>
      <p:sp>
        <p:nvSpPr>
          <p:cNvPr id="3" name="Rectangle: Rounded Corners 2">
            <a:extLst>
              <a:ext uri="{FF2B5EF4-FFF2-40B4-BE49-F238E27FC236}">
                <a16:creationId xmlns:a16="http://schemas.microsoft.com/office/drawing/2014/main" id="{DA26F1EF-B87D-885B-00CF-40B69AE036F1}"/>
              </a:ext>
            </a:extLst>
          </p:cNvPr>
          <p:cNvSpPr/>
          <p:nvPr/>
        </p:nvSpPr>
        <p:spPr>
          <a:xfrm>
            <a:off x="521208" y="2615184"/>
            <a:ext cx="2392680" cy="1124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b="1" dirty="0">
                <a:solidFill>
                  <a:schemeClr val="tx1"/>
                </a:solidFill>
              </a:rPr>
              <a:t>Rule-Based </a:t>
            </a:r>
          </a:p>
          <a:p>
            <a:r>
              <a:rPr lang="en-US" sz="1600" b="1" dirty="0">
                <a:solidFill>
                  <a:schemeClr val="tx1"/>
                </a:solidFill>
              </a:rPr>
              <a:t>Systems </a:t>
            </a:r>
            <a:r>
              <a:rPr lang="en-US" b="1" dirty="0">
                <a:solidFill>
                  <a:schemeClr val="accent1"/>
                </a:solidFill>
              </a:rPr>
              <a:t>Based Systems</a:t>
            </a:r>
            <a:endParaRPr lang="en-IN" dirty="0"/>
          </a:p>
        </p:txBody>
      </p:sp>
      <p:sp>
        <p:nvSpPr>
          <p:cNvPr id="7" name="Rectangle: Rounded Corners 6">
            <a:extLst>
              <a:ext uri="{FF2B5EF4-FFF2-40B4-BE49-F238E27FC236}">
                <a16:creationId xmlns:a16="http://schemas.microsoft.com/office/drawing/2014/main" id="{DEBCFE63-B26D-9953-F197-B39E453F3580}"/>
              </a:ext>
            </a:extLst>
          </p:cNvPr>
          <p:cNvSpPr/>
          <p:nvPr/>
        </p:nvSpPr>
        <p:spPr>
          <a:xfrm>
            <a:off x="3352800" y="2606040"/>
            <a:ext cx="2194560" cy="1124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Logic-Based AI</a:t>
            </a:r>
          </a:p>
          <a:p>
            <a:pPr algn="ctr"/>
            <a:r>
              <a:rPr lang="en-US" b="1" dirty="0">
                <a:solidFill>
                  <a:schemeClr val="accent1"/>
                </a:solidFill>
              </a:rPr>
              <a:t>Search-Based AI</a:t>
            </a:r>
          </a:p>
          <a:p>
            <a:pPr algn="ctr"/>
            <a:endParaRPr lang="en-IN" dirty="0">
              <a:solidFill>
                <a:schemeClr val="tx1"/>
              </a:solidFill>
            </a:endParaRPr>
          </a:p>
        </p:txBody>
      </p:sp>
      <p:sp>
        <p:nvSpPr>
          <p:cNvPr id="9" name="Rectangle: Rounded Corners 8">
            <a:extLst>
              <a:ext uri="{FF2B5EF4-FFF2-40B4-BE49-F238E27FC236}">
                <a16:creationId xmlns:a16="http://schemas.microsoft.com/office/drawing/2014/main" id="{047A1143-0CE8-B492-CEF1-C73E3D7D2468}"/>
              </a:ext>
            </a:extLst>
          </p:cNvPr>
          <p:cNvSpPr/>
          <p:nvPr/>
        </p:nvSpPr>
        <p:spPr>
          <a:xfrm>
            <a:off x="6016752" y="2606040"/>
            <a:ext cx="2194560" cy="1124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Knowledge Representation Systems</a:t>
            </a:r>
            <a:endParaRPr lang="en-IN" dirty="0">
              <a:solidFill>
                <a:schemeClr val="tx1"/>
              </a:solidFill>
            </a:endParaRPr>
          </a:p>
        </p:txBody>
      </p:sp>
      <p:sp>
        <p:nvSpPr>
          <p:cNvPr id="11" name="Rectangle: Rounded Corners 10">
            <a:extLst>
              <a:ext uri="{FF2B5EF4-FFF2-40B4-BE49-F238E27FC236}">
                <a16:creationId xmlns:a16="http://schemas.microsoft.com/office/drawing/2014/main" id="{67034A60-DB06-0728-9E1E-091E6AF3F57F}"/>
              </a:ext>
            </a:extLst>
          </p:cNvPr>
          <p:cNvSpPr/>
          <p:nvPr/>
        </p:nvSpPr>
        <p:spPr>
          <a:xfrm>
            <a:off x="8680704" y="2606040"/>
            <a:ext cx="2194560" cy="1124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Planning Systems</a:t>
            </a:r>
            <a:endParaRPr lang="en-IN" dirty="0">
              <a:solidFill>
                <a:schemeClr val="tx1"/>
              </a:solidFill>
            </a:endParaRPr>
          </a:p>
        </p:txBody>
      </p:sp>
      <p:sp>
        <p:nvSpPr>
          <p:cNvPr id="17" name="Rectangle: Rounded Corners 16">
            <a:extLst>
              <a:ext uri="{FF2B5EF4-FFF2-40B4-BE49-F238E27FC236}">
                <a16:creationId xmlns:a16="http://schemas.microsoft.com/office/drawing/2014/main" id="{22CDA42F-F6F8-FF09-EFE1-59C9FE7AFA7A}"/>
              </a:ext>
            </a:extLst>
          </p:cNvPr>
          <p:cNvSpPr/>
          <p:nvPr/>
        </p:nvSpPr>
        <p:spPr>
          <a:xfrm>
            <a:off x="4191000" y="4471416"/>
            <a:ext cx="2194560" cy="112471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Search Based AI</a:t>
            </a:r>
            <a:endParaRPr lang="en-IN" dirty="0">
              <a:solidFill>
                <a:schemeClr val="tx1"/>
              </a:solidFill>
            </a:endParaRPr>
          </a:p>
        </p:txBody>
      </p:sp>
      <p:cxnSp>
        <p:nvCxnSpPr>
          <p:cNvPr id="19" name="Straight Arrow Connector 18">
            <a:extLst>
              <a:ext uri="{FF2B5EF4-FFF2-40B4-BE49-F238E27FC236}">
                <a16:creationId xmlns:a16="http://schemas.microsoft.com/office/drawing/2014/main" id="{C527CC3C-FFE7-A47B-1C0D-F1A3CECC8663}"/>
              </a:ext>
            </a:extLst>
          </p:cNvPr>
          <p:cNvCxnSpPr>
            <a:endCxn id="3" idx="0"/>
          </p:cNvCxnSpPr>
          <p:nvPr/>
        </p:nvCxnSpPr>
        <p:spPr>
          <a:xfrm flipH="1">
            <a:off x="1717548" y="1737360"/>
            <a:ext cx="2964180" cy="877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8A6B766-2ED6-75CC-0A92-3BC466B7A081}"/>
              </a:ext>
            </a:extLst>
          </p:cNvPr>
          <p:cNvCxnSpPr/>
          <p:nvPr/>
        </p:nvCxnSpPr>
        <p:spPr>
          <a:xfrm>
            <a:off x="4700016" y="1759033"/>
            <a:ext cx="0" cy="856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7CAFE7C-2029-F959-0798-A0A02B8ACC72}"/>
              </a:ext>
            </a:extLst>
          </p:cNvPr>
          <p:cNvCxnSpPr/>
          <p:nvPr/>
        </p:nvCxnSpPr>
        <p:spPr>
          <a:xfrm>
            <a:off x="4681728" y="1737360"/>
            <a:ext cx="2276856" cy="877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351195B-3865-2DBD-FEE9-EB35F9C44817}"/>
              </a:ext>
            </a:extLst>
          </p:cNvPr>
          <p:cNvCxnSpPr>
            <a:endCxn id="11" idx="0"/>
          </p:cNvCxnSpPr>
          <p:nvPr/>
        </p:nvCxnSpPr>
        <p:spPr>
          <a:xfrm>
            <a:off x="4690872" y="1737360"/>
            <a:ext cx="5087112" cy="8686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0D6D763-A40C-A361-F206-0A17EF71A17D}"/>
              </a:ext>
            </a:extLst>
          </p:cNvPr>
          <p:cNvCxnSpPr>
            <a:endCxn id="17" idx="0"/>
          </p:cNvCxnSpPr>
          <p:nvPr/>
        </p:nvCxnSpPr>
        <p:spPr>
          <a:xfrm>
            <a:off x="4700016" y="1759033"/>
            <a:ext cx="658368" cy="2712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78769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E2099-81D4-92E1-E0B1-6FDCEAADC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9E8529-FE12-1E23-4694-900212D48577}"/>
              </a:ext>
            </a:extLst>
          </p:cNvPr>
          <p:cNvSpPr>
            <a:spLocks noGrp="1"/>
          </p:cNvSpPr>
          <p:nvPr>
            <p:ph type="title"/>
          </p:nvPr>
        </p:nvSpPr>
        <p:spPr>
          <a:xfrm>
            <a:off x="622470" y="248583"/>
            <a:ext cx="8596668" cy="1320800"/>
          </a:xfrm>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B79AEC33-E9E8-0ACA-F23A-2F940BE03491}"/>
              </a:ext>
            </a:extLst>
          </p:cNvPr>
          <p:cNvSpPr>
            <a:spLocks noGrp="1"/>
          </p:cNvSpPr>
          <p:nvPr>
            <p:ph idx="1"/>
          </p:nvPr>
        </p:nvSpPr>
        <p:spPr>
          <a:xfrm>
            <a:off x="726207" y="1295063"/>
            <a:ext cx="8596668" cy="4910245"/>
          </a:xfrm>
        </p:spPr>
        <p:txBody>
          <a:bodyPr>
            <a:noAutofit/>
          </a:bodyPr>
          <a:lstStyle/>
          <a:p>
            <a:pPr marL="0" indent="0">
              <a:buNone/>
            </a:pPr>
            <a:r>
              <a:rPr lang="en-IN" sz="1600" b="1" dirty="0"/>
              <a:t>Types of Symbolic AI</a:t>
            </a:r>
          </a:p>
          <a:p>
            <a:pPr marL="0" indent="0">
              <a:buNone/>
            </a:pPr>
            <a:r>
              <a:rPr lang="en-US" sz="1600" b="1" dirty="0">
                <a:solidFill>
                  <a:schemeClr val="accent1"/>
                </a:solidFill>
              </a:rPr>
              <a:t>1. Rule-Based Systems (Expert Systems)</a:t>
            </a:r>
          </a:p>
          <a:p>
            <a:r>
              <a:rPr lang="en-US" sz="1600" dirty="0"/>
              <a:t>Rule-based systems use </a:t>
            </a:r>
            <a:r>
              <a:rPr lang="en-US" sz="1600" b="1" dirty="0"/>
              <a:t>IF–THEN rules</a:t>
            </a:r>
            <a:r>
              <a:rPr lang="en-US" sz="1600" dirty="0"/>
              <a:t> to make decisions.</a:t>
            </a:r>
          </a:p>
          <a:p>
            <a:r>
              <a:rPr lang="en-US" sz="1600" dirty="0"/>
              <a:t>A </a:t>
            </a:r>
            <a:r>
              <a:rPr lang="en-US" sz="1600" b="1" dirty="0"/>
              <a:t>knowledge base</a:t>
            </a:r>
            <a:r>
              <a:rPr lang="en-US" sz="1600" dirty="0"/>
              <a:t> stores rules, and an </a:t>
            </a:r>
            <a:r>
              <a:rPr lang="en-US" sz="1600" b="1" dirty="0"/>
              <a:t>inference engine</a:t>
            </a:r>
            <a:r>
              <a:rPr lang="en-US" sz="1600" dirty="0"/>
              <a:t> applies those rules to solve problems.</a:t>
            </a:r>
          </a:p>
          <a:p>
            <a:pPr marL="0" indent="0">
              <a:buNone/>
            </a:pPr>
            <a:r>
              <a:rPr lang="en-US" sz="1600" dirty="0"/>
              <a:t>Example:</a:t>
            </a:r>
          </a:p>
          <a:p>
            <a:r>
              <a:rPr lang="en-US" sz="1600" dirty="0"/>
              <a:t>IF patient has fever AND cough</a:t>
            </a:r>
            <a:br>
              <a:rPr lang="en-US" sz="1600" dirty="0"/>
            </a:br>
            <a:r>
              <a:rPr lang="en-US" sz="1600" dirty="0"/>
              <a:t>THEN possible disease = flu</a:t>
            </a:r>
          </a:p>
          <a:p>
            <a:pPr marL="0" indent="0">
              <a:buNone/>
            </a:pPr>
            <a:r>
              <a:rPr lang="en-US" sz="1600" b="1" dirty="0"/>
              <a:t>Applications</a:t>
            </a:r>
          </a:p>
          <a:p>
            <a:r>
              <a:rPr lang="en-US" sz="1600" dirty="0"/>
              <a:t>Medical diagnosis  -</a:t>
            </a:r>
            <a:r>
              <a:rPr lang="en-IN" sz="1600" b="1" dirty="0"/>
              <a:t> MYCIN</a:t>
            </a:r>
            <a:r>
              <a:rPr lang="en-IN" sz="1600" dirty="0"/>
              <a:t> (1970s) – One of the earliest expert systems developed at Stanford University to diagnose bacterial infections and recommend antibiotics.</a:t>
            </a:r>
            <a:endParaRPr lang="en-US" sz="1600" dirty="0"/>
          </a:p>
          <a:p>
            <a:r>
              <a:rPr lang="en-US" sz="1600" dirty="0"/>
              <a:t>Financial decision systems – Loan Approval, Credit Card eligibility, Fraud Detection</a:t>
            </a:r>
          </a:p>
          <a:p>
            <a:r>
              <a:rPr lang="en-US" sz="1600" dirty="0"/>
              <a:t>Customer support systems -</a:t>
            </a:r>
            <a:r>
              <a:rPr lang="en-IN" sz="1600" dirty="0"/>
              <a:t> Banking chatbots, Telecom IVR systems E-commerce customer support</a:t>
            </a:r>
            <a:endParaRPr lang="en-US" sz="1600" dirty="0"/>
          </a:p>
          <a:p>
            <a:pPr marL="0" indent="0">
              <a:buNone/>
            </a:pPr>
            <a:endParaRPr lang="en-US" sz="1600"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endParaRPr lang="en-US" sz="1600" b="1" dirty="0"/>
          </a:p>
          <a:p>
            <a:pPr marL="0" indent="0">
              <a:buNone/>
            </a:pPr>
            <a:r>
              <a:rPr lang="en-US" sz="1600" b="1" dirty="0"/>
              <a:t>Limitations of Symbolic AI</a:t>
            </a:r>
          </a:p>
          <a:p>
            <a:r>
              <a:rPr lang="en-US" sz="1600" b="1" dirty="0"/>
              <a:t>Cannot learn from data</a:t>
            </a:r>
          </a:p>
          <a:p>
            <a:r>
              <a:rPr lang="en-US" sz="1600" dirty="0"/>
              <a:t>All knowledge must be </a:t>
            </a:r>
            <a:r>
              <a:rPr lang="en-US" sz="1600" b="1" dirty="0"/>
              <a:t>manually programmed</a:t>
            </a:r>
            <a:r>
              <a:rPr lang="en-US" sz="1600" dirty="0"/>
              <a:t>.</a:t>
            </a:r>
          </a:p>
          <a:p>
            <a:endParaRPr lang="en-US" sz="1600" dirty="0"/>
          </a:p>
          <a:p>
            <a:pPr marL="0" indent="0">
              <a:buNone/>
            </a:pPr>
            <a:endParaRPr lang="en-IN" sz="1600" dirty="0"/>
          </a:p>
        </p:txBody>
      </p:sp>
    </p:spTree>
    <p:extLst>
      <p:ext uri="{BB962C8B-B14F-4D97-AF65-F5344CB8AC3E}">
        <p14:creationId xmlns:p14="http://schemas.microsoft.com/office/powerpoint/2010/main" val="1352831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EE75F-C93E-5D45-23C4-5408B9AA56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969F8-6373-5902-7547-759D766ACE07}"/>
              </a:ext>
            </a:extLst>
          </p:cNvPr>
          <p:cNvSpPr>
            <a:spLocks noGrp="1"/>
          </p:cNvSpPr>
          <p:nvPr>
            <p:ph type="title"/>
          </p:nvPr>
        </p:nvSpPr>
        <p:spPr>
          <a:xfrm>
            <a:off x="613326" y="134112"/>
            <a:ext cx="8596668" cy="734568"/>
          </a:xfrm>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A210EBED-D6D6-2780-4CBF-C1D41A7FEFAF}"/>
              </a:ext>
            </a:extLst>
          </p:cNvPr>
          <p:cNvSpPr>
            <a:spLocks noGrp="1"/>
          </p:cNvSpPr>
          <p:nvPr>
            <p:ph idx="1"/>
          </p:nvPr>
        </p:nvSpPr>
        <p:spPr>
          <a:xfrm>
            <a:off x="613326" y="713232"/>
            <a:ext cx="8596668" cy="5855208"/>
          </a:xfrm>
        </p:spPr>
        <p:txBody>
          <a:bodyPr>
            <a:noAutofit/>
          </a:bodyPr>
          <a:lstStyle/>
          <a:p>
            <a:pPr marL="0" indent="0">
              <a:buNone/>
            </a:pPr>
            <a:r>
              <a:rPr lang="en-US" sz="1600" b="1" dirty="0">
                <a:solidFill>
                  <a:schemeClr val="accent1"/>
                </a:solidFill>
              </a:rPr>
              <a:t>2.Logic-Based AI</a:t>
            </a:r>
          </a:p>
          <a:p>
            <a:r>
              <a:rPr lang="en-US" sz="1600" dirty="0"/>
              <a:t>Logic-based AI uses </a:t>
            </a:r>
            <a:r>
              <a:rPr lang="en-US" sz="1600" b="1" dirty="0"/>
              <a:t>mathematical logic</a:t>
            </a:r>
            <a:r>
              <a:rPr lang="en-US" sz="1600" dirty="0"/>
              <a:t> to represent knowledge and perform reasoning.</a:t>
            </a:r>
          </a:p>
          <a:p>
            <a:r>
              <a:rPr lang="en-US" sz="1600" dirty="0"/>
              <a:t>It often uses </a:t>
            </a:r>
            <a:r>
              <a:rPr lang="en-US" sz="1600" b="1" dirty="0"/>
              <a:t>predicate logic</a:t>
            </a:r>
            <a:r>
              <a:rPr lang="en-US" sz="1600" dirty="0"/>
              <a:t> or </a:t>
            </a:r>
            <a:r>
              <a:rPr lang="en-US" sz="1600" b="1" dirty="0"/>
              <a:t>first-order logic</a:t>
            </a:r>
            <a:r>
              <a:rPr lang="en-US" sz="1600" dirty="0"/>
              <a:t>.</a:t>
            </a:r>
          </a:p>
          <a:p>
            <a:pPr marL="0" indent="0">
              <a:buNone/>
            </a:pPr>
            <a:r>
              <a:rPr lang="en-US" sz="1600" dirty="0"/>
              <a:t>Example:</a:t>
            </a:r>
          </a:p>
          <a:p>
            <a:r>
              <a:rPr lang="en-US" sz="1600" dirty="0"/>
              <a:t>All humans are mortal</a:t>
            </a:r>
            <a:br>
              <a:rPr lang="en-US" sz="1600" dirty="0"/>
            </a:br>
            <a:r>
              <a:rPr lang="en-US" sz="1600" dirty="0"/>
              <a:t>Socrates is a human</a:t>
            </a:r>
            <a:br>
              <a:rPr lang="en-US" sz="1600" dirty="0"/>
            </a:br>
            <a:r>
              <a:rPr lang="en-US" sz="1600" dirty="0"/>
              <a:t>Therefore, Socrates is mortal</a:t>
            </a:r>
          </a:p>
          <a:p>
            <a:r>
              <a:rPr lang="en-US" sz="1600" dirty="0"/>
              <a:t>The AI uses logical rules to infer new information.</a:t>
            </a:r>
          </a:p>
          <a:p>
            <a:r>
              <a:rPr lang="en-US" sz="1600" dirty="0"/>
              <a:t>A programming language commonly used for logic-based AI is </a:t>
            </a:r>
            <a:r>
              <a:rPr lang="en-US" sz="1600" b="1" dirty="0"/>
              <a:t>Prolog</a:t>
            </a:r>
            <a:r>
              <a:rPr lang="en-US" sz="1600" dirty="0"/>
              <a:t>.</a:t>
            </a:r>
          </a:p>
          <a:p>
            <a:pPr marL="0" indent="0">
              <a:buNone/>
            </a:pPr>
            <a:r>
              <a:rPr lang="en-US" sz="1600" b="1" dirty="0"/>
              <a:t>Applications</a:t>
            </a:r>
          </a:p>
          <a:p>
            <a:r>
              <a:rPr lang="en-US" sz="1600" dirty="0"/>
              <a:t>Automated theorem proving -</a:t>
            </a:r>
            <a:r>
              <a:rPr lang="en-IN" sz="1600" dirty="0"/>
              <a:t>Lean Theorem Prover, Prover9</a:t>
            </a:r>
            <a:endParaRPr lang="en-US" sz="1600" dirty="0"/>
          </a:p>
          <a:p>
            <a:r>
              <a:rPr lang="en-US" sz="1600" dirty="0"/>
              <a:t>Knowledge reasoning systems -</a:t>
            </a:r>
            <a:r>
              <a:rPr lang="en-IN" sz="1600" dirty="0"/>
              <a:t>Medical diagnosis, Legal reasoning, Decision support systems</a:t>
            </a:r>
            <a:endParaRPr lang="en-US" sz="1600" dirty="0"/>
          </a:p>
          <a:p>
            <a:r>
              <a:rPr lang="en-US" sz="1600" dirty="0"/>
              <a:t>Natural language understanding (early systems) -</a:t>
            </a:r>
            <a:r>
              <a:rPr lang="en-IN" sz="1600" dirty="0"/>
              <a:t>Voice assistants, Command interpreters</a:t>
            </a:r>
          </a:p>
          <a:p>
            <a:pPr marL="0" indent="0">
              <a:buNone/>
            </a:pPr>
            <a:r>
              <a:rPr lang="en-IN" sz="1600" b="1" dirty="0"/>
              <a:t>Famous Early Systems</a:t>
            </a:r>
          </a:p>
          <a:p>
            <a:r>
              <a:rPr lang="en-IN" sz="1600" dirty="0"/>
              <a:t>ELIZA (1966) – Simulated a psychotherapist using pattern matching. </a:t>
            </a:r>
          </a:p>
          <a:p>
            <a:r>
              <a:rPr lang="en-IN" sz="1600" dirty="0"/>
              <a:t>SHRDLU (1970) – Understood commands in a simple blocks world using logical reasoning.</a:t>
            </a:r>
          </a:p>
          <a:p>
            <a:endParaRPr lang="en-IN" sz="1600" dirty="0"/>
          </a:p>
          <a:p>
            <a:endParaRPr lang="en-US" sz="1600" dirty="0"/>
          </a:p>
          <a:p>
            <a:pPr marL="0" indent="0">
              <a:buNone/>
            </a:pPr>
            <a:endParaRPr lang="en-IN" sz="1600" dirty="0"/>
          </a:p>
        </p:txBody>
      </p:sp>
    </p:spTree>
    <p:extLst>
      <p:ext uri="{BB962C8B-B14F-4D97-AF65-F5344CB8AC3E}">
        <p14:creationId xmlns:p14="http://schemas.microsoft.com/office/powerpoint/2010/main" val="21498332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A6B9-45DC-9018-7BBE-C45E4CA168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FD1E3-2FE9-81B8-04AC-FD181A60C5D1}"/>
              </a:ext>
            </a:extLst>
          </p:cNvPr>
          <p:cNvSpPr>
            <a:spLocks noGrp="1"/>
          </p:cNvSpPr>
          <p:nvPr>
            <p:ph type="title"/>
          </p:nvPr>
        </p:nvSpPr>
        <p:spPr>
          <a:xfrm>
            <a:off x="622155" y="378372"/>
            <a:ext cx="8596668" cy="1320800"/>
          </a:xfrm>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D933817C-BCB7-2A4C-BD01-070F9EC5F32F}"/>
              </a:ext>
            </a:extLst>
          </p:cNvPr>
          <p:cNvSpPr>
            <a:spLocks noGrp="1"/>
          </p:cNvSpPr>
          <p:nvPr>
            <p:ph idx="1"/>
          </p:nvPr>
        </p:nvSpPr>
        <p:spPr>
          <a:xfrm>
            <a:off x="700982" y="1246190"/>
            <a:ext cx="6756108" cy="4910245"/>
          </a:xfrm>
        </p:spPr>
        <p:txBody>
          <a:bodyPr>
            <a:noAutofit/>
          </a:bodyPr>
          <a:lstStyle/>
          <a:p>
            <a:pPr marL="0" indent="0">
              <a:buNone/>
            </a:pPr>
            <a:r>
              <a:rPr lang="en-US" sz="1600" b="1" dirty="0">
                <a:solidFill>
                  <a:schemeClr val="accent1"/>
                </a:solidFill>
              </a:rPr>
              <a:t>3.Knowledge Representation Systems</a:t>
            </a:r>
          </a:p>
          <a:p>
            <a:pPr marL="0" indent="0">
              <a:buNone/>
            </a:pPr>
            <a:r>
              <a:rPr lang="en-US" sz="1400" dirty="0"/>
              <a:t>These systems store knowledge in structured formats so computers can understand relationships between concepts.</a:t>
            </a:r>
          </a:p>
          <a:p>
            <a:pPr marL="0" indent="0">
              <a:buNone/>
            </a:pPr>
            <a:r>
              <a:rPr lang="en-US" sz="1400" dirty="0"/>
              <a:t>Common representations include:</a:t>
            </a:r>
          </a:p>
          <a:p>
            <a:r>
              <a:rPr lang="en-US" sz="1400" b="1" dirty="0"/>
              <a:t>Semantic Networks</a:t>
            </a:r>
          </a:p>
          <a:p>
            <a:r>
              <a:rPr lang="en-US" sz="1400" dirty="0"/>
              <a:t>Information is represented as </a:t>
            </a:r>
            <a:r>
              <a:rPr lang="en-US" sz="1400" b="1" dirty="0"/>
              <a:t>nodes and relationships</a:t>
            </a:r>
            <a:r>
              <a:rPr lang="en-US" sz="1400" dirty="0"/>
              <a:t>.</a:t>
            </a:r>
          </a:p>
          <a:p>
            <a:pPr marL="0" indent="0">
              <a:buNone/>
            </a:pPr>
            <a:r>
              <a:rPr lang="en-US" sz="1400" dirty="0"/>
              <a:t>Example:</a:t>
            </a:r>
          </a:p>
          <a:p>
            <a:r>
              <a:rPr lang="en-US" sz="1400" dirty="0"/>
              <a:t>Dog → is a → Animal</a:t>
            </a:r>
            <a:br>
              <a:rPr lang="en-US" sz="1400" dirty="0"/>
            </a:br>
            <a:r>
              <a:rPr lang="en-US" sz="1400" dirty="0"/>
              <a:t>Dog → has → Tail</a:t>
            </a:r>
          </a:p>
          <a:p>
            <a:pPr marL="0" indent="0">
              <a:buNone/>
            </a:pPr>
            <a:r>
              <a:rPr lang="en-US" sz="1400" b="1" dirty="0"/>
              <a:t>Frames</a:t>
            </a:r>
          </a:p>
          <a:p>
            <a:r>
              <a:rPr lang="en-US" sz="1400" dirty="0"/>
              <a:t>Frames store knowledge in structured </a:t>
            </a:r>
            <a:r>
              <a:rPr lang="en-US" sz="1400" b="1" dirty="0"/>
              <a:t>objects with attributes</a:t>
            </a:r>
            <a:r>
              <a:rPr lang="en-US" sz="1400" dirty="0"/>
              <a:t>.</a:t>
            </a:r>
          </a:p>
          <a:p>
            <a:r>
              <a:rPr lang="en-US" sz="1400" dirty="0"/>
              <a:t>Example:</a:t>
            </a:r>
          </a:p>
          <a:p>
            <a:r>
              <a:rPr lang="en-US" sz="1400" dirty="0"/>
              <a:t>Frame: Car</a:t>
            </a:r>
            <a:br>
              <a:rPr lang="en-US" sz="1400" dirty="0"/>
            </a:br>
            <a:r>
              <a:rPr lang="en-US" sz="1400" dirty="0"/>
              <a:t>Attributes:</a:t>
            </a:r>
            <a:br>
              <a:rPr lang="en-US" sz="1400" dirty="0"/>
            </a:br>
            <a:r>
              <a:rPr lang="en-US" sz="1400" dirty="0"/>
              <a:t>    Wheels = 4</a:t>
            </a:r>
            <a:br>
              <a:rPr lang="en-US" sz="1400" dirty="0"/>
            </a:br>
            <a:r>
              <a:rPr lang="en-US" sz="1400" dirty="0"/>
              <a:t>    Engine = Yes</a:t>
            </a:r>
            <a:br>
              <a:rPr lang="en-US" sz="1400" dirty="0"/>
            </a:br>
            <a:r>
              <a:rPr lang="en-US" sz="1400" dirty="0"/>
              <a:t>    Fuel = Petrol/Diesel</a:t>
            </a:r>
          </a:p>
          <a:p>
            <a:pPr marL="0" indent="0">
              <a:buNone/>
            </a:pPr>
            <a:endParaRPr lang="en-IN" sz="1400" dirty="0"/>
          </a:p>
        </p:txBody>
      </p:sp>
      <p:sp>
        <p:nvSpPr>
          <p:cNvPr id="5" name="TextBox 4">
            <a:extLst>
              <a:ext uri="{FF2B5EF4-FFF2-40B4-BE49-F238E27FC236}">
                <a16:creationId xmlns:a16="http://schemas.microsoft.com/office/drawing/2014/main" id="{6C9B7299-3663-3CD7-4B8F-55EB3FC99F0A}"/>
              </a:ext>
            </a:extLst>
          </p:cNvPr>
          <p:cNvSpPr txBox="1"/>
          <p:nvPr/>
        </p:nvSpPr>
        <p:spPr>
          <a:xfrm>
            <a:off x="7897263" y="2747205"/>
            <a:ext cx="3405350" cy="954107"/>
          </a:xfrm>
          <a:prstGeom prst="rect">
            <a:avLst/>
          </a:prstGeom>
          <a:noFill/>
        </p:spPr>
        <p:txBody>
          <a:bodyPr wrap="square">
            <a:spAutoFit/>
          </a:bodyPr>
          <a:lstStyle/>
          <a:p>
            <a:pPr marL="0" indent="0">
              <a:buNone/>
            </a:pPr>
            <a:r>
              <a:rPr lang="en-US" sz="1400" b="1" dirty="0"/>
              <a:t>Applications</a:t>
            </a:r>
          </a:p>
          <a:p>
            <a:r>
              <a:rPr lang="en-US" sz="1400" dirty="0"/>
              <a:t>Knowledge graphs</a:t>
            </a:r>
          </a:p>
          <a:p>
            <a:r>
              <a:rPr lang="en-US" sz="1400" dirty="0"/>
              <a:t>Intelligent databases</a:t>
            </a:r>
          </a:p>
          <a:p>
            <a:r>
              <a:rPr lang="en-US" sz="1400" dirty="0"/>
              <a:t>Semantic web systems</a:t>
            </a:r>
          </a:p>
        </p:txBody>
      </p:sp>
    </p:spTree>
    <p:extLst>
      <p:ext uri="{BB962C8B-B14F-4D97-AF65-F5344CB8AC3E}">
        <p14:creationId xmlns:p14="http://schemas.microsoft.com/office/powerpoint/2010/main" val="2714271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4B634-4EF4-C8FC-C872-151CD1360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228C6B-E186-6AD0-0E54-F1E1BAE8A101}"/>
              </a:ext>
            </a:extLst>
          </p:cNvPr>
          <p:cNvSpPr>
            <a:spLocks noGrp="1"/>
          </p:cNvSpPr>
          <p:nvPr>
            <p:ph type="title"/>
          </p:nvPr>
        </p:nvSpPr>
        <p:spPr>
          <a:xfrm>
            <a:off x="668190" y="252984"/>
            <a:ext cx="8596668" cy="670560"/>
          </a:xfrm>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3E5D64E6-1A2D-09C6-8F9A-F612467B9AAA}"/>
              </a:ext>
            </a:extLst>
          </p:cNvPr>
          <p:cNvSpPr>
            <a:spLocks noGrp="1"/>
          </p:cNvSpPr>
          <p:nvPr>
            <p:ph idx="1"/>
          </p:nvPr>
        </p:nvSpPr>
        <p:spPr>
          <a:xfrm>
            <a:off x="740396" y="1190485"/>
            <a:ext cx="8596668" cy="4910245"/>
          </a:xfrm>
        </p:spPr>
        <p:txBody>
          <a:bodyPr>
            <a:noAutofit/>
          </a:bodyPr>
          <a:lstStyle/>
          <a:p>
            <a:pPr marL="0" indent="0">
              <a:buNone/>
            </a:pPr>
            <a:r>
              <a:rPr lang="en-US" sz="1600" b="1" dirty="0">
                <a:solidFill>
                  <a:schemeClr val="accent1"/>
                </a:solidFill>
              </a:rPr>
              <a:t>4. Planning Systems</a:t>
            </a:r>
          </a:p>
          <a:p>
            <a:r>
              <a:rPr lang="en-US" sz="1600" dirty="0"/>
              <a:t>Planning systems help AI </a:t>
            </a:r>
            <a:r>
              <a:rPr lang="en-US" sz="1600" b="1" dirty="0"/>
              <a:t>plan sequences of actions to achieve goals</a:t>
            </a:r>
            <a:r>
              <a:rPr lang="en-US" sz="1600" dirty="0"/>
              <a:t>.</a:t>
            </a:r>
          </a:p>
          <a:p>
            <a:r>
              <a:rPr lang="en-US" sz="1600" dirty="0"/>
              <a:t>Example:</a:t>
            </a:r>
          </a:p>
          <a:p>
            <a:r>
              <a:rPr lang="en-US" sz="1600" dirty="0"/>
              <a:t>Goal: Make tea</a:t>
            </a:r>
          </a:p>
          <a:p>
            <a:r>
              <a:rPr lang="en-US" sz="1600" dirty="0"/>
              <a:t>Steps:</a:t>
            </a:r>
          </a:p>
          <a:p>
            <a:r>
              <a:rPr lang="en-US" sz="1600" dirty="0"/>
              <a:t>Boil water</a:t>
            </a:r>
          </a:p>
          <a:p>
            <a:r>
              <a:rPr lang="en-US" sz="1600" dirty="0"/>
              <a:t>Add tea leaves</a:t>
            </a:r>
          </a:p>
          <a:p>
            <a:r>
              <a:rPr lang="en-US" sz="1600" dirty="0"/>
              <a:t>Pour into cup</a:t>
            </a:r>
          </a:p>
          <a:p>
            <a:r>
              <a:rPr lang="en-US" sz="1600" dirty="0"/>
              <a:t>The AI decides the </a:t>
            </a:r>
            <a:r>
              <a:rPr lang="en-US" sz="1600" b="1" dirty="0"/>
              <a:t>best sequence of actions</a:t>
            </a:r>
            <a:r>
              <a:rPr lang="en-US" sz="1600" dirty="0"/>
              <a:t> to reach a goal.</a:t>
            </a:r>
          </a:p>
          <a:p>
            <a:pPr marL="0" indent="0">
              <a:buNone/>
            </a:pPr>
            <a:r>
              <a:rPr lang="en-US" sz="1600" b="1" dirty="0"/>
              <a:t>Applications</a:t>
            </a:r>
          </a:p>
          <a:p>
            <a:r>
              <a:rPr lang="en-US" sz="1600" dirty="0"/>
              <a:t>Robotics</a:t>
            </a:r>
          </a:p>
          <a:p>
            <a:r>
              <a:rPr lang="en-US" sz="1600" dirty="0"/>
              <a:t>Logistics planning</a:t>
            </a:r>
          </a:p>
          <a:p>
            <a:r>
              <a:rPr lang="en-US" sz="1600" dirty="0"/>
              <a:t>Automated decision systems</a:t>
            </a:r>
          </a:p>
          <a:p>
            <a:pPr marL="0" indent="0">
              <a:buNone/>
            </a:pPr>
            <a:endParaRPr lang="en-IN" sz="1600" dirty="0"/>
          </a:p>
        </p:txBody>
      </p:sp>
    </p:spTree>
    <p:extLst>
      <p:ext uri="{BB962C8B-B14F-4D97-AF65-F5344CB8AC3E}">
        <p14:creationId xmlns:p14="http://schemas.microsoft.com/office/powerpoint/2010/main" val="17645942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C408-0CD6-16DF-A15A-76E090DF19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898DD-B489-952A-C4D0-0A2640284C42}"/>
              </a:ext>
            </a:extLst>
          </p:cNvPr>
          <p:cNvSpPr>
            <a:spLocks noGrp="1"/>
          </p:cNvSpPr>
          <p:nvPr>
            <p:ph type="title"/>
          </p:nvPr>
        </p:nvSpPr>
        <p:spPr/>
        <p:txBody>
          <a:bodyPr>
            <a:normAutofit/>
          </a:bodyPr>
          <a:lstStyle/>
          <a:p>
            <a:r>
              <a:rPr lang="en-IN" dirty="0"/>
              <a:t>AI Spectrum - Symbolic AI</a:t>
            </a:r>
            <a:endParaRPr lang="en-IN" dirty="0">
              <a:solidFill>
                <a:srgbClr val="FF0000"/>
              </a:solidFill>
            </a:endParaRPr>
          </a:p>
        </p:txBody>
      </p:sp>
      <p:sp>
        <p:nvSpPr>
          <p:cNvPr id="4" name="Content Placeholder 3">
            <a:extLst>
              <a:ext uri="{FF2B5EF4-FFF2-40B4-BE49-F238E27FC236}">
                <a16:creationId xmlns:a16="http://schemas.microsoft.com/office/drawing/2014/main" id="{A0AA8E00-E513-32D3-4292-BCA0DD6C1947}"/>
              </a:ext>
            </a:extLst>
          </p:cNvPr>
          <p:cNvSpPr>
            <a:spLocks noGrp="1"/>
          </p:cNvSpPr>
          <p:nvPr>
            <p:ph idx="1"/>
          </p:nvPr>
        </p:nvSpPr>
        <p:spPr>
          <a:xfrm>
            <a:off x="756162" y="1593031"/>
            <a:ext cx="8596668" cy="4910245"/>
          </a:xfrm>
        </p:spPr>
        <p:txBody>
          <a:bodyPr>
            <a:noAutofit/>
          </a:bodyPr>
          <a:lstStyle/>
          <a:p>
            <a:pPr marL="0" indent="0">
              <a:buNone/>
            </a:pPr>
            <a:r>
              <a:rPr lang="en-US" sz="1600" b="1" dirty="0">
                <a:solidFill>
                  <a:schemeClr val="accent1"/>
                </a:solidFill>
              </a:rPr>
              <a:t>5.Search-Based AI</a:t>
            </a:r>
          </a:p>
          <a:p>
            <a:pPr marL="0" indent="0">
              <a:buNone/>
            </a:pPr>
            <a:r>
              <a:rPr lang="en-US" sz="1600" dirty="0"/>
              <a:t>Search-based AI finds solutions by </a:t>
            </a:r>
            <a:r>
              <a:rPr lang="en-US" sz="1600" b="1" dirty="0"/>
              <a:t>exploring possible states and paths</a:t>
            </a:r>
            <a:r>
              <a:rPr lang="en-US" sz="1600" dirty="0"/>
              <a:t>.</a:t>
            </a:r>
          </a:p>
          <a:p>
            <a:r>
              <a:rPr lang="en-US" sz="1600" dirty="0"/>
              <a:t>Example problems:</a:t>
            </a:r>
          </a:p>
          <a:p>
            <a:r>
              <a:rPr lang="en-US" sz="1600" dirty="0"/>
              <a:t>Maze solving</a:t>
            </a:r>
          </a:p>
          <a:p>
            <a:r>
              <a:rPr lang="en-US" sz="1600" dirty="0"/>
              <a:t>Chess playing</a:t>
            </a:r>
          </a:p>
          <a:p>
            <a:r>
              <a:rPr lang="en-US" sz="1600" dirty="0"/>
              <a:t>Pathfinding</a:t>
            </a:r>
          </a:p>
          <a:p>
            <a:r>
              <a:rPr lang="en-US" sz="1600" dirty="0"/>
              <a:t>Algorithms used include:</a:t>
            </a:r>
          </a:p>
          <a:p>
            <a:r>
              <a:rPr lang="en-US" sz="1600" dirty="0"/>
              <a:t>Breadth-First Search (BFS)</a:t>
            </a:r>
          </a:p>
          <a:p>
            <a:r>
              <a:rPr lang="en-US" sz="1600" dirty="0"/>
              <a:t>Depth-First Search (DFS)</a:t>
            </a:r>
          </a:p>
          <a:p>
            <a:r>
              <a:rPr lang="en-US" sz="1600" dirty="0"/>
              <a:t>A* Search</a:t>
            </a:r>
          </a:p>
          <a:p>
            <a:r>
              <a:rPr lang="en-US" sz="1600" dirty="0"/>
              <a:t>A famous symbolic AI example is </a:t>
            </a:r>
            <a:r>
              <a:rPr lang="en-US" sz="1600" b="1" dirty="0"/>
              <a:t>Deep Blue</a:t>
            </a:r>
            <a:r>
              <a:rPr lang="en-US" sz="1600" dirty="0"/>
              <a:t>, which defeated world champion </a:t>
            </a:r>
            <a:r>
              <a:rPr lang="en-US" sz="1600" b="1" dirty="0"/>
              <a:t>Garry Kasparov</a:t>
            </a:r>
            <a:r>
              <a:rPr lang="en-US" sz="1600" dirty="0"/>
              <a:t> in 1997.</a:t>
            </a:r>
          </a:p>
          <a:p>
            <a:pPr marL="0" indent="0">
              <a:buNone/>
            </a:pPr>
            <a:endParaRPr lang="en-IN" sz="1600" dirty="0"/>
          </a:p>
        </p:txBody>
      </p:sp>
    </p:spTree>
    <p:extLst>
      <p:ext uri="{BB962C8B-B14F-4D97-AF65-F5344CB8AC3E}">
        <p14:creationId xmlns:p14="http://schemas.microsoft.com/office/powerpoint/2010/main" val="297089313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47F8B-27B1-32CF-9ED4-21FBB150B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C4BFAD-ACCE-53D4-712C-7280A327AA23}"/>
              </a:ext>
            </a:extLst>
          </p:cNvPr>
          <p:cNvSpPr>
            <a:spLocks noGrp="1"/>
          </p:cNvSpPr>
          <p:nvPr>
            <p:ph type="title"/>
          </p:nvPr>
        </p:nvSpPr>
        <p:spPr/>
        <p:txBody>
          <a:bodyPr>
            <a:normAutofit/>
          </a:bodyPr>
          <a:lstStyle/>
          <a:p>
            <a:r>
              <a:rPr lang="en-IN" dirty="0"/>
              <a:t>Advantages of Symbolic AI</a:t>
            </a:r>
          </a:p>
        </p:txBody>
      </p:sp>
      <p:sp>
        <p:nvSpPr>
          <p:cNvPr id="4" name="Content Placeholder 3">
            <a:extLst>
              <a:ext uri="{FF2B5EF4-FFF2-40B4-BE49-F238E27FC236}">
                <a16:creationId xmlns:a16="http://schemas.microsoft.com/office/drawing/2014/main" id="{BA0A92B5-EDED-3012-3FD1-296E56E17DFE}"/>
              </a:ext>
            </a:extLst>
          </p:cNvPr>
          <p:cNvSpPr>
            <a:spLocks noGrp="1"/>
          </p:cNvSpPr>
          <p:nvPr>
            <p:ph idx="1"/>
          </p:nvPr>
        </p:nvSpPr>
        <p:spPr>
          <a:xfrm>
            <a:off x="771927" y="1214659"/>
            <a:ext cx="8596668" cy="4910245"/>
          </a:xfrm>
        </p:spPr>
        <p:txBody>
          <a:bodyPr>
            <a:noAutofit/>
          </a:bodyPr>
          <a:lstStyle/>
          <a:p>
            <a:pPr marL="0" indent="0">
              <a:buNone/>
            </a:pPr>
            <a:endParaRPr lang="en-US" sz="1600" dirty="0"/>
          </a:p>
          <a:p>
            <a:r>
              <a:rPr lang="en-US" sz="1600" dirty="0"/>
              <a:t>Provides clear and explainable decision-making. </a:t>
            </a:r>
          </a:p>
          <a:p>
            <a:r>
              <a:rPr lang="en-US" sz="1600" dirty="0"/>
              <a:t>Easy to understand and interpret by humans. </a:t>
            </a:r>
          </a:p>
          <a:p>
            <a:r>
              <a:rPr lang="en-US" sz="1600" dirty="0"/>
              <a:t>Strong in logical reasoning and rule-based problem solving. </a:t>
            </a:r>
          </a:p>
          <a:p>
            <a:r>
              <a:rPr lang="en-US" sz="1600" dirty="0"/>
              <a:t>Requires very little data to operate. </a:t>
            </a:r>
          </a:p>
          <a:p>
            <a:r>
              <a:rPr lang="en-US" sz="1600" dirty="0"/>
              <a:t>Produces consistent and predictable results. </a:t>
            </a:r>
          </a:p>
          <a:p>
            <a:r>
              <a:rPr lang="en-US" sz="1600" dirty="0"/>
              <a:t>Easy to modify by updating rules.</a:t>
            </a:r>
          </a:p>
          <a:p>
            <a:pPr marL="0" indent="0">
              <a:buNone/>
            </a:pPr>
            <a:endParaRPr lang="en-IN" sz="1600" dirty="0"/>
          </a:p>
        </p:txBody>
      </p:sp>
    </p:spTree>
    <p:extLst>
      <p:ext uri="{BB962C8B-B14F-4D97-AF65-F5344CB8AC3E}">
        <p14:creationId xmlns:p14="http://schemas.microsoft.com/office/powerpoint/2010/main" val="22602213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0728-6944-C734-E154-3E5DF50D46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004209-B896-B09B-8328-21B9C9EF9897}"/>
              </a:ext>
            </a:extLst>
          </p:cNvPr>
          <p:cNvSpPr>
            <a:spLocks noGrp="1"/>
          </p:cNvSpPr>
          <p:nvPr>
            <p:ph type="title"/>
          </p:nvPr>
        </p:nvSpPr>
        <p:spPr/>
        <p:txBody>
          <a:bodyPr>
            <a:normAutofit/>
          </a:bodyPr>
          <a:lstStyle/>
          <a:p>
            <a:r>
              <a:rPr lang="en-US" b="1" dirty="0"/>
              <a:t>Limitations of Symbolic AI</a:t>
            </a:r>
          </a:p>
        </p:txBody>
      </p:sp>
      <p:sp>
        <p:nvSpPr>
          <p:cNvPr id="4" name="Content Placeholder 3">
            <a:extLst>
              <a:ext uri="{FF2B5EF4-FFF2-40B4-BE49-F238E27FC236}">
                <a16:creationId xmlns:a16="http://schemas.microsoft.com/office/drawing/2014/main" id="{5D1A8E2C-B7E1-9A6B-B532-CC8426789D44}"/>
              </a:ext>
            </a:extLst>
          </p:cNvPr>
          <p:cNvSpPr>
            <a:spLocks noGrp="1"/>
          </p:cNvSpPr>
          <p:nvPr>
            <p:ph idx="1"/>
          </p:nvPr>
        </p:nvSpPr>
        <p:spPr>
          <a:xfrm>
            <a:off x="771927" y="1214659"/>
            <a:ext cx="8596668" cy="4910245"/>
          </a:xfrm>
        </p:spPr>
        <p:txBody>
          <a:bodyPr>
            <a:noAutofit/>
          </a:bodyPr>
          <a:lstStyle/>
          <a:p>
            <a:pPr marL="0" indent="0">
              <a:buNone/>
            </a:pPr>
            <a:endParaRPr lang="en-US" sz="1600" dirty="0"/>
          </a:p>
          <a:p>
            <a:r>
              <a:rPr lang="en-US" sz="1600" b="1" dirty="0"/>
              <a:t>Cannot learn from data</a:t>
            </a:r>
          </a:p>
          <a:p>
            <a:r>
              <a:rPr lang="en-US" sz="1600" dirty="0"/>
              <a:t>All knowledge must be </a:t>
            </a:r>
            <a:r>
              <a:rPr lang="en-US" sz="1600" b="1" dirty="0"/>
              <a:t>manually programmed</a:t>
            </a:r>
            <a:r>
              <a:rPr lang="en-US" sz="1600" dirty="0"/>
              <a:t>.</a:t>
            </a:r>
          </a:p>
          <a:p>
            <a:r>
              <a:rPr lang="en-US" sz="1600" dirty="0"/>
              <a:t>It struggles with vague or incomplete data.</a:t>
            </a:r>
          </a:p>
          <a:p>
            <a:r>
              <a:rPr lang="en-US" sz="1600" dirty="0"/>
              <a:t>Writing rules manually for complex systems becomes difficult.</a:t>
            </a:r>
          </a:p>
          <a:p>
            <a:endParaRPr lang="en-US" sz="1600" dirty="0"/>
          </a:p>
          <a:p>
            <a:pPr marL="0" indent="0">
              <a:buNone/>
            </a:pPr>
            <a:endParaRPr lang="en-IN" sz="1600" dirty="0"/>
          </a:p>
        </p:txBody>
      </p:sp>
      <p:pic>
        <p:nvPicPr>
          <p:cNvPr id="7" name="Picture 6">
            <a:extLst>
              <a:ext uri="{FF2B5EF4-FFF2-40B4-BE49-F238E27FC236}">
                <a16:creationId xmlns:a16="http://schemas.microsoft.com/office/drawing/2014/main" id="{B485435D-E1F4-C6BD-6AB1-E6469CC9E6E0}"/>
              </a:ext>
            </a:extLst>
          </p:cNvPr>
          <p:cNvPicPr>
            <a:picLocks noChangeAspect="1"/>
          </p:cNvPicPr>
          <p:nvPr/>
        </p:nvPicPr>
        <p:blipFill>
          <a:blip r:embed="rId2"/>
          <a:stretch>
            <a:fillRect/>
          </a:stretch>
        </p:blipFill>
        <p:spPr>
          <a:xfrm>
            <a:off x="2460843" y="3307174"/>
            <a:ext cx="5218836" cy="2490238"/>
          </a:xfrm>
          <a:prstGeom prst="rect">
            <a:avLst/>
          </a:prstGeom>
        </p:spPr>
      </p:pic>
    </p:spTree>
    <p:extLst>
      <p:ext uri="{BB962C8B-B14F-4D97-AF65-F5344CB8AC3E}">
        <p14:creationId xmlns:p14="http://schemas.microsoft.com/office/powerpoint/2010/main" val="34556360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80D04-B012-A92A-3055-AE6079441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758FC-A2A0-25CF-12E7-70B6063643B7}"/>
              </a:ext>
            </a:extLst>
          </p:cNvPr>
          <p:cNvSpPr>
            <a:spLocks noGrp="1"/>
          </p:cNvSpPr>
          <p:nvPr>
            <p:ph type="title"/>
          </p:nvPr>
        </p:nvSpPr>
        <p:spPr/>
        <p:txBody>
          <a:bodyPr>
            <a:normAutofit/>
          </a:bodyPr>
          <a:lstStyle/>
          <a:p>
            <a:r>
              <a:rPr lang="en-IN" dirty="0"/>
              <a:t>AI Spectrum - Classical Machine Learning</a:t>
            </a:r>
          </a:p>
        </p:txBody>
      </p:sp>
      <p:sp>
        <p:nvSpPr>
          <p:cNvPr id="4" name="Content Placeholder 3">
            <a:extLst>
              <a:ext uri="{FF2B5EF4-FFF2-40B4-BE49-F238E27FC236}">
                <a16:creationId xmlns:a16="http://schemas.microsoft.com/office/drawing/2014/main" id="{6ADA3DE8-D8B4-AFBC-3052-52A95B0ADCB7}"/>
              </a:ext>
            </a:extLst>
          </p:cNvPr>
          <p:cNvSpPr>
            <a:spLocks noGrp="1"/>
          </p:cNvSpPr>
          <p:nvPr>
            <p:ph idx="1"/>
          </p:nvPr>
        </p:nvSpPr>
        <p:spPr>
          <a:xfrm>
            <a:off x="771927" y="1569383"/>
            <a:ext cx="8596668" cy="4910245"/>
          </a:xfrm>
        </p:spPr>
        <p:txBody>
          <a:bodyPr>
            <a:noAutofit/>
          </a:bodyPr>
          <a:lstStyle/>
          <a:p>
            <a:pPr marL="0" indent="0">
              <a:buNone/>
            </a:pPr>
            <a:r>
              <a:rPr lang="en-US" sz="1600" dirty="0"/>
              <a:t>Classical machine learning is a data-driven approach that requires data preparation, feature selection and model training, and can be used for tasks such as defect categorization and predicting software problems.</a:t>
            </a:r>
          </a:p>
          <a:p>
            <a:pPr marL="0" indent="0">
              <a:buNone/>
            </a:pPr>
            <a:endParaRPr lang="en-US" sz="1600" dirty="0"/>
          </a:p>
          <a:p>
            <a:pPr marL="0" indent="0">
              <a:buNone/>
            </a:pPr>
            <a:r>
              <a:rPr lang="en-US" sz="1600" b="1" dirty="0"/>
              <a:t>Classical Machine Learning (ML)</a:t>
            </a:r>
            <a:r>
              <a:rPr lang="en-US" sz="1600" dirty="0"/>
              <a:t> is a type of artificial intelligence where computers </a:t>
            </a:r>
            <a:r>
              <a:rPr lang="en-US" sz="1600" b="1" dirty="0"/>
              <a:t>learn patterns from data instead of being explicitly programmed with rules</a:t>
            </a:r>
            <a:r>
              <a:rPr lang="en-US" sz="1600" dirty="0"/>
              <a:t>.</a:t>
            </a:r>
          </a:p>
          <a:p>
            <a:r>
              <a:rPr lang="en-US" sz="1600" dirty="0"/>
              <a:t>In </a:t>
            </a:r>
            <a:r>
              <a:rPr lang="en-US" sz="1600" b="1" dirty="0"/>
              <a:t>Symbolic AI</a:t>
            </a:r>
            <a:r>
              <a:rPr lang="en-US" sz="1600" dirty="0"/>
              <a:t>, humans write rules.</a:t>
            </a:r>
            <a:br>
              <a:rPr lang="en-US" sz="1600" dirty="0"/>
            </a:br>
            <a:r>
              <a:rPr lang="en-US" sz="1600" dirty="0"/>
              <a:t>In </a:t>
            </a:r>
            <a:r>
              <a:rPr lang="en-US" sz="1600" b="1" dirty="0"/>
              <a:t>Machine Learning</a:t>
            </a:r>
            <a:r>
              <a:rPr lang="en-US" sz="1600" dirty="0"/>
              <a:t>, the system </a:t>
            </a:r>
            <a:r>
              <a:rPr lang="en-US" sz="1600" b="1" dirty="0"/>
              <a:t>learns the rules automatically from data</a:t>
            </a:r>
            <a:r>
              <a:rPr lang="en-US" sz="1600" dirty="0"/>
              <a:t>.</a:t>
            </a:r>
          </a:p>
          <a:p>
            <a:pPr marL="0" indent="0">
              <a:buNone/>
            </a:pPr>
            <a:r>
              <a:rPr lang="en-US" sz="1600" dirty="0"/>
              <a:t>Simple definition:</a:t>
            </a:r>
          </a:p>
          <a:p>
            <a:r>
              <a:rPr lang="en-US" sz="1600" b="1" dirty="0"/>
              <a:t>Classical Machine Learning = Algorithms that learn patterns from data to make predictions or decisions.</a:t>
            </a:r>
            <a:endParaRPr lang="en-US" sz="1600" dirty="0"/>
          </a:p>
          <a:p>
            <a:r>
              <a:rPr lang="en-US" sz="1600" dirty="0"/>
              <a:t>Example:</a:t>
            </a:r>
            <a:br>
              <a:rPr lang="en-US" sz="1600" dirty="0"/>
            </a:br>
            <a:r>
              <a:rPr lang="en-US" sz="1600" dirty="0"/>
              <a:t>Predict whether an email is </a:t>
            </a:r>
            <a:r>
              <a:rPr lang="en-US" sz="1600" b="1" dirty="0"/>
              <a:t>spam or not spam</a:t>
            </a:r>
            <a:r>
              <a:rPr lang="en-US" sz="1600" dirty="0"/>
              <a:t> based on previous email data.</a:t>
            </a:r>
          </a:p>
          <a:p>
            <a:pPr marL="0" indent="0">
              <a:buNone/>
            </a:pPr>
            <a:endParaRPr lang="en-IN" sz="1600" dirty="0"/>
          </a:p>
        </p:txBody>
      </p:sp>
    </p:spTree>
    <p:extLst>
      <p:ext uri="{BB962C8B-B14F-4D97-AF65-F5344CB8AC3E}">
        <p14:creationId xmlns:p14="http://schemas.microsoft.com/office/powerpoint/2010/main" val="39677971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33DE7-D515-B7D1-5DB9-3DC414A63E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592E8-13A5-3598-860E-832BC2215024}"/>
              </a:ext>
            </a:extLst>
          </p:cNvPr>
          <p:cNvSpPr>
            <a:spLocks noGrp="1"/>
          </p:cNvSpPr>
          <p:nvPr>
            <p:ph type="title"/>
          </p:nvPr>
        </p:nvSpPr>
        <p:spPr>
          <a:xfrm>
            <a:off x="685216" y="459828"/>
            <a:ext cx="8596668" cy="1320800"/>
          </a:xfrm>
        </p:spPr>
        <p:txBody>
          <a:bodyPr>
            <a:normAutofit/>
          </a:bodyPr>
          <a:lstStyle/>
          <a:p>
            <a:r>
              <a:rPr lang="en-IN" dirty="0"/>
              <a:t>AI Spectrum- Classical Machine Learning</a:t>
            </a:r>
            <a:endParaRPr lang="en-IN" dirty="0">
              <a:solidFill>
                <a:srgbClr val="FF0000"/>
              </a:solidFill>
            </a:endParaRPr>
          </a:p>
        </p:txBody>
      </p:sp>
      <p:sp>
        <p:nvSpPr>
          <p:cNvPr id="3" name="Rectangle: Rounded Corners 2">
            <a:extLst>
              <a:ext uri="{FF2B5EF4-FFF2-40B4-BE49-F238E27FC236}">
                <a16:creationId xmlns:a16="http://schemas.microsoft.com/office/drawing/2014/main" id="{DA704649-720F-61F6-AB32-FE482C0367D1}"/>
              </a:ext>
            </a:extLst>
          </p:cNvPr>
          <p:cNvSpPr/>
          <p:nvPr/>
        </p:nvSpPr>
        <p:spPr>
          <a:xfrm>
            <a:off x="579704" y="2157984"/>
            <a:ext cx="1883664" cy="12710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endParaRPr lang="en-IN" dirty="0"/>
          </a:p>
        </p:txBody>
      </p:sp>
      <p:sp>
        <p:nvSpPr>
          <p:cNvPr id="6" name="Rectangle: Rounded Corners 5">
            <a:extLst>
              <a:ext uri="{FF2B5EF4-FFF2-40B4-BE49-F238E27FC236}">
                <a16:creationId xmlns:a16="http://schemas.microsoft.com/office/drawing/2014/main" id="{F963B6E4-801D-B913-2463-64B9F4736A82}"/>
              </a:ext>
            </a:extLst>
          </p:cNvPr>
          <p:cNvSpPr/>
          <p:nvPr/>
        </p:nvSpPr>
        <p:spPr>
          <a:xfrm>
            <a:off x="3033344" y="2157984"/>
            <a:ext cx="1883664" cy="12710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Algorithm</a:t>
            </a:r>
            <a:endParaRPr lang="en-IN"/>
          </a:p>
        </p:txBody>
      </p:sp>
      <p:sp>
        <p:nvSpPr>
          <p:cNvPr id="8" name="Rectangle: Rounded Corners 7">
            <a:extLst>
              <a:ext uri="{FF2B5EF4-FFF2-40B4-BE49-F238E27FC236}">
                <a16:creationId xmlns:a16="http://schemas.microsoft.com/office/drawing/2014/main" id="{87F1B9D5-830D-F108-4E9B-226719FF9D86}"/>
              </a:ext>
            </a:extLst>
          </p:cNvPr>
          <p:cNvSpPr/>
          <p:nvPr/>
        </p:nvSpPr>
        <p:spPr>
          <a:xfrm>
            <a:off x="5567992" y="2157984"/>
            <a:ext cx="1883664" cy="12710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a:t>
            </a:r>
            <a:endParaRPr lang="en-IN" dirty="0"/>
          </a:p>
        </p:txBody>
      </p:sp>
      <p:sp>
        <p:nvSpPr>
          <p:cNvPr id="10" name="Rectangle: Rounded Corners 9">
            <a:extLst>
              <a:ext uri="{FF2B5EF4-FFF2-40B4-BE49-F238E27FC236}">
                <a16:creationId xmlns:a16="http://schemas.microsoft.com/office/drawing/2014/main" id="{C0CF0789-F498-69E9-2ADE-10B352F65EED}"/>
              </a:ext>
            </a:extLst>
          </p:cNvPr>
          <p:cNvSpPr/>
          <p:nvPr/>
        </p:nvSpPr>
        <p:spPr>
          <a:xfrm>
            <a:off x="8102640" y="2157984"/>
            <a:ext cx="1883664" cy="12710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Prediction</a:t>
            </a:r>
            <a:endParaRPr lang="en-IN"/>
          </a:p>
        </p:txBody>
      </p:sp>
      <p:cxnSp>
        <p:nvCxnSpPr>
          <p:cNvPr id="14" name="Straight Arrow Connector 13">
            <a:extLst>
              <a:ext uri="{FF2B5EF4-FFF2-40B4-BE49-F238E27FC236}">
                <a16:creationId xmlns:a16="http://schemas.microsoft.com/office/drawing/2014/main" id="{AD0BFB68-2BC0-27E3-338B-5DD935B077A8}"/>
              </a:ext>
            </a:extLst>
          </p:cNvPr>
          <p:cNvCxnSpPr>
            <a:stCxn id="3" idx="2"/>
          </p:cNvCxnSpPr>
          <p:nvPr/>
        </p:nvCxnSpPr>
        <p:spPr>
          <a:xfrm flipH="1">
            <a:off x="1517904" y="3429000"/>
            <a:ext cx="3632" cy="1188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494EBB0-7E94-FCFF-DA36-032C9AE09D40}"/>
              </a:ext>
            </a:extLst>
          </p:cNvPr>
          <p:cNvSpPr txBox="1"/>
          <p:nvPr/>
        </p:nvSpPr>
        <p:spPr>
          <a:xfrm>
            <a:off x="870858" y="4590288"/>
            <a:ext cx="1872768" cy="830997"/>
          </a:xfrm>
          <a:prstGeom prst="rect">
            <a:avLst/>
          </a:prstGeom>
          <a:noFill/>
        </p:spPr>
        <p:txBody>
          <a:bodyPr wrap="square">
            <a:spAutoFit/>
          </a:bodyPr>
          <a:lstStyle/>
          <a:p>
            <a:r>
              <a:rPr lang="en-US" sz="1600" dirty="0"/>
              <a:t>Historical examples used for training</a:t>
            </a:r>
            <a:endParaRPr lang="en-IN" dirty="0"/>
          </a:p>
        </p:txBody>
      </p:sp>
      <p:cxnSp>
        <p:nvCxnSpPr>
          <p:cNvPr id="18" name="Straight Arrow Connector 17">
            <a:extLst>
              <a:ext uri="{FF2B5EF4-FFF2-40B4-BE49-F238E27FC236}">
                <a16:creationId xmlns:a16="http://schemas.microsoft.com/office/drawing/2014/main" id="{CCD0CA17-0890-99B2-B8DD-923D25A101F8}"/>
              </a:ext>
            </a:extLst>
          </p:cNvPr>
          <p:cNvCxnSpPr>
            <a:stCxn id="6" idx="2"/>
          </p:cNvCxnSpPr>
          <p:nvPr/>
        </p:nvCxnSpPr>
        <p:spPr>
          <a:xfrm>
            <a:off x="3975176" y="3429000"/>
            <a:ext cx="39040" cy="125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908A7B5-D673-3192-7236-E8ED9A39C312}"/>
              </a:ext>
            </a:extLst>
          </p:cNvPr>
          <p:cNvSpPr txBox="1"/>
          <p:nvPr/>
        </p:nvSpPr>
        <p:spPr>
          <a:xfrm>
            <a:off x="3214542" y="4645152"/>
            <a:ext cx="1769008" cy="830997"/>
          </a:xfrm>
          <a:prstGeom prst="rect">
            <a:avLst/>
          </a:prstGeom>
          <a:noFill/>
        </p:spPr>
        <p:txBody>
          <a:bodyPr wrap="square">
            <a:spAutoFit/>
          </a:bodyPr>
          <a:lstStyle/>
          <a:p>
            <a:r>
              <a:rPr lang="en-US" sz="1600" dirty="0"/>
              <a:t>Mathematical method used to learn patterns.</a:t>
            </a:r>
          </a:p>
        </p:txBody>
      </p:sp>
      <p:sp>
        <p:nvSpPr>
          <p:cNvPr id="22" name="TextBox 21">
            <a:extLst>
              <a:ext uri="{FF2B5EF4-FFF2-40B4-BE49-F238E27FC236}">
                <a16:creationId xmlns:a16="http://schemas.microsoft.com/office/drawing/2014/main" id="{FB217C17-1FF1-E50C-1AD7-4D7284E07391}"/>
              </a:ext>
            </a:extLst>
          </p:cNvPr>
          <p:cNvSpPr txBox="1"/>
          <p:nvPr/>
        </p:nvSpPr>
        <p:spPr>
          <a:xfrm>
            <a:off x="5636336" y="4645151"/>
            <a:ext cx="1883664" cy="830997"/>
          </a:xfrm>
          <a:prstGeom prst="rect">
            <a:avLst/>
          </a:prstGeom>
          <a:noFill/>
        </p:spPr>
        <p:txBody>
          <a:bodyPr wrap="square">
            <a:spAutoFit/>
          </a:bodyPr>
          <a:lstStyle/>
          <a:p>
            <a:r>
              <a:rPr lang="en-US" sz="1600" dirty="0"/>
              <a:t>The trained system that makes predictions.</a:t>
            </a:r>
          </a:p>
        </p:txBody>
      </p:sp>
      <p:sp>
        <p:nvSpPr>
          <p:cNvPr id="24" name="TextBox 23">
            <a:extLst>
              <a:ext uri="{FF2B5EF4-FFF2-40B4-BE49-F238E27FC236}">
                <a16:creationId xmlns:a16="http://schemas.microsoft.com/office/drawing/2014/main" id="{258CAFF0-A71B-1727-CB4B-53A5B1B4AAD3}"/>
              </a:ext>
            </a:extLst>
          </p:cNvPr>
          <p:cNvSpPr txBox="1"/>
          <p:nvPr/>
        </p:nvSpPr>
        <p:spPr>
          <a:xfrm>
            <a:off x="8612556" y="4590288"/>
            <a:ext cx="1338656" cy="1077218"/>
          </a:xfrm>
          <a:prstGeom prst="rect">
            <a:avLst/>
          </a:prstGeom>
          <a:noFill/>
        </p:spPr>
        <p:txBody>
          <a:bodyPr wrap="square">
            <a:spAutoFit/>
          </a:bodyPr>
          <a:lstStyle/>
          <a:p>
            <a:r>
              <a:rPr lang="en-US" sz="1600" dirty="0"/>
              <a:t>Output generated by the model</a:t>
            </a:r>
            <a:endParaRPr lang="en-IN" dirty="0"/>
          </a:p>
        </p:txBody>
      </p:sp>
      <p:cxnSp>
        <p:nvCxnSpPr>
          <p:cNvPr id="25" name="Straight Arrow Connector 24">
            <a:extLst>
              <a:ext uri="{FF2B5EF4-FFF2-40B4-BE49-F238E27FC236}">
                <a16:creationId xmlns:a16="http://schemas.microsoft.com/office/drawing/2014/main" id="{27B16CBD-458C-05DF-8E8E-24E32D9C0389}"/>
              </a:ext>
            </a:extLst>
          </p:cNvPr>
          <p:cNvCxnSpPr>
            <a:cxnSpLocks/>
          </p:cNvCxnSpPr>
          <p:nvPr/>
        </p:nvCxnSpPr>
        <p:spPr>
          <a:xfrm>
            <a:off x="6428816" y="3392423"/>
            <a:ext cx="39040" cy="125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81B913D-38D2-112F-5BE3-8E793F67BBCC}"/>
              </a:ext>
            </a:extLst>
          </p:cNvPr>
          <p:cNvCxnSpPr>
            <a:cxnSpLocks/>
          </p:cNvCxnSpPr>
          <p:nvPr/>
        </p:nvCxnSpPr>
        <p:spPr>
          <a:xfrm>
            <a:off x="9012288" y="3383280"/>
            <a:ext cx="39040" cy="12527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Arrow: Right 27">
            <a:extLst>
              <a:ext uri="{FF2B5EF4-FFF2-40B4-BE49-F238E27FC236}">
                <a16:creationId xmlns:a16="http://schemas.microsoft.com/office/drawing/2014/main" id="{D36977A4-0046-3582-9BBE-125838DCC7C1}"/>
              </a:ext>
            </a:extLst>
          </p:cNvPr>
          <p:cNvSpPr/>
          <p:nvPr/>
        </p:nvSpPr>
        <p:spPr>
          <a:xfrm>
            <a:off x="2463368" y="2793492"/>
            <a:ext cx="569976" cy="1484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Arrow: Right 29">
            <a:extLst>
              <a:ext uri="{FF2B5EF4-FFF2-40B4-BE49-F238E27FC236}">
                <a16:creationId xmlns:a16="http://schemas.microsoft.com/office/drawing/2014/main" id="{7FCE6EB5-D239-D579-DEA7-315CD9273856}"/>
              </a:ext>
            </a:extLst>
          </p:cNvPr>
          <p:cNvSpPr/>
          <p:nvPr/>
        </p:nvSpPr>
        <p:spPr>
          <a:xfrm>
            <a:off x="4980274" y="2719280"/>
            <a:ext cx="569976" cy="1484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Arrow: Right 31">
            <a:extLst>
              <a:ext uri="{FF2B5EF4-FFF2-40B4-BE49-F238E27FC236}">
                <a16:creationId xmlns:a16="http://schemas.microsoft.com/office/drawing/2014/main" id="{2A6B5D71-2875-7836-697D-47F5012BC934}"/>
              </a:ext>
            </a:extLst>
          </p:cNvPr>
          <p:cNvSpPr/>
          <p:nvPr/>
        </p:nvSpPr>
        <p:spPr>
          <a:xfrm>
            <a:off x="7545166" y="2716828"/>
            <a:ext cx="569976" cy="14842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462923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ED3DF-6390-F90B-B4EE-685D134B25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BC05AD-5A11-4BB2-0FE4-182CD0214E42}"/>
              </a:ext>
            </a:extLst>
          </p:cNvPr>
          <p:cNvSpPr>
            <a:spLocks noGrp="1"/>
          </p:cNvSpPr>
          <p:nvPr>
            <p:ph type="title"/>
          </p:nvPr>
        </p:nvSpPr>
        <p:spPr>
          <a:xfrm>
            <a:off x="685216" y="459828"/>
            <a:ext cx="8596668" cy="1320800"/>
          </a:xfrm>
        </p:spPr>
        <p:txBody>
          <a:bodyPr>
            <a:normAutofit/>
          </a:bodyPr>
          <a:lstStyle/>
          <a:p>
            <a:r>
              <a:rPr lang="en-IN" dirty="0"/>
              <a:t>AI Spectrum- Classical Machine Learning</a:t>
            </a:r>
            <a:endParaRPr lang="en-IN" dirty="0">
              <a:solidFill>
                <a:srgbClr val="FF0000"/>
              </a:solidFill>
            </a:endParaRPr>
          </a:p>
        </p:txBody>
      </p:sp>
      <p:pic>
        <p:nvPicPr>
          <p:cNvPr id="5" name="Picture 4">
            <a:extLst>
              <a:ext uri="{FF2B5EF4-FFF2-40B4-BE49-F238E27FC236}">
                <a16:creationId xmlns:a16="http://schemas.microsoft.com/office/drawing/2014/main" id="{236476E3-03BD-888D-6ADA-78DD07D73314}"/>
              </a:ext>
            </a:extLst>
          </p:cNvPr>
          <p:cNvPicPr>
            <a:picLocks noChangeAspect="1"/>
          </p:cNvPicPr>
          <p:nvPr/>
        </p:nvPicPr>
        <p:blipFill>
          <a:blip r:embed="rId2"/>
          <a:stretch>
            <a:fillRect/>
          </a:stretch>
        </p:blipFill>
        <p:spPr>
          <a:xfrm>
            <a:off x="1000955" y="1543962"/>
            <a:ext cx="7245722" cy="4026107"/>
          </a:xfrm>
          <a:prstGeom prst="rect">
            <a:avLst/>
          </a:prstGeom>
        </p:spPr>
      </p:pic>
    </p:spTree>
    <p:extLst>
      <p:ext uri="{BB962C8B-B14F-4D97-AF65-F5344CB8AC3E}">
        <p14:creationId xmlns:p14="http://schemas.microsoft.com/office/powerpoint/2010/main" val="218106118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B7CD9-013C-4D9C-408A-17EC02B6C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04F330-CFC7-6E62-D296-AC671ED771AC}"/>
              </a:ext>
            </a:extLst>
          </p:cNvPr>
          <p:cNvSpPr>
            <a:spLocks noGrp="1"/>
          </p:cNvSpPr>
          <p:nvPr>
            <p:ph type="title"/>
          </p:nvPr>
        </p:nvSpPr>
        <p:spPr>
          <a:xfrm>
            <a:off x="685216" y="459828"/>
            <a:ext cx="8596668" cy="1320800"/>
          </a:xfrm>
        </p:spPr>
        <p:txBody>
          <a:bodyPr>
            <a:normAutofit/>
          </a:bodyPr>
          <a:lstStyle/>
          <a:p>
            <a:r>
              <a:rPr lang="en-IN" dirty="0"/>
              <a:t>AI Spectrum- Classical Machine Learning</a:t>
            </a:r>
            <a:endParaRPr lang="en-IN" dirty="0">
              <a:solidFill>
                <a:srgbClr val="FF0000"/>
              </a:solidFill>
            </a:endParaRPr>
          </a:p>
        </p:txBody>
      </p:sp>
      <p:sp>
        <p:nvSpPr>
          <p:cNvPr id="4" name="Content Placeholder 3">
            <a:extLst>
              <a:ext uri="{FF2B5EF4-FFF2-40B4-BE49-F238E27FC236}">
                <a16:creationId xmlns:a16="http://schemas.microsoft.com/office/drawing/2014/main" id="{1A87D5D3-38AF-16CF-07EA-DB8710812759}"/>
              </a:ext>
            </a:extLst>
          </p:cNvPr>
          <p:cNvSpPr>
            <a:spLocks noGrp="1"/>
          </p:cNvSpPr>
          <p:nvPr>
            <p:ph idx="1"/>
          </p:nvPr>
        </p:nvSpPr>
        <p:spPr>
          <a:xfrm>
            <a:off x="685216" y="1301370"/>
            <a:ext cx="9049991" cy="5304382"/>
          </a:xfrm>
        </p:spPr>
        <p:txBody>
          <a:bodyPr>
            <a:noAutofit/>
          </a:bodyPr>
          <a:lstStyle/>
          <a:p>
            <a:pPr marL="0" indent="0">
              <a:buNone/>
            </a:pPr>
            <a:r>
              <a:rPr lang="en-US" sz="1600" dirty="0"/>
              <a:t>Example:</a:t>
            </a:r>
          </a:p>
          <a:p>
            <a:r>
              <a:rPr lang="en-US" sz="1600" dirty="0"/>
              <a:t>Training Data: house size, location, price</a:t>
            </a:r>
            <a:br>
              <a:rPr lang="en-US" sz="1600" dirty="0"/>
            </a:br>
            <a:r>
              <a:rPr lang="en-US" sz="1600" dirty="0"/>
              <a:t>↓</a:t>
            </a:r>
            <a:br>
              <a:rPr lang="en-US" sz="1600" dirty="0"/>
            </a:br>
            <a:r>
              <a:rPr lang="en-US" sz="1600" dirty="0"/>
              <a:t>Model learns relationship</a:t>
            </a:r>
            <a:br>
              <a:rPr lang="en-US" sz="1600" dirty="0"/>
            </a:br>
            <a:r>
              <a:rPr lang="en-US" sz="1600" dirty="0"/>
              <a:t>↓</a:t>
            </a:r>
            <a:br>
              <a:rPr lang="en-US" sz="1600" dirty="0"/>
            </a:br>
            <a:r>
              <a:rPr lang="en-US" sz="1600" dirty="0"/>
              <a:t>Predict price of new house</a:t>
            </a:r>
          </a:p>
          <a:p>
            <a:pPr marL="0" indent="0">
              <a:buNone/>
            </a:pPr>
            <a:endParaRPr lang="en-IN" sz="1600" dirty="0"/>
          </a:p>
        </p:txBody>
      </p:sp>
    </p:spTree>
    <p:extLst>
      <p:ext uri="{BB962C8B-B14F-4D97-AF65-F5344CB8AC3E}">
        <p14:creationId xmlns:p14="http://schemas.microsoft.com/office/powerpoint/2010/main" val="31047176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BAF24-62E7-D21A-E28F-FBB6D85E1B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C0846-E2EF-703A-9944-8282B391BD76}"/>
              </a:ext>
            </a:extLst>
          </p:cNvPr>
          <p:cNvSpPr>
            <a:spLocks noGrp="1"/>
          </p:cNvSpPr>
          <p:nvPr>
            <p:ph type="title"/>
          </p:nvPr>
        </p:nvSpPr>
        <p:spPr>
          <a:xfrm>
            <a:off x="685216" y="459828"/>
            <a:ext cx="8596668" cy="1320800"/>
          </a:xfrm>
        </p:spPr>
        <p:txBody>
          <a:bodyPr>
            <a:normAutofit/>
          </a:bodyPr>
          <a:lstStyle/>
          <a:p>
            <a:r>
              <a:rPr lang="en-IN" dirty="0"/>
              <a:t>AI Spectrum- Types of  Machine Learning</a:t>
            </a:r>
            <a:endParaRPr lang="en-IN" dirty="0">
              <a:solidFill>
                <a:srgbClr val="FF0000"/>
              </a:solidFill>
            </a:endParaRPr>
          </a:p>
        </p:txBody>
      </p:sp>
      <p:pic>
        <p:nvPicPr>
          <p:cNvPr id="5" name="Content Placeholder 4">
            <a:extLst>
              <a:ext uri="{FF2B5EF4-FFF2-40B4-BE49-F238E27FC236}">
                <a16:creationId xmlns:a16="http://schemas.microsoft.com/office/drawing/2014/main" id="{94D69771-4BB0-125E-BA86-FE74F01ACB12}"/>
              </a:ext>
            </a:extLst>
          </p:cNvPr>
          <p:cNvPicPr>
            <a:picLocks noGrp="1" noChangeAspect="1"/>
          </p:cNvPicPr>
          <p:nvPr>
            <p:ph idx="1"/>
          </p:nvPr>
        </p:nvPicPr>
        <p:blipFill>
          <a:blip r:embed="rId2"/>
          <a:stretch>
            <a:fillRect/>
          </a:stretch>
        </p:blipFill>
        <p:spPr>
          <a:xfrm>
            <a:off x="917503" y="1406681"/>
            <a:ext cx="8596668" cy="4574394"/>
          </a:xfrm>
          <a:prstGeom prst="rect">
            <a:avLst/>
          </a:prstGeom>
        </p:spPr>
      </p:pic>
    </p:spTree>
    <p:extLst>
      <p:ext uri="{BB962C8B-B14F-4D97-AF65-F5344CB8AC3E}">
        <p14:creationId xmlns:p14="http://schemas.microsoft.com/office/powerpoint/2010/main" val="369333477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49B49-9759-39FE-3502-0428EFF99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88D69-6FF6-D004-C117-EB81554C2FB6}"/>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sp>
        <p:nvSpPr>
          <p:cNvPr id="4" name="Content Placeholder 3">
            <a:extLst>
              <a:ext uri="{FF2B5EF4-FFF2-40B4-BE49-F238E27FC236}">
                <a16:creationId xmlns:a16="http://schemas.microsoft.com/office/drawing/2014/main" id="{CF4AFF30-91B6-7FC5-E291-001D466584C0}"/>
              </a:ext>
            </a:extLst>
          </p:cNvPr>
          <p:cNvSpPr>
            <a:spLocks noGrp="1"/>
          </p:cNvSpPr>
          <p:nvPr>
            <p:ph idx="1"/>
          </p:nvPr>
        </p:nvSpPr>
        <p:spPr>
          <a:xfrm>
            <a:off x="566344" y="1340153"/>
            <a:ext cx="5369373" cy="5304382"/>
          </a:xfrm>
        </p:spPr>
        <p:txBody>
          <a:bodyPr>
            <a:noAutofit/>
          </a:bodyPr>
          <a:lstStyle/>
          <a:p>
            <a:pPr marL="0" indent="0">
              <a:buNone/>
            </a:pPr>
            <a:r>
              <a:rPr lang="en-US" sz="1600" b="1" dirty="0">
                <a:solidFill>
                  <a:schemeClr val="accent2"/>
                </a:solidFill>
              </a:rPr>
              <a:t>1. Supervised Learning</a:t>
            </a:r>
          </a:p>
          <a:p>
            <a:pPr marL="0" indent="0">
              <a:buNone/>
            </a:pPr>
            <a:r>
              <a:rPr lang="en-US" sz="1600" dirty="0"/>
              <a:t>In supervised learning, the model learns using labeled data.</a:t>
            </a:r>
          </a:p>
          <a:p>
            <a:pPr marL="0" indent="0">
              <a:buNone/>
            </a:pPr>
            <a:r>
              <a:rPr lang="en-US" sz="1600" dirty="0"/>
              <a:t>Labeled data means input + correct output.</a:t>
            </a:r>
          </a:p>
          <a:p>
            <a:pPr marL="0" indent="0">
              <a:buNone/>
            </a:pPr>
            <a:r>
              <a:rPr lang="en-US" sz="1600" dirty="0"/>
              <a:t>Example dataset:</a:t>
            </a:r>
          </a:p>
          <a:p>
            <a:pPr marL="0" indent="0">
              <a:buNone/>
            </a:pPr>
            <a:r>
              <a:rPr lang="en-US" sz="1600" dirty="0"/>
              <a:t>House Size	Price</a:t>
            </a:r>
          </a:p>
          <a:p>
            <a:pPr marL="0" indent="0">
              <a:buNone/>
            </a:pPr>
            <a:r>
              <a:rPr lang="en-US" sz="1600" dirty="0"/>
              <a:t>1000 sq ft	50,000</a:t>
            </a:r>
          </a:p>
          <a:p>
            <a:pPr marL="0" indent="0">
              <a:buNone/>
            </a:pPr>
            <a:endParaRPr lang="en-US" sz="1600" b="1" dirty="0"/>
          </a:p>
          <a:p>
            <a:pPr marL="0" indent="0">
              <a:buNone/>
            </a:pPr>
            <a:r>
              <a:rPr lang="en-US" sz="1600" b="1" dirty="0"/>
              <a:t>Common Algorithms</a:t>
            </a:r>
          </a:p>
          <a:p>
            <a:r>
              <a:rPr lang="en-US" sz="1600" dirty="0"/>
              <a:t>Linear Regression</a:t>
            </a:r>
          </a:p>
          <a:p>
            <a:r>
              <a:rPr lang="en-US" sz="1600" dirty="0"/>
              <a:t>Logistic Regression</a:t>
            </a:r>
          </a:p>
          <a:p>
            <a:r>
              <a:rPr lang="en-US" sz="1600" dirty="0"/>
              <a:t>Decision Trees</a:t>
            </a:r>
          </a:p>
          <a:p>
            <a:r>
              <a:rPr lang="en-US" sz="1600" dirty="0"/>
              <a:t>Support Vector M</a:t>
            </a:r>
          </a:p>
          <a:p>
            <a:pPr marL="0" indent="0">
              <a:buNone/>
            </a:pPr>
            <a:endParaRPr lang="en-US" sz="1600" dirty="0"/>
          </a:p>
        </p:txBody>
      </p:sp>
      <p:sp>
        <p:nvSpPr>
          <p:cNvPr id="7" name="TextBox 6">
            <a:extLst>
              <a:ext uri="{FF2B5EF4-FFF2-40B4-BE49-F238E27FC236}">
                <a16:creationId xmlns:a16="http://schemas.microsoft.com/office/drawing/2014/main" id="{468270CD-12CB-87FE-687C-797454BCB6FE}"/>
              </a:ext>
            </a:extLst>
          </p:cNvPr>
          <p:cNvSpPr txBox="1"/>
          <p:nvPr/>
        </p:nvSpPr>
        <p:spPr>
          <a:xfrm>
            <a:off x="6582828" y="1394112"/>
            <a:ext cx="6101254" cy="1384995"/>
          </a:xfrm>
          <a:prstGeom prst="rect">
            <a:avLst/>
          </a:prstGeom>
          <a:noFill/>
        </p:spPr>
        <p:txBody>
          <a:bodyPr wrap="square">
            <a:spAutoFit/>
          </a:bodyPr>
          <a:lstStyle/>
          <a:p>
            <a:pPr>
              <a:buNone/>
            </a:pPr>
            <a:r>
              <a:rPr lang="en-US" sz="1400" b="1" dirty="0"/>
              <a:t>Example Applications</a:t>
            </a:r>
          </a:p>
          <a:p>
            <a:pPr>
              <a:buNone/>
            </a:pPr>
            <a:endParaRPr lang="en-US" sz="1400" b="1" dirty="0"/>
          </a:p>
          <a:p>
            <a:pPr>
              <a:buFont typeface="Arial" panose="020B0604020202020204" pitchFamily="34" charset="0"/>
              <a:buChar char="•"/>
            </a:pPr>
            <a:r>
              <a:rPr lang="en-US" sz="1400" dirty="0"/>
              <a:t>Spam detection</a:t>
            </a:r>
          </a:p>
          <a:p>
            <a:pPr>
              <a:buFont typeface="Arial" panose="020B0604020202020204" pitchFamily="34" charset="0"/>
              <a:buChar char="•"/>
            </a:pPr>
            <a:r>
              <a:rPr lang="en-US" sz="1400" dirty="0"/>
              <a:t>Credit risk prediction</a:t>
            </a:r>
          </a:p>
          <a:p>
            <a:pPr>
              <a:buFont typeface="Arial" panose="020B0604020202020204" pitchFamily="34" charset="0"/>
              <a:buChar char="•"/>
            </a:pPr>
            <a:r>
              <a:rPr lang="en-US" sz="1400" dirty="0"/>
              <a:t>Medical diagnosis</a:t>
            </a:r>
          </a:p>
          <a:p>
            <a:pPr>
              <a:buFont typeface="Arial" panose="020B0604020202020204" pitchFamily="34" charset="0"/>
              <a:buChar char="•"/>
            </a:pPr>
            <a:r>
              <a:rPr lang="en-US" sz="1400" dirty="0"/>
              <a:t>Fraud detection</a:t>
            </a:r>
          </a:p>
        </p:txBody>
      </p:sp>
      <p:sp>
        <p:nvSpPr>
          <p:cNvPr id="9" name="TextBox 8">
            <a:extLst>
              <a:ext uri="{FF2B5EF4-FFF2-40B4-BE49-F238E27FC236}">
                <a16:creationId xmlns:a16="http://schemas.microsoft.com/office/drawing/2014/main" id="{A05AA700-8C21-5F77-FFE1-3E6369C9565B}"/>
              </a:ext>
            </a:extLst>
          </p:cNvPr>
          <p:cNvSpPr txBox="1"/>
          <p:nvPr/>
        </p:nvSpPr>
        <p:spPr>
          <a:xfrm>
            <a:off x="6667237" y="4338709"/>
            <a:ext cx="6101254" cy="738664"/>
          </a:xfrm>
          <a:prstGeom prst="rect">
            <a:avLst/>
          </a:prstGeom>
          <a:noFill/>
        </p:spPr>
        <p:txBody>
          <a:bodyPr wrap="square">
            <a:spAutoFit/>
          </a:bodyPr>
          <a:lstStyle/>
          <a:p>
            <a:pPr>
              <a:buNone/>
            </a:pPr>
            <a:r>
              <a:rPr lang="en-US" sz="1400" dirty="0">
                <a:latin typeface="+mj-lt"/>
              </a:rPr>
              <a:t>Example:</a:t>
            </a:r>
          </a:p>
          <a:p>
            <a:pPr rtl="0">
              <a:buNone/>
            </a:pPr>
            <a:r>
              <a:rPr lang="en-US" sz="1400" dirty="0">
                <a:latin typeface="+mj-lt"/>
              </a:rPr>
              <a:t>Input: Email text</a:t>
            </a:r>
            <a:br>
              <a:rPr lang="en-US" sz="1400" dirty="0">
                <a:latin typeface="+mj-lt"/>
              </a:rPr>
            </a:br>
            <a:r>
              <a:rPr lang="en-US" sz="1400" dirty="0">
                <a:latin typeface="+mj-lt"/>
              </a:rPr>
              <a:t>Output: Spam or Not Spam</a:t>
            </a:r>
          </a:p>
        </p:txBody>
      </p:sp>
    </p:spTree>
    <p:extLst>
      <p:ext uri="{BB962C8B-B14F-4D97-AF65-F5344CB8AC3E}">
        <p14:creationId xmlns:p14="http://schemas.microsoft.com/office/powerpoint/2010/main" val="333555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31796-C094-69D0-5CBF-6C874B677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28A9E-B2E7-1CD4-AB31-825238D70344}"/>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pic>
        <p:nvPicPr>
          <p:cNvPr id="8" name="Picture 7">
            <a:extLst>
              <a:ext uri="{FF2B5EF4-FFF2-40B4-BE49-F238E27FC236}">
                <a16:creationId xmlns:a16="http://schemas.microsoft.com/office/drawing/2014/main" id="{4B9C4D28-5949-0A1B-5F32-8A506D65DA77}"/>
              </a:ext>
            </a:extLst>
          </p:cNvPr>
          <p:cNvPicPr>
            <a:picLocks noChangeAspect="1"/>
          </p:cNvPicPr>
          <p:nvPr/>
        </p:nvPicPr>
        <p:blipFill>
          <a:blip r:embed="rId2"/>
          <a:stretch>
            <a:fillRect/>
          </a:stretch>
        </p:blipFill>
        <p:spPr>
          <a:xfrm>
            <a:off x="895411" y="1335176"/>
            <a:ext cx="8586545" cy="4526128"/>
          </a:xfrm>
          <a:prstGeom prst="rect">
            <a:avLst/>
          </a:prstGeom>
        </p:spPr>
      </p:pic>
    </p:spTree>
    <p:extLst>
      <p:ext uri="{BB962C8B-B14F-4D97-AF65-F5344CB8AC3E}">
        <p14:creationId xmlns:p14="http://schemas.microsoft.com/office/powerpoint/2010/main" val="22870663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E52EB-16A3-EA52-3912-B10C9BBEE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1689C6-D0E0-C532-69E0-7B2826CC2901}"/>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pic>
        <p:nvPicPr>
          <p:cNvPr id="4" name="Picture 3">
            <a:extLst>
              <a:ext uri="{FF2B5EF4-FFF2-40B4-BE49-F238E27FC236}">
                <a16:creationId xmlns:a16="http://schemas.microsoft.com/office/drawing/2014/main" id="{7BD20084-ADF0-B8FC-FE7D-1D4C6C40CC2D}"/>
              </a:ext>
            </a:extLst>
          </p:cNvPr>
          <p:cNvPicPr>
            <a:picLocks noChangeAspect="1"/>
          </p:cNvPicPr>
          <p:nvPr/>
        </p:nvPicPr>
        <p:blipFill>
          <a:blip r:embed="rId2"/>
          <a:stretch>
            <a:fillRect/>
          </a:stretch>
        </p:blipFill>
        <p:spPr>
          <a:xfrm>
            <a:off x="1081466" y="1603527"/>
            <a:ext cx="7487035" cy="3983457"/>
          </a:xfrm>
          <a:prstGeom prst="rect">
            <a:avLst/>
          </a:prstGeom>
        </p:spPr>
      </p:pic>
    </p:spTree>
    <p:extLst>
      <p:ext uri="{BB962C8B-B14F-4D97-AF65-F5344CB8AC3E}">
        <p14:creationId xmlns:p14="http://schemas.microsoft.com/office/powerpoint/2010/main" val="24946250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63A05-625D-4075-F56C-831412B38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6B023-7A55-BF9D-72FE-4968BE884460}"/>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sp>
        <p:nvSpPr>
          <p:cNvPr id="4" name="Content Placeholder 3">
            <a:extLst>
              <a:ext uri="{FF2B5EF4-FFF2-40B4-BE49-F238E27FC236}">
                <a16:creationId xmlns:a16="http://schemas.microsoft.com/office/drawing/2014/main" id="{3FDD5AAF-C4C4-3996-E24F-63C411E66E04}"/>
              </a:ext>
            </a:extLst>
          </p:cNvPr>
          <p:cNvSpPr>
            <a:spLocks noGrp="1"/>
          </p:cNvSpPr>
          <p:nvPr>
            <p:ph idx="1"/>
          </p:nvPr>
        </p:nvSpPr>
        <p:spPr>
          <a:xfrm>
            <a:off x="511795" y="1387436"/>
            <a:ext cx="5508005" cy="5304382"/>
          </a:xfrm>
        </p:spPr>
        <p:txBody>
          <a:bodyPr>
            <a:noAutofit/>
          </a:bodyPr>
          <a:lstStyle/>
          <a:p>
            <a:pPr marL="0" indent="0">
              <a:buNone/>
            </a:pPr>
            <a:r>
              <a:rPr lang="en-US" sz="1600" b="1" dirty="0">
                <a:solidFill>
                  <a:schemeClr val="accent2"/>
                </a:solidFill>
              </a:rPr>
              <a:t>2. Unsupervised Learning</a:t>
            </a:r>
          </a:p>
          <a:p>
            <a:pPr marL="0" indent="0">
              <a:buNone/>
            </a:pPr>
            <a:r>
              <a:rPr lang="en-US" sz="1600" dirty="0"/>
              <a:t>In unsupervised learning, the data does not contain labels.</a:t>
            </a:r>
          </a:p>
          <a:p>
            <a:pPr marL="0" indent="0">
              <a:buNone/>
            </a:pPr>
            <a:r>
              <a:rPr lang="en-US" sz="1600" dirty="0"/>
              <a:t>The algorithm tries to discover patterns or structures in the data.</a:t>
            </a:r>
          </a:p>
          <a:p>
            <a:pPr marL="0" indent="0">
              <a:buNone/>
            </a:pPr>
            <a:r>
              <a:rPr lang="en-US" sz="1600" dirty="0"/>
              <a:t>Example dataset:</a:t>
            </a:r>
          </a:p>
          <a:p>
            <a:pPr marL="0" indent="0">
              <a:buNone/>
            </a:pPr>
            <a:r>
              <a:rPr lang="en-US" sz="1600" dirty="0"/>
              <a:t>Customer ID	Age	Purchase Amount</a:t>
            </a:r>
          </a:p>
          <a:p>
            <a:pPr marL="0" indent="0">
              <a:buNone/>
            </a:pPr>
            <a:r>
              <a:rPr lang="en-US" sz="1600" dirty="0"/>
              <a:t>1	22	500</a:t>
            </a:r>
          </a:p>
          <a:p>
            <a:pPr marL="0" indent="0">
              <a:buNone/>
            </a:pPr>
            <a:r>
              <a:rPr lang="en-US" sz="1600" dirty="0"/>
              <a:t>2	45	2000</a:t>
            </a:r>
          </a:p>
          <a:p>
            <a:pPr marL="0" indent="0">
              <a:buNone/>
            </a:pPr>
            <a:r>
              <a:rPr lang="en-US" sz="1600" dirty="0"/>
              <a:t>3	21	450</a:t>
            </a:r>
          </a:p>
          <a:p>
            <a:pPr marL="0" indent="0">
              <a:buNone/>
            </a:pPr>
            <a:r>
              <a:rPr lang="en-US" sz="1600" dirty="0"/>
              <a:t>The model groups customers with similar behavior.</a:t>
            </a:r>
          </a:p>
          <a:p>
            <a:pPr marL="0" indent="0">
              <a:buNone/>
            </a:pPr>
            <a:endParaRPr lang="en-US" sz="1600" dirty="0"/>
          </a:p>
        </p:txBody>
      </p:sp>
      <p:sp>
        <p:nvSpPr>
          <p:cNvPr id="7" name="TextBox 6">
            <a:extLst>
              <a:ext uri="{FF2B5EF4-FFF2-40B4-BE49-F238E27FC236}">
                <a16:creationId xmlns:a16="http://schemas.microsoft.com/office/drawing/2014/main" id="{2FD4BA66-3AA5-D3C4-8327-3E4CE334D71C}"/>
              </a:ext>
            </a:extLst>
          </p:cNvPr>
          <p:cNvSpPr txBox="1"/>
          <p:nvPr/>
        </p:nvSpPr>
        <p:spPr>
          <a:xfrm>
            <a:off x="6255221" y="1458117"/>
            <a:ext cx="3026663" cy="4524315"/>
          </a:xfrm>
          <a:prstGeom prst="rect">
            <a:avLst/>
          </a:prstGeom>
          <a:noFill/>
        </p:spPr>
        <p:txBody>
          <a:bodyPr wrap="square">
            <a:spAutoFit/>
          </a:bodyPr>
          <a:lstStyle/>
          <a:p>
            <a:pPr>
              <a:buNone/>
            </a:pPr>
            <a:r>
              <a:rPr lang="en-IN" sz="1600" dirty="0"/>
              <a:t>Common Algorithms</a:t>
            </a:r>
          </a:p>
          <a:p>
            <a:pPr>
              <a:buNone/>
            </a:pPr>
            <a:endParaRPr lang="en-IN" sz="1600" dirty="0"/>
          </a:p>
          <a:p>
            <a:pPr>
              <a:buFont typeface="Arial" panose="020B0604020202020204" pitchFamily="34" charset="0"/>
              <a:buChar char="•"/>
            </a:pPr>
            <a:r>
              <a:rPr lang="en-IN" sz="1600" dirty="0"/>
              <a:t>K-Means Clustering</a:t>
            </a:r>
          </a:p>
          <a:p>
            <a:pPr>
              <a:buFont typeface="Arial" panose="020B0604020202020204" pitchFamily="34" charset="0"/>
              <a:buChar char="•"/>
            </a:pPr>
            <a:r>
              <a:rPr lang="en-IN" sz="1600" dirty="0"/>
              <a:t>Hierarchical Clustering</a:t>
            </a:r>
          </a:p>
          <a:p>
            <a:pPr>
              <a:buFont typeface="Arial" panose="020B0604020202020204" pitchFamily="34" charset="0"/>
              <a:buChar char="•"/>
            </a:pPr>
            <a:r>
              <a:rPr lang="en-IN" sz="1600" dirty="0"/>
              <a:t>DBSCAN</a:t>
            </a:r>
          </a:p>
          <a:p>
            <a:pPr>
              <a:buFont typeface="Arial" panose="020B0604020202020204" pitchFamily="34" charset="0"/>
              <a:buChar char="•"/>
            </a:pPr>
            <a:r>
              <a:rPr lang="en-IN" sz="1600" dirty="0"/>
              <a:t>Principal Component Analysis (PCA)</a:t>
            </a:r>
          </a:p>
          <a:p>
            <a:pPr>
              <a:buFont typeface="Arial" panose="020B0604020202020204" pitchFamily="34" charset="0"/>
              <a:buChar char="•"/>
            </a:pPr>
            <a:endParaRPr lang="en-IN" sz="1600" dirty="0"/>
          </a:p>
          <a:p>
            <a:pPr>
              <a:buNone/>
            </a:pPr>
            <a:r>
              <a:rPr lang="en-IN" sz="1600" dirty="0"/>
              <a:t>Example Applications</a:t>
            </a:r>
          </a:p>
          <a:p>
            <a:pPr>
              <a:buNone/>
            </a:pPr>
            <a:endParaRPr lang="en-IN" sz="1600" dirty="0"/>
          </a:p>
          <a:p>
            <a:pPr>
              <a:buFont typeface="Arial" panose="020B0604020202020204" pitchFamily="34" charset="0"/>
              <a:buChar char="•"/>
            </a:pPr>
            <a:r>
              <a:rPr lang="en-IN" sz="1600" dirty="0"/>
              <a:t>Customer segmentation</a:t>
            </a:r>
          </a:p>
          <a:p>
            <a:pPr>
              <a:buFont typeface="Arial" panose="020B0604020202020204" pitchFamily="34" charset="0"/>
              <a:buChar char="•"/>
            </a:pPr>
            <a:r>
              <a:rPr lang="en-IN" sz="1600" dirty="0"/>
              <a:t>Market analysis</a:t>
            </a:r>
          </a:p>
          <a:p>
            <a:pPr>
              <a:buFont typeface="Arial" panose="020B0604020202020204" pitchFamily="34" charset="0"/>
              <a:buChar char="•"/>
            </a:pPr>
            <a:r>
              <a:rPr lang="en-IN" sz="1600" dirty="0"/>
              <a:t>Pattern discovery</a:t>
            </a:r>
          </a:p>
          <a:p>
            <a:pPr>
              <a:buFont typeface="Arial" panose="020B0604020202020204" pitchFamily="34" charset="0"/>
              <a:buChar char="•"/>
            </a:pPr>
            <a:endParaRPr lang="en-IN" sz="1600" dirty="0"/>
          </a:p>
          <a:p>
            <a:pPr>
              <a:buNone/>
            </a:pPr>
            <a:r>
              <a:rPr lang="en-IN" sz="1600" dirty="0"/>
              <a:t>Example result:</a:t>
            </a:r>
          </a:p>
          <a:p>
            <a:pPr rtl="0">
              <a:buNone/>
            </a:pPr>
            <a:r>
              <a:rPr lang="en-IN" sz="1600" dirty="0"/>
              <a:t>Group 1: Young customers</a:t>
            </a:r>
            <a:br>
              <a:rPr lang="en-IN" sz="1600" dirty="0"/>
            </a:br>
            <a:r>
              <a:rPr lang="en-IN" sz="1600" dirty="0"/>
              <a:t>Group 2: High spending customers</a:t>
            </a:r>
          </a:p>
        </p:txBody>
      </p:sp>
    </p:spTree>
    <p:extLst>
      <p:ext uri="{BB962C8B-B14F-4D97-AF65-F5344CB8AC3E}">
        <p14:creationId xmlns:p14="http://schemas.microsoft.com/office/powerpoint/2010/main" val="20939044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0F844-1DF3-3E92-DA6D-DB356A0742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1E182-EC36-252E-35AE-855CFBF7F74F}"/>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pic>
        <p:nvPicPr>
          <p:cNvPr id="10" name="Content Placeholder 9">
            <a:extLst>
              <a:ext uri="{FF2B5EF4-FFF2-40B4-BE49-F238E27FC236}">
                <a16:creationId xmlns:a16="http://schemas.microsoft.com/office/drawing/2014/main" id="{FAD46CD4-CACA-C8A5-265C-1E14584EFA54}"/>
              </a:ext>
            </a:extLst>
          </p:cNvPr>
          <p:cNvPicPr>
            <a:picLocks noGrp="1" noChangeAspect="1"/>
          </p:cNvPicPr>
          <p:nvPr>
            <p:ph idx="1"/>
          </p:nvPr>
        </p:nvPicPr>
        <p:blipFill>
          <a:blip r:embed="rId2"/>
          <a:stretch>
            <a:fillRect/>
          </a:stretch>
        </p:blipFill>
        <p:spPr>
          <a:xfrm>
            <a:off x="935302" y="1421287"/>
            <a:ext cx="8096496" cy="4430873"/>
          </a:xfrm>
          <a:prstGeom prst="rect">
            <a:avLst/>
          </a:prstGeom>
        </p:spPr>
      </p:pic>
    </p:spTree>
    <p:extLst>
      <p:ext uri="{BB962C8B-B14F-4D97-AF65-F5344CB8AC3E}">
        <p14:creationId xmlns:p14="http://schemas.microsoft.com/office/powerpoint/2010/main" val="1372894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54EE4-3946-75F6-C77A-7BAD56730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7C424F-AA10-BC2F-2842-CA8167A9EEE8}"/>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pic>
        <p:nvPicPr>
          <p:cNvPr id="6" name="Picture 5">
            <a:extLst>
              <a:ext uri="{FF2B5EF4-FFF2-40B4-BE49-F238E27FC236}">
                <a16:creationId xmlns:a16="http://schemas.microsoft.com/office/drawing/2014/main" id="{EBD62003-6FE6-D8AA-B07F-3DAC0BDD4678}"/>
              </a:ext>
            </a:extLst>
          </p:cNvPr>
          <p:cNvPicPr>
            <a:picLocks noChangeAspect="1"/>
          </p:cNvPicPr>
          <p:nvPr/>
        </p:nvPicPr>
        <p:blipFill>
          <a:blip r:embed="rId2"/>
          <a:stretch>
            <a:fillRect/>
          </a:stretch>
        </p:blipFill>
        <p:spPr>
          <a:xfrm>
            <a:off x="685216" y="1456666"/>
            <a:ext cx="7302875" cy="3721291"/>
          </a:xfrm>
          <a:prstGeom prst="rect">
            <a:avLst/>
          </a:prstGeom>
        </p:spPr>
      </p:pic>
    </p:spTree>
    <p:extLst>
      <p:ext uri="{BB962C8B-B14F-4D97-AF65-F5344CB8AC3E}">
        <p14:creationId xmlns:p14="http://schemas.microsoft.com/office/powerpoint/2010/main" val="40330042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B7D3C-DC08-F839-2376-D51CF297D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227BB6-5D87-8F8A-65B0-E90839608356}"/>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pic>
        <p:nvPicPr>
          <p:cNvPr id="4" name="Picture 3">
            <a:extLst>
              <a:ext uri="{FF2B5EF4-FFF2-40B4-BE49-F238E27FC236}">
                <a16:creationId xmlns:a16="http://schemas.microsoft.com/office/drawing/2014/main" id="{2B8F0695-6B55-0CEA-A0AD-4193F61DB90E}"/>
              </a:ext>
            </a:extLst>
          </p:cNvPr>
          <p:cNvPicPr>
            <a:picLocks noChangeAspect="1"/>
          </p:cNvPicPr>
          <p:nvPr/>
        </p:nvPicPr>
        <p:blipFill>
          <a:blip r:embed="rId2"/>
          <a:stretch>
            <a:fillRect/>
          </a:stretch>
        </p:blipFill>
        <p:spPr>
          <a:xfrm>
            <a:off x="962762" y="1373660"/>
            <a:ext cx="8041575" cy="4469356"/>
          </a:xfrm>
          <a:prstGeom prst="rect">
            <a:avLst/>
          </a:prstGeom>
        </p:spPr>
      </p:pic>
    </p:spTree>
    <p:extLst>
      <p:ext uri="{BB962C8B-B14F-4D97-AF65-F5344CB8AC3E}">
        <p14:creationId xmlns:p14="http://schemas.microsoft.com/office/powerpoint/2010/main" val="34209343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A02A-A591-F8AD-3892-6EF7F4B6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83B94-CDAE-123E-84ED-B54E5DAA1E93}"/>
              </a:ext>
            </a:extLst>
          </p:cNvPr>
          <p:cNvSpPr>
            <a:spLocks noGrp="1"/>
          </p:cNvSpPr>
          <p:nvPr>
            <p:ph type="title"/>
          </p:nvPr>
        </p:nvSpPr>
        <p:spPr>
          <a:xfrm>
            <a:off x="685216" y="459828"/>
            <a:ext cx="8596668" cy="1320800"/>
          </a:xfrm>
        </p:spPr>
        <p:txBody>
          <a:bodyPr>
            <a:normAutofit/>
          </a:bodyPr>
          <a:lstStyle/>
          <a:p>
            <a:r>
              <a:rPr lang="en-IN" sz="3200" dirty="0"/>
              <a:t>AI Spectrum- Classical Machine Learning</a:t>
            </a:r>
            <a:endParaRPr lang="en-IN" sz="3200" dirty="0">
              <a:solidFill>
                <a:srgbClr val="FF0000"/>
              </a:solidFill>
            </a:endParaRPr>
          </a:p>
        </p:txBody>
      </p:sp>
      <p:sp>
        <p:nvSpPr>
          <p:cNvPr id="4" name="Content Placeholder 3">
            <a:extLst>
              <a:ext uri="{FF2B5EF4-FFF2-40B4-BE49-F238E27FC236}">
                <a16:creationId xmlns:a16="http://schemas.microsoft.com/office/drawing/2014/main" id="{26EF19AC-1CF9-F87B-E356-E7D267E08BD7}"/>
              </a:ext>
            </a:extLst>
          </p:cNvPr>
          <p:cNvSpPr>
            <a:spLocks noGrp="1"/>
          </p:cNvSpPr>
          <p:nvPr>
            <p:ph idx="1"/>
          </p:nvPr>
        </p:nvSpPr>
        <p:spPr>
          <a:xfrm>
            <a:off x="685216" y="1255335"/>
            <a:ext cx="8596668" cy="5304382"/>
          </a:xfrm>
        </p:spPr>
        <p:txBody>
          <a:bodyPr>
            <a:noAutofit/>
          </a:bodyPr>
          <a:lstStyle/>
          <a:p>
            <a:pPr marL="0" indent="0">
              <a:buNone/>
            </a:pPr>
            <a:r>
              <a:rPr lang="en-US" sz="1600" b="1" dirty="0">
                <a:solidFill>
                  <a:schemeClr val="accent2"/>
                </a:solidFill>
              </a:rPr>
              <a:t>3. Reinforcement Learning</a:t>
            </a:r>
          </a:p>
          <a:p>
            <a:pPr marL="0" indent="0">
              <a:buNone/>
            </a:pPr>
            <a:r>
              <a:rPr lang="en-US" sz="1600" dirty="0"/>
              <a:t>In </a:t>
            </a:r>
            <a:r>
              <a:rPr lang="en-US" sz="1600" b="1" dirty="0"/>
              <a:t>reinforcement learning</a:t>
            </a:r>
            <a:r>
              <a:rPr lang="en-US" sz="1600" dirty="0"/>
              <a:t>, the model learns by </a:t>
            </a:r>
            <a:r>
              <a:rPr lang="en-US" sz="1600" b="1" dirty="0"/>
              <a:t>interacting with an environment and receiving rewards or penalties</a:t>
            </a:r>
            <a:r>
              <a:rPr lang="en-US" sz="1600" dirty="0"/>
              <a:t>.</a:t>
            </a:r>
          </a:p>
          <a:p>
            <a:pPr marL="0" indent="0">
              <a:buNone/>
            </a:pPr>
            <a:r>
              <a:rPr lang="en-US" sz="1600" dirty="0"/>
              <a:t>Example:</a:t>
            </a:r>
          </a:p>
          <a:p>
            <a:pPr marL="0" indent="0">
              <a:buNone/>
            </a:pPr>
            <a:r>
              <a:rPr lang="en-US" sz="1600" dirty="0"/>
              <a:t>Action → Reward or Penalty</a:t>
            </a:r>
          </a:p>
          <a:p>
            <a:r>
              <a:rPr lang="en-US" sz="1600" dirty="0"/>
              <a:t>The goal is to </a:t>
            </a:r>
            <a:r>
              <a:rPr lang="en-US" sz="1600" b="1" dirty="0"/>
              <a:t>maximize rewards over time</a:t>
            </a:r>
            <a:r>
              <a:rPr lang="en-US" sz="1600" dirty="0"/>
              <a:t>.</a:t>
            </a:r>
          </a:p>
          <a:p>
            <a:r>
              <a:rPr lang="en-US" sz="1600" dirty="0"/>
              <a:t>Example applications:</a:t>
            </a:r>
          </a:p>
          <a:p>
            <a:r>
              <a:rPr lang="en-US" sz="1600" dirty="0"/>
              <a:t>Self-driving cars</a:t>
            </a:r>
          </a:p>
          <a:p>
            <a:r>
              <a:rPr lang="en-US" sz="1600" dirty="0"/>
              <a:t>Game-playing AI (Chess, Go)</a:t>
            </a:r>
          </a:p>
          <a:p>
            <a:r>
              <a:rPr lang="en-US" sz="1600" dirty="0"/>
              <a:t>Robotics</a:t>
            </a:r>
          </a:p>
          <a:p>
            <a:r>
              <a:rPr lang="en-US" sz="1600" dirty="0"/>
              <a:t>Example:</a:t>
            </a:r>
          </a:p>
          <a:p>
            <a:r>
              <a:rPr lang="en-US" sz="1600" dirty="0"/>
              <a:t>Move in game → reward</a:t>
            </a:r>
            <a:br>
              <a:rPr lang="en-US" sz="1600" dirty="0"/>
            </a:br>
            <a:r>
              <a:rPr lang="en-US" sz="1600" dirty="0"/>
              <a:t>Bad move → penalty</a:t>
            </a:r>
          </a:p>
          <a:p>
            <a:r>
              <a:rPr lang="en-US" sz="1600" dirty="0"/>
              <a:t>The AI gradually learns the </a:t>
            </a:r>
            <a:r>
              <a:rPr lang="en-US" sz="1600" b="1" dirty="0"/>
              <a:t>best strategy</a:t>
            </a:r>
            <a:r>
              <a:rPr lang="en-US" sz="1600" dirty="0"/>
              <a:t>.</a:t>
            </a:r>
          </a:p>
          <a:p>
            <a:pPr marL="0" indent="0">
              <a:buNone/>
            </a:pPr>
            <a:endParaRPr lang="en-US" sz="1600" dirty="0"/>
          </a:p>
        </p:txBody>
      </p:sp>
    </p:spTree>
    <p:extLst>
      <p:ext uri="{BB962C8B-B14F-4D97-AF65-F5344CB8AC3E}">
        <p14:creationId xmlns:p14="http://schemas.microsoft.com/office/powerpoint/2010/main" val="15972506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116E2-D618-D9F6-008D-9B49C053E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8063E-D9F0-91B6-6745-98F354EE2437}"/>
              </a:ext>
            </a:extLst>
          </p:cNvPr>
          <p:cNvSpPr>
            <a:spLocks noGrp="1"/>
          </p:cNvSpPr>
          <p:nvPr>
            <p:ph type="title"/>
          </p:nvPr>
        </p:nvSpPr>
        <p:spPr>
          <a:xfrm>
            <a:off x="685216" y="459828"/>
            <a:ext cx="8596668" cy="1320800"/>
          </a:xfrm>
        </p:spPr>
        <p:txBody>
          <a:bodyPr>
            <a:normAutofit/>
          </a:bodyPr>
          <a:lstStyle/>
          <a:p>
            <a:r>
              <a:rPr lang="en-US" sz="2800" b="1" dirty="0">
                <a:solidFill>
                  <a:schemeClr val="accent2"/>
                </a:solidFill>
              </a:rPr>
              <a:t>Advantages of Classical Machine Learning</a:t>
            </a:r>
          </a:p>
        </p:txBody>
      </p:sp>
      <p:sp>
        <p:nvSpPr>
          <p:cNvPr id="4" name="Content Placeholder 3">
            <a:extLst>
              <a:ext uri="{FF2B5EF4-FFF2-40B4-BE49-F238E27FC236}">
                <a16:creationId xmlns:a16="http://schemas.microsoft.com/office/drawing/2014/main" id="{86BD93E9-0438-48CF-A3C0-9B3F99EB00EC}"/>
              </a:ext>
            </a:extLst>
          </p:cNvPr>
          <p:cNvSpPr>
            <a:spLocks noGrp="1"/>
          </p:cNvSpPr>
          <p:nvPr>
            <p:ph idx="1"/>
          </p:nvPr>
        </p:nvSpPr>
        <p:spPr>
          <a:xfrm>
            <a:off x="685216" y="1411729"/>
            <a:ext cx="8596668" cy="5304382"/>
          </a:xfrm>
        </p:spPr>
        <p:txBody>
          <a:bodyPr>
            <a:noAutofit/>
          </a:bodyPr>
          <a:lstStyle/>
          <a:p>
            <a:r>
              <a:rPr lang="en-US" sz="1600" b="1" dirty="0"/>
              <a:t>Learns from data</a:t>
            </a:r>
          </a:p>
          <a:p>
            <a:r>
              <a:rPr lang="en-US" sz="1600" dirty="0"/>
              <a:t>The system improves as more data becomes available.</a:t>
            </a:r>
          </a:p>
          <a:p>
            <a:r>
              <a:rPr lang="en-US" sz="1600" b="1" dirty="0"/>
              <a:t>Handles complex relationships</a:t>
            </a:r>
          </a:p>
          <a:p>
            <a:r>
              <a:rPr lang="en-US" sz="1600" dirty="0"/>
              <a:t>ML can detect patterns humans may miss.</a:t>
            </a:r>
          </a:p>
          <a:p>
            <a:r>
              <a:rPr lang="en-US" sz="1600" b="1" dirty="0"/>
              <a:t>Useful for predictive tasks</a:t>
            </a:r>
          </a:p>
          <a:p>
            <a:r>
              <a:rPr lang="en-US" sz="1600" dirty="0"/>
              <a:t>Examples:</a:t>
            </a:r>
          </a:p>
          <a:p>
            <a:r>
              <a:rPr lang="en-US" sz="1600" dirty="0"/>
              <a:t>Sales forecasting</a:t>
            </a:r>
          </a:p>
          <a:p>
            <a:r>
              <a:rPr lang="en-US" sz="1600" dirty="0"/>
              <a:t>Risk prediction</a:t>
            </a:r>
          </a:p>
          <a:p>
            <a:r>
              <a:rPr lang="en-US" sz="1600" dirty="0"/>
              <a:t>Recommendation systems</a:t>
            </a:r>
          </a:p>
          <a:p>
            <a:pPr marL="0" indent="0">
              <a:buNone/>
            </a:pPr>
            <a:endParaRPr lang="en-US" sz="1600" dirty="0"/>
          </a:p>
        </p:txBody>
      </p:sp>
    </p:spTree>
    <p:extLst>
      <p:ext uri="{BB962C8B-B14F-4D97-AF65-F5344CB8AC3E}">
        <p14:creationId xmlns:p14="http://schemas.microsoft.com/office/powerpoint/2010/main" val="40384610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974C8-7C01-6900-94C9-506F6A365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3DF06-2BC3-A6C2-29AC-9468AA1E9C4A}"/>
              </a:ext>
            </a:extLst>
          </p:cNvPr>
          <p:cNvSpPr>
            <a:spLocks noGrp="1"/>
          </p:cNvSpPr>
          <p:nvPr>
            <p:ph type="title"/>
          </p:nvPr>
        </p:nvSpPr>
        <p:spPr>
          <a:xfrm>
            <a:off x="685216" y="459828"/>
            <a:ext cx="8596668" cy="1320800"/>
          </a:xfrm>
        </p:spPr>
        <p:txBody>
          <a:bodyPr>
            <a:normAutofit/>
          </a:bodyPr>
          <a:lstStyle/>
          <a:p>
            <a:r>
              <a:rPr lang="en-US" sz="2800" dirty="0">
                <a:solidFill>
                  <a:schemeClr val="accent2"/>
                </a:solidFill>
              </a:rPr>
              <a:t>Limitations of Classical Machine Learning</a:t>
            </a:r>
            <a:endParaRPr lang="en-US" sz="2800" b="1" dirty="0">
              <a:solidFill>
                <a:schemeClr val="accent2"/>
              </a:solidFill>
            </a:endParaRPr>
          </a:p>
        </p:txBody>
      </p:sp>
      <p:sp>
        <p:nvSpPr>
          <p:cNvPr id="4" name="Content Placeholder 3">
            <a:extLst>
              <a:ext uri="{FF2B5EF4-FFF2-40B4-BE49-F238E27FC236}">
                <a16:creationId xmlns:a16="http://schemas.microsoft.com/office/drawing/2014/main" id="{E24A2151-E28A-51B4-42FC-F9BCE0CD150F}"/>
              </a:ext>
            </a:extLst>
          </p:cNvPr>
          <p:cNvSpPr>
            <a:spLocks noGrp="1"/>
          </p:cNvSpPr>
          <p:nvPr>
            <p:ph idx="1"/>
          </p:nvPr>
        </p:nvSpPr>
        <p:spPr>
          <a:xfrm>
            <a:off x="685216" y="1371684"/>
            <a:ext cx="8596668" cy="5304382"/>
          </a:xfrm>
        </p:spPr>
        <p:txBody>
          <a:bodyPr>
            <a:noAutofit/>
          </a:bodyPr>
          <a:lstStyle/>
          <a:p>
            <a:r>
              <a:rPr lang="en-US" sz="1600" b="1" dirty="0"/>
              <a:t>Requires feature engineering</a:t>
            </a:r>
          </a:p>
          <a:p>
            <a:r>
              <a:rPr lang="en-US" sz="1600" dirty="0"/>
              <a:t>Humans must manually select useful features.</a:t>
            </a:r>
          </a:p>
          <a:p>
            <a:r>
              <a:rPr lang="en-US" sz="1600" b="1" dirty="0"/>
              <a:t>Limited performance on unstructured data</a:t>
            </a:r>
          </a:p>
          <a:p>
            <a:r>
              <a:rPr lang="en-US" sz="1600" dirty="0"/>
              <a:t>Classical ML struggles with:</a:t>
            </a:r>
          </a:p>
          <a:p>
            <a:r>
              <a:rPr lang="en-US" sz="1600" dirty="0"/>
              <a:t>Images</a:t>
            </a:r>
          </a:p>
          <a:p>
            <a:r>
              <a:rPr lang="en-US" sz="1600" dirty="0"/>
              <a:t>Speech</a:t>
            </a:r>
          </a:p>
          <a:p>
            <a:r>
              <a:rPr lang="en-US" sz="1600" dirty="0"/>
              <a:t>Natural language</a:t>
            </a:r>
          </a:p>
          <a:p>
            <a:r>
              <a:rPr lang="en-US" sz="1600" dirty="0"/>
              <a:t>These tasks are better handled by </a:t>
            </a:r>
            <a:r>
              <a:rPr lang="en-US" sz="1600" b="1" dirty="0"/>
              <a:t>deep learning</a:t>
            </a:r>
            <a:r>
              <a:rPr lang="en-US" sz="1600" dirty="0"/>
              <a:t>.</a:t>
            </a:r>
          </a:p>
          <a:p>
            <a:r>
              <a:rPr lang="en-US" sz="1600" b="1" dirty="0"/>
              <a:t>Requires good quality data</a:t>
            </a:r>
          </a:p>
          <a:p>
            <a:r>
              <a:rPr lang="en-US" sz="1600" dirty="0"/>
              <a:t>Poor data leads to poor models.</a:t>
            </a:r>
          </a:p>
          <a:p>
            <a:pPr marL="0" indent="0">
              <a:buNone/>
            </a:pPr>
            <a:endParaRPr lang="en-US" sz="1600" dirty="0"/>
          </a:p>
        </p:txBody>
      </p:sp>
    </p:spTree>
    <p:extLst>
      <p:ext uri="{BB962C8B-B14F-4D97-AF65-F5344CB8AC3E}">
        <p14:creationId xmlns:p14="http://schemas.microsoft.com/office/powerpoint/2010/main" val="32930291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9E36D-73F5-B5DF-4B3A-76BE47C8F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525856-4AA4-B6A9-C7DA-97C4685AE7D7}"/>
              </a:ext>
            </a:extLst>
          </p:cNvPr>
          <p:cNvSpPr>
            <a:spLocks noGrp="1"/>
          </p:cNvSpPr>
          <p:nvPr>
            <p:ph type="title"/>
          </p:nvPr>
        </p:nvSpPr>
        <p:spPr>
          <a:xfrm>
            <a:off x="584743" y="231228"/>
            <a:ext cx="8596668" cy="1320800"/>
          </a:xfrm>
        </p:spPr>
        <p:txBody>
          <a:bodyPr>
            <a:normAutofit/>
          </a:bodyPr>
          <a:lstStyle/>
          <a:p>
            <a:r>
              <a:rPr lang="en-IN" sz="2800" dirty="0">
                <a:solidFill>
                  <a:schemeClr val="accent2"/>
                </a:solidFill>
              </a:rPr>
              <a:t>AI Spectrum- </a:t>
            </a:r>
            <a:r>
              <a:rPr lang="en-US" sz="2800" dirty="0">
                <a:solidFill>
                  <a:schemeClr val="accent2"/>
                </a:solidFill>
              </a:rPr>
              <a:t>Deep Learning</a:t>
            </a:r>
            <a:endParaRPr lang="en-US" sz="2800" b="1" dirty="0">
              <a:solidFill>
                <a:schemeClr val="accent2"/>
              </a:solidFill>
            </a:endParaRPr>
          </a:p>
        </p:txBody>
      </p:sp>
      <p:sp>
        <p:nvSpPr>
          <p:cNvPr id="4" name="Content Placeholder 3">
            <a:extLst>
              <a:ext uri="{FF2B5EF4-FFF2-40B4-BE49-F238E27FC236}">
                <a16:creationId xmlns:a16="http://schemas.microsoft.com/office/drawing/2014/main" id="{7C75D597-4836-ECF3-56E6-4DA72A9FA86A}"/>
              </a:ext>
            </a:extLst>
          </p:cNvPr>
          <p:cNvSpPr>
            <a:spLocks noGrp="1"/>
          </p:cNvSpPr>
          <p:nvPr>
            <p:ph idx="1"/>
          </p:nvPr>
        </p:nvSpPr>
        <p:spPr>
          <a:xfrm>
            <a:off x="584743" y="917020"/>
            <a:ext cx="8596668" cy="5304382"/>
          </a:xfrm>
        </p:spPr>
        <p:txBody>
          <a:bodyPr>
            <a:noAutofit/>
          </a:bodyPr>
          <a:lstStyle/>
          <a:p>
            <a:pPr marL="0" indent="0">
              <a:buNone/>
            </a:pPr>
            <a:r>
              <a:rPr lang="en-US" sz="1600" dirty="0">
                <a:solidFill>
                  <a:schemeClr val="tx1"/>
                </a:solidFill>
              </a:rPr>
              <a:t>Deep learning uses machine learning structures called neural networks to automatically learn features from data. </a:t>
            </a:r>
          </a:p>
          <a:p>
            <a:pPr marL="0" indent="0">
              <a:buNone/>
            </a:pPr>
            <a:r>
              <a:rPr lang="en-US" sz="1600" dirty="0">
                <a:solidFill>
                  <a:schemeClr val="tx1"/>
                </a:solidFill>
              </a:rPr>
              <a:t>Deep learning models can find patterns in very large and complex datasets, such as images, video, audio, or text, without the need for users to manually define features, though in practice, it may still require human involvement in tasks such as data annotation, model tuning, or result validation.</a:t>
            </a:r>
          </a:p>
        </p:txBody>
      </p:sp>
      <p:pic>
        <p:nvPicPr>
          <p:cNvPr id="6" name="Picture 5">
            <a:extLst>
              <a:ext uri="{FF2B5EF4-FFF2-40B4-BE49-F238E27FC236}">
                <a16:creationId xmlns:a16="http://schemas.microsoft.com/office/drawing/2014/main" id="{4680A0A6-CE04-6F97-FAF7-295F018D8E31}"/>
              </a:ext>
            </a:extLst>
          </p:cNvPr>
          <p:cNvPicPr>
            <a:picLocks noChangeAspect="1"/>
          </p:cNvPicPr>
          <p:nvPr/>
        </p:nvPicPr>
        <p:blipFill>
          <a:blip r:embed="rId2"/>
          <a:stretch>
            <a:fillRect/>
          </a:stretch>
        </p:blipFill>
        <p:spPr>
          <a:xfrm>
            <a:off x="802992" y="2860752"/>
            <a:ext cx="8160169" cy="3766020"/>
          </a:xfrm>
          <a:prstGeom prst="rect">
            <a:avLst/>
          </a:prstGeom>
        </p:spPr>
      </p:pic>
    </p:spTree>
    <p:extLst>
      <p:ext uri="{BB962C8B-B14F-4D97-AF65-F5344CB8AC3E}">
        <p14:creationId xmlns:p14="http://schemas.microsoft.com/office/powerpoint/2010/main" val="1604640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5579B-FEA4-2B9D-16BF-E374414176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D3A7E-72EC-052B-9E25-A4FA01E9EB8D}"/>
              </a:ext>
            </a:extLst>
          </p:cNvPr>
          <p:cNvSpPr>
            <a:spLocks noGrp="1"/>
          </p:cNvSpPr>
          <p:nvPr>
            <p:ph type="title"/>
          </p:nvPr>
        </p:nvSpPr>
        <p:spPr>
          <a:xfrm>
            <a:off x="584743" y="231228"/>
            <a:ext cx="8596668" cy="1320800"/>
          </a:xfrm>
        </p:spPr>
        <p:txBody>
          <a:bodyPr>
            <a:normAutofit/>
          </a:bodyPr>
          <a:lstStyle/>
          <a:p>
            <a:r>
              <a:rPr lang="en-IN" sz="2800" dirty="0">
                <a:solidFill>
                  <a:schemeClr val="accent2"/>
                </a:solidFill>
              </a:rPr>
              <a:t>AI Spectrum- </a:t>
            </a:r>
            <a:r>
              <a:rPr lang="en-US" sz="2800" dirty="0">
                <a:solidFill>
                  <a:schemeClr val="accent2"/>
                </a:solidFill>
              </a:rPr>
              <a:t>Deep Learning</a:t>
            </a:r>
            <a:endParaRPr lang="en-US" sz="2800" b="1" dirty="0">
              <a:solidFill>
                <a:schemeClr val="accent2"/>
              </a:solidFill>
            </a:endParaRPr>
          </a:p>
        </p:txBody>
      </p:sp>
      <p:pic>
        <p:nvPicPr>
          <p:cNvPr id="8" name="Picture 7">
            <a:extLst>
              <a:ext uri="{FF2B5EF4-FFF2-40B4-BE49-F238E27FC236}">
                <a16:creationId xmlns:a16="http://schemas.microsoft.com/office/drawing/2014/main" id="{F0D7BCA9-AEDF-E392-3486-D72D7A43E816}"/>
              </a:ext>
            </a:extLst>
          </p:cNvPr>
          <p:cNvPicPr>
            <a:picLocks noChangeAspect="1"/>
          </p:cNvPicPr>
          <p:nvPr/>
        </p:nvPicPr>
        <p:blipFill>
          <a:blip r:embed="rId2"/>
          <a:stretch>
            <a:fillRect/>
          </a:stretch>
        </p:blipFill>
        <p:spPr>
          <a:xfrm>
            <a:off x="1138115" y="891628"/>
            <a:ext cx="7245722" cy="1028753"/>
          </a:xfrm>
          <a:prstGeom prst="rect">
            <a:avLst/>
          </a:prstGeom>
        </p:spPr>
      </p:pic>
      <p:pic>
        <p:nvPicPr>
          <p:cNvPr id="10" name="Picture 9">
            <a:extLst>
              <a:ext uri="{FF2B5EF4-FFF2-40B4-BE49-F238E27FC236}">
                <a16:creationId xmlns:a16="http://schemas.microsoft.com/office/drawing/2014/main" id="{A641C86A-51FC-E49F-DFC4-D998EA02C197}"/>
              </a:ext>
            </a:extLst>
          </p:cNvPr>
          <p:cNvPicPr>
            <a:picLocks noChangeAspect="1"/>
          </p:cNvPicPr>
          <p:nvPr/>
        </p:nvPicPr>
        <p:blipFill>
          <a:blip r:embed="rId3"/>
          <a:stretch>
            <a:fillRect/>
          </a:stretch>
        </p:blipFill>
        <p:spPr>
          <a:xfrm>
            <a:off x="1590537" y="2094117"/>
            <a:ext cx="5971551" cy="3116637"/>
          </a:xfrm>
          <a:prstGeom prst="rect">
            <a:avLst/>
          </a:prstGeom>
        </p:spPr>
      </p:pic>
    </p:spTree>
    <p:extLst>
      <p:ext uri="{BB962C8B-B14F-4D97-AF65-F5344CB8AC3E}">
        <p14:creationId xmlns:p14="http://schemas.microsoft.com/office/powerpoint/2010/main" val="14917756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DA132-C789-C456-E6F0-C8DB9FD055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1726DC-3459-5490-91A7-020D0CCDE3B4}"/>
              </a:ext>
            </a:extLst>
          </p:cNvPr>
          <p:cNvSpPr>
            <a:spLocks noGrp="1"/>
          </p:cNvSpPr>
          <p:nvPr>
            <p:ph type="title"/>
          </p:nvPr>
        </p:nvSpPr>
        <p:spPr>
          <a:xfrm>
            <a:off x="584743" y="231228"/>
            <a:ext cx="8596668" cy="1320800"/>
          </a:xfrm>
        </p:spPr>
        <p:txBody>
          <a:bodyPr>
            <a:normAutofit/>
          </a:bodyPr>
          <a:lstStyle/>
          <a:p>
            <a:r>
              <a:rPr lang="en-IN" sz="2800" dirty="0">
                <a:solidFill>
                  <a:schemeClr val="accent2"/>
                </a:solidFill>
              </a:rPr>
              <a:t>AI Spectrum- </a:t>
            </a:r>
            <a:r>
              <a:rPr lang="en-US" sz="2800" dirty="0">
                <a:solidFill>
                  <a:schemeClr val="accent2"/>
                </a:solidFill>
              </a:rPr>
              <a:t>Deep Learning</a:t>
            </a:r>
            <a:endParaRPr lang="en-US" sz="2800" b="1" dirty="0">
              <a:solidFill>
                <a:schemeClr val="accent2"/>
              </a:solidFill>
            </a:endParaRPr>
          </a:p>
        </p:txBody>
      </p:sp>
      <p:pic>
        <p:nvPicPr>
          <p:cNvPr id="4" name="Picture 3">
            <a:extLst>
              <a:ext uri="{FF2B5EF4-FFF2-40B4-BE49-F238E27FC236}">
                <a16:creationId xmlns:a16="http://schemas.microsoft.com/office/drawing/2014/main" id="{97184BE3-4EB7-D226-7D5D-0178E1F46316}"/>
              </a:ext>
            </a:extLst>
          </p:cNvPr>
          <p:cNvPicPr>
            <a:picLocks noChangeAspect="1"/>
          </p:cNvPicPr>
          <p:nvPr/>
        </p:nvPicPr>
        <p:blipFill>
          <a:blip r:embed="rId2"/>
          <a:stretch>
            <a:fillRect/>
          </a:stretch>
        </p:blipFill>
        <p:spPr>
          <a:xfrm>
            <a:off x="1249853" y="1170432"/>
            <a:ext cx="7231518" cy="2029967"/>
          </a:xfrm>
          <a:prstGeom prst="rect">
            <a:avLst/>
          </a:prstGeom>
        </p:spPr>
      </p:pic>
      <p:pic>
        <p:nvPicPr>
          <p:cNvPr id="6" name="Picture 5">
            <a:extLst>
              <a:ext uri="{FF2B5EF4-FFF2-40B4-BE49-F238E27FC236}">
                <a16:creationId xmlns:a16="http://schemas.microsoft.com/office/drawing/2014/main" id="{4DF85439-C725-E6CA-35BC-0081BD4D95EF}"/>
              </a:ext>
            </a:extLst>
          </p:cNvPr>
          <p:cNvPicPr>
            <a:picLocks noChangeAspect="1"/>
          </p:cNvPicPr>
          <p:nvPr/>
        </p:nvPicPr>
        <p:blipFill>
          <a:blip r:embed="rId3"/>
          <a:stretch>
            <a:fillRect/>
          </a:stretch>
        </p:blipFill>
        <p:spPr>
          <a:xfrm>
            <a:off x="1362398" y="3657602"/>
            <a:ext cx="7006427" cy="2583275"/>
          </a:xfrm>
          <a:prstGeom prst="rect">
            <a:avLst/>
          </a:prstGeom>
        </p:spPr>
      </p:pic>
    </p:spTree>
    <p:extLst>
      <p:ext uri="{BB962C8B-B14F-4D97-AF65-F5344CB8AC3E}">
        <p14:creationId xmlns:p14="http://schemas.microsoft.com/office/powerpoint/2010/main" val="26151223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46900-5F16-83EA-309F-4EE5EF10B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D2FC90-8E71-D56A-5854-84332B546C76}"/>
              </a:ext>
            </a:extLst>
          </p:cNvPr>
          <p:cNvSpPr>
            <a:spLocks noGrp="1"/>
          </p:cNvSpPr>
          <p:nvPr>
            <p:ph type="title"/>
          </p:nvPr>
        </p:nvSpPr>
        <p:spPr>
          <a:xfrm>
            <a:off x="685216" y="459828"/>
            <a:ext cx="8596668" cy="1320800"/>
          </a:xfrm>
        </p:spPr>
        <p:txBody>
          <a:bodyPr>
            <a:normAutofit/>
          </a:bodyPr>
          <a:lstStyle/>
          <a:p>
            <a:r>
              <a:rPr lang="en-IN" dirty="0">
                <a:solidFill>
                  <a:schemeClr val="accent2"/>
                </a:solidFill>
              </a:rPr>
              <a:t>AI Spectrum- </a:t>
            </a:r>
            <a:r>
              <a:rPr lang="en-US" dirty="0">
                <a:solidFill>
                  <a:schemeClr val="accent2"/>
                </a:solidFill>
              </a:rPr>
              <a:t>Deep Learning</a:t>
            </a:r>
            <a:endParaRPr lang="en-US" b="1" dirty="0">
              <a:solidFill>
                <a:srgbClr val="FF0000"/>
              </a:solidFill>
            </a:endParaRPr>
          </a:p>
        </p:txBody>
      </p:sp>
      <p:sp>
        <p:nvSpPr>
          <p:cNvPr id="4" name="Content Placeholder 3">
            <a:extLst>
              <a:ext uri="{FF2B5EF4-FFF2-40B4-BE49-F238E27FC236}">
                <a16:creationId xmlns:a16="http://schemas.microsoft.com/office/drawing/2014/main" id="{8E828E45-D33E-505D-E5B4-7F8869A906DA}"/>
              </a:ext>
            </a:extLst>
          </p:cNvPr>
          <p:cNvSpPr>
            <a:spLocks noGrp="1"/>
          </p:cNvSpPr>
          <p:nvPr>
            <p:ph idx="1"/>
          </p:nvPr>
        </p:nvSpPr>
        <p:spPr>
          <a:xfrm>
            <a:off x="685216" y="1395963"/>
            <a:ext cx="8596668" cy="5304382"/>
          </a:xfrm>
        </p:spPr>
        <p:txBody>
          <a:bodyPr>
            <a:noAutofit/>
          </a:bodyPr>
          <a:lstStyle/>
          <a:p>
            <a:pPr marL="0" indent="0">
              <a:buNone/>
            </a:pPr>
            <a:r>
              <a:rPr lang="en-US" sz="1600" b="1" dirty="0">
                <a:solidFill>
                  <a:schemeClr val="accent2"/>
                </a:solidFill>
              </a:rPr>
              <a:t>What are Neural Networks?</a:t>
            </a:r>
          </a:p>
          <a:p>
            <a:r>
              <a:rPr lang="en-US" sz="1600" dirty="0"/>
              <a:t>Deep learning uses </a:t>
            </a:r>
            <a:r>
              <a:rPr lang="en-US" sz="1600" b="1" dirty="0"/>
              <a:t>Artificial Neural Networks (ANNs)</a:t>
            </a:r>
            <a:r>
              <a:rPr lang="en-US" sz="1600" dirty="0"/>
              <a:t>.</a:t>
            </a:r>
          </a:p>
          <a:p>
            <a:r>
              <a:rPr lang="en-US" sz="1600" dirty="0"/>
              <a:t>They are inspired by </a:t>
            </a:r>
            <a:r>
              <a:rPr lang="en-US" sz="1600" b="1" dirty="0"/>
              <a:t>neurons in the human brain</a:t>
            </a:r>
            <a:r>
              <a:rPr lang="en-US" sz="1600" dirty="0"/>
              <a:t>.</a:t>
            </a:r>
          </a:p>
          <a:p>
            <a:r>
              <a:rPr lang="en-US" sz="1600" dirty="0"/>
              <a:t>Each neuron:</a:t>
            </a:r>
          </a:p>
          <a:p>
            <a:r>
              <a:rPr lang="en-US" sz="1600" dirty="0"/>
              <a:t>Receives input</a:t>
            </a:r>
          </a:p>
          <a:p>
            <a:r>
              <a:rPr lang="en-US" sz="1600" dirty="0"/>
              <a:t>Processes the input</a:t>
            </a:r>
          </a:p>
          <a:p>
            <a:r>
              <a:rPr lang="en-US" sz="1600" dirty="0"/>
              <a:t>Sends output to the next neuron</a:t>
            </a:r>
          </a:p>
          <a:p>
            <a:r>
              <a:rPr lang="en-US" sz="1600" dirty="0"/>
              <a:t>Simple representation:</a:t>
            </a:r>
          </a:p>
          <a:p>
            <a:r>
              <a:rPr lang="en-US" sz="1600" dirty="0"/>
              <a:t>Input → Neuron → Neuron → Output</a:t>
            </a:r>
          </a:p>
          <a:p>
            <a:r>
              <a:rPr lang="en-US" sz="1600" dirty="0"/>
              <a:t>Thousands or millions of neurons work together in a deep learning model.</a:t>
            </a:r>
          </a:p>
          <a:p>
            <a:pPr marL="0" indent="0">
              <a:buNone/>
            </a:pPr>
            <a:endParaRPr lang="en-US" sz="1600" dirty="0"/>
          </a:p>
        </p:txBody>
      </p:sp>
    </p:spTree>
    <p:extLst>
      <p:ext uri="{BB962C8B-B14F-4D97-AF65-F5344CB8AC3E}">
        <p14:creationId xmlns:p14="http://schemas.microsoft.com/office/powerpoint/2010/main" val="41336521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8817F-20CC-BC88-1655-723F82ABA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005C0-D651-F9B4-887D-CEDA4BDCB9B9}"/>
              </a:ext>
            </a:extLst>
          </p:cNvPr>
          <p:cNvSpPr>
            <a:spLocks noGrp="1"/>
          </p:cNvSpPr>
          <p:nvPr>
            <p:ph type="title"/>
          </p:nvPr>
        </p:nvSpPr>
        <p:spPr>
          <a:xfrm>
            <a:off x="685216" y="459828"/>
            <a:ext cx="8596668" cy="1320800"/>
          </a:xfrm>
        </p:spPr>
        <p:txBody>
          <a:bodyPr>
            <a:normAutofit/>
          </a:bodyPr>
          <a:lstStyle/>
          <a:p>
            <a:r>
              <a:rPr lang="en-IN" sz="3200" dirty="0">
                <a:solidFill>
                  <a:schemeClr val="accent2"/>
                </a:solidFill>
              </a:rPr>
              <a:t>AI Spectrum- </a:t>
            </a:r>
            <a:r>
              <a:rPr lang="en-US" sz="3200" dirty="0">
                <a:solidFill>
                  <a:schemeClr val="accent2"/>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970CABA9-3469-66BA-27F5-1B20226C0423}"/>
              </a:ext>
            </a:extLst>
          </p:cNvPr>
          <p:cNvSpPr>
            <a:spLocks noGrp="1"/>
          </p:cNvSpPr>
          <p:nvPr>
            <p:ph idx="1"/>
          </p:nvPr>
        </p:nvSpPr>
        <p:spPr>
          <a:xfrm>
            <a:off x="685216" y="1261956"/>
            <a:ext cx="8596668" cy="5304382"/>
          </a:xfrm>
        </p:spPr>
        <p:txBody>
          <a:bodyPr>
            <a:noAutofit/>
          </a:bodyPr>
          <a:lstStyle/>
          <a:p>
            <a:pPr marL="0" indent="0">
              <a:buNone/>
            </a:pPr>
            <a:r>
              <a:rPr lang="en-US" sz="1400" b="1" dirty="0"/>
              <a:t>Understanding with a Simple Example</a:t>
            </a:r>
          </a:p>
          <a:p>
            <a:r>
              <a:rPr lang="en-US" sz="1400" dirty="0"/>
              <a:t>Imagine teaching a computer to recognize </a:t>
            </a:r>
            <a:r>
              <a:rPr lang="en-US" sz="1400" b="1" dirty="0"/>
              <a:t>a cat in an image</a:t>
            </a:r>
            <a:r>
              <a:rPr lang="en-US" sz="1400" dirty="0"/>
              <a:t>.</a:t>
            </a:r>
          </a:p>
          <a:p>
            <a:r>
              <a:rPr lang="en-US" sz="1400" dirty="0"/>
              <a:t>A deep learning model learns step-by-step:</a:t>
            </a:r>
          </a:p>
          <a:p>
            <a:r>
              <a:rPr lang="en-US" sz="1400" b="1" dirty="0"/>
              <a:t>Layer 1:</a:t>
            </a:r>
            <a:r>
              <a:rPr lang="en-US" sz="1400" dirty="0"/>
              <a:t> Detects simple features</a:t>
            </a:r>
          </a:p>
          <a:p>
            <a:r>
              <a:rPr lang="en-US" sz="1400" dirty="0"/>
              <a:t>edges</a:t>
            </a:r>
          </a:p>
          <a:p>
            <a:r>
              <a:rPr lang="en-US" sz="1400" dirty="0"/>
              <a:t>lines</a:t>
            </a:r>
          </a:p>
          <a:p>
            <a:r>
              <a:rPr lang="en-US" sz="1400" b="1" dirty="0"/>
              <a:t>Layer 2:</a:t>
            </a:r>
            <a:r>
              <a:rPr lang="en-US" sz="1400" dirty="0"/>
              <a:t> Detects shapes</a:t>
            </a:r>
          </a:p>
          <a:p>
            <a:r>
              <a:rPr lang="en-US" sz="1400" dirty="0"/>
              <a:t>ears</a:t>
            </a:r>
          </a:p>
          <a:p>
            <a:r>
              <a:rPr lang="en-US" sz="1400" dirty="0"/>
              <a:t>eyes</a:t>
            </a:r>
          </a:p>
          <a:p>
            <a:r>
              <a:rPr lang="en-US" sz="1400" b="1" dirty="0"/>
              <a:t>Layer 3:</a:t>
            </a:r>
            <a:r>
              <a:rPr lang="en-US" sz="1400" dirty="0"/>
              <a:t> Detects objects</a:t>
            </a:r>
          </a:p>
          <a:p>
            <a:r>
              <a:rPr lang="en-US" sz="1400" dirty="0"/>
              <a:t>face</a:t>
            </a:r>
          </a:p>
          <a:p>
            <a:r>
              <a:rPr lang="en-US" sz="1400" dirty="0"/>
              <a:t>body</a:t>
            </a:r>
          </a:p>
          <a:p>
            <a:r>
              <a:rPr lang="en-US" sz="1400" b="1" dirty="0"/>
              <a:t>Final Layer:</a:t>
            </a:r>
            <a:r>
              <a:rPr lang="en-US" sz="1400" dirty="0"/>
              <a:t> Recognizes</a:t>
            </a:r>
          </a:p>
          <a:p>
            <a:r>
              <a:rPr lang="en-US" dirty="0"/>
              <a:t>This is a CAT</a:t>
            </a:r>
          </a:p>
          <a:p>
            <a:r>
              <a:rPr lang="en-US" sz="1400" dirty="0"/>
              <a:t>So deep learning </a:t>
            </a:r>
            <a:r>
              <a:rPr lang="en-US" sz="1400" b="1" dirty="0"/>
              <a:t>builds understanding layer by layer</a:t>
            </a:r>
            <a:r>
              <a:rPr lang="en-US" sz="1400" dirty="0"/>
              <a:t>.</a:t>
            </a:r>
          </a:p>
          <a:p>
            <a:pPr marL="0" indent="0">
              <a:buNone/>
            </a:pPr>
            <a:endParaRPr lang="en-US" sz="1400" dirty="0"/>
          </a:p>
        </p:txBody>
      </p:sp>
    </p:spTree>
    <p:extLst>
      <p:ext uri="{BB962C8B-B14F-4D97-AF65-F5344CB8AC3E}">
        <p14:creationId xmlns:p14="http://schemas.microsoft.com/office/powerpoint/2010/main" val="27189251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3DD21-F776-6101-8DC6-DCABA6388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241DE-7726-6DF0-221E-9438D483D643}"/>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Types of </a:t>
            </a:r>
            <a:r>
              <a:rPr lang="en-US" sz="3200" dirty="0">
                <a:solidFill>
                  <a:schemeClr val="accent2"/>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372684CE-E8B5-BFDC-3B2F-4E7ACC01EA6C}"/>
              </a:ext>
            </a:extLst>
          </p:cNvPr>
          <p:cNvSpPr>
            <a:spLocks noGrp="1"/>
          </p:cNvSpPr>
          <p:nvPr>
            <p:ph idx="1"/>
          </p:nvPr>
        </p:nvSpPr>
        <p:spPr>
          <a:xfrm>
            <a:off x="685215" y="1049120"/>
            <a:ext cx="9381067" cy="5808879"/>
          </a:xfrm>
        </p:spPr>
        <p:txBody>
          <a:bodyPr>
            <a:noAutofit/>
          </a:bodyPr>
          <a:lstStyle/>
          <a:p>
            <a:pPr marL="0" indent="0">
              <a:buNone/>
            </a:pPr>
            <a:r>
              <a:rPr lang="en-US" sz="1400" dirty="0"/>
              <a:t>.</a:t>
            </a:r>
          </a:p>
          <a:p>
            <a:pPr marL="0" indent="0">
              <a:buNone/>
            </a:pPr>
            <a:endParaRPr lang="en-US" sz="1400" dirty="0"/>
          </a:p>
        </p:txBody>
      </p:sp>
      <p:pic>
        <p:nvPicPr>
          <p:cNvPr id="5" name="Picture 4">
            <a:extLst>
              <a:ext uri="{FF2B5EF4-FFF2-40B4-BE49-F238E27FC236}">
                <a16:creationId xmlns:a16="http://schemas.microsoft.com/office/drawing/2014/main" id="{F00A3CE9-1229-CE7C-6322-F0BF0F774ECA}"/>
              </a:ext>
            </a:extLst>
          </p:cNvPr>
          <p:cNvPicPr>
            <a:picLocks noChangeAspect="1"/>
          </p:cNvPicPr>
          <p:nvPr/>
        </p:nvPicPr>
        <p:blipFill>
          <a:blip r:embed="rId2"/>
          <a:stretch>
            <a:fillRect/>
          </a:stretch>
        </p:blipFill>
        <p:spPr>
          <a:xfrm>
            <a:off x="952500" y="1237673"/>
            <a:ext cx="8329384" cy="5015346"/>
          </a:xfrm>
          <a:prstGeom prst="rect">
            <a:avLst/>
          </a:prstGeom>
        </p:spPr>
      </p:pic>
    </p:spTree>
    <p:extLst>
      <p:ext uri="{BB962C8B-B14F-4D97-AF65-F5344CB8AC3E}">
        <p14:creationId xmlns:p14="http://schemas.microsoft.com/office/powerpoint/2010/main" val="27062655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9CB37-B80F-D05C-F1CB-AF97BF46B4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00AF3B-1690-2A03-2FD9-768B2425EBCC}"/>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a:t>
            </a:r>
            <a:r>
              <a:rPr lang="en-US" sz="3200" dirty="0">
                <a:solidFill>
                  <a:schemeClr val="accent2"/>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2BE281CC-DA67-961A-3DD3-EF8B73BDDBCC}"/>
              </a:ext>
            </a:extLst>
          </p:cNvPr>
          <p:cNvSpPr>
            <a:spLocks noGrp="1"/>
          </p:cNvSpPr>
          <p:nvPr>
            <p:ph idx="1"/>
          </p:nvPr>
        </p:nvSpPr>
        <p:spPr>
          <a:xfrm>
            <a:off x="685215" y="1049120"/>
            <a:ext cx="9381067" cy="5808879"/>
          </a:xfrm>
        </p:spPr>
        <p:txBody>
          <a:bodyPr>
            <a:noAutofit/>
          </a:bodyPr>
          <a:lstStyle/>
          <a:p>
            <a:pPr marL="0" indent="0">
              <a:buNone/>
            </a:pPr>
            <a:r>
              <a:rPr lang="en-US" sz="1400" b="1" dirty="0">
                <a:solidFill>
                  <a:schemeClr val="accent2"/>
                </a:solidFill>
              </a:rPr>
              <a:t>1. Convolutional Neural Networks (CNN)</a:t>
            </a:r>
          </a:p>
          <a:p>
            <a:r>
              <a:rPr lang="en-US" sz="1400" dirty="0"/>
              <a:t>Used for </a:t>
            </a:r>
            <a:r>
              <a:rPr lang="en-US" sz="1400" b="1" dirty="0"/>
              <a:t>image processing</a:t>
            </a:r>
            <a:r>
              <a:rPr lang="en-US" sz="1400" dirty="0"/>
              <a:t>.</a:t>
            </a:r>
          </a:p>
          <a:p>
            <a:r>
              <a:rPr lang="en-US" sz="1400" dirty="0"/>
              <a:t>Applications:</a:t>
            </a:r>
          </a:p>
          <a:p>
            <a:r>
              <a:rPr lang="en-US" sz="1400" dirty="0"/>
              <a:t>Face recognition</a:t>
            </a:r>
          </a:p>
          <a:p>
            <a:r>
              <a:rPr lang="en-US" sz="1400" dirty="0"/>
              <a:t>Medical imaging</a:t>
            </a:r>
          </a:p>
          <a:p>
            <a:r>
              <a:rPr lang="en-US" sz="1400" dirty="0"/>
              <a:t>Self-driving cars</a:t>
            </a:r>
          </a:p>
          <a:p>
            <a:pPr marL="0" indent="0">
              <a:buNone/>
            </a:pPr>
            <a:r>
              <a:rPr lang="en-US" sz="1400" b="1" dirty="0">
                <a:solidFill>
                  <a:schemeClr val="accent2"/>
                </a:solidFill>
              </a:rPr>
              <a:t>2. Recurrent Neural Networks (RNN)</a:t>
            </a:r>
          </a:p>
          <a:p>
            <a:r>
              <a:rPr lang="en-US" sz="1400" dirty="0"/>
              <a:t>Used for </a:t>
            </a:r>
            <a:r>
              <a:rPr lang="en-US" sz="1400" b="1" dirty="0"/>
              <a:t>sequence data</a:t>
            </a:r>
            <a:r>
              <a:rPr lang="en-US" sz="1400" dirty="0"/>
              <a:t> like text or speech.</a:t>
            </a:r>
          </a:p>
          <a:p>
            <a:r>
              <a:rPr lang="en-US" sz="1400" dirty="0"/>
              <a:t>Applications:</a:t>
            </a:r>
          </a:p>
          <a:p>
            <a:r>
              <a:rPr lang="en-US" sz="1400" dirty="0"/>
              <a:t>Language translation</a:t>
            </a:r>
          </a:p>
          <a:p>
            <a:r>
              <a:rPr lang="en-US" sz="1400" dirty="0"/>
              <a:t>Speech recognition</a:t>
            </a:r>
          </a:p>
          <a:p>
            <a:pPr marL="0" indent="0">
              <a:buNone/>
            </a:pPr>
            <a:r>
              <a:rPr lang="en-US" sz="1400" b="1" dirty="0">
                <a:solidFill>
                  <a:schemeClr val="accent2"/>
                </a:solidFill>
              </a:rPr>
              <a:t>3. Transformers</a:t>
            </a:r>
          </a:p>
          <a:p>
            <a:r>
              <a:rPr lang="en-US" sz="1400" dirty="0"/>
              <a:t>Used in modern AI systems and </a:t>
            </a:r>
            <a:r>
              <a:rPr lang="en-US" sz="1400" b="1" dirty="0"/>
              <a:t>Large Language Models</a:t>
            </a:r>
            <a:r>
              <a:rPr lang="en-US" sz="1400" dirty="0"/>
              <a:t>.</a:t>
            </a:r>
          </a:p>
          <a:p>
            <a:r>
              <a:rPr lang="en-US" sz="1400" dirty="0"/>
              <a:t>They power tools like:</a:t>
            </a:r>
          </a:p>
          <a:p>
            <a:r>
              <a:rPr lang="en-US" sz="1400" dirty="0"/>
              <a:t>ChatGPT</a:t>
            </a:r>
          </a:p>
          <a:p>
            <a:r>
              <a:rPr lang="en-US" sz="1400" dirty="0"/>
              <a:t>Gemini</a:t>
            </a:r>
          </a:p>
          <a:p>
            <a:r>
              <a:rPr lang="en-US" sz="1400" dirty="0"/>
              <a:t>Transformers are very powerful for </a:t>
            </a:r>
            <a:r>
              <a:rPr lang="en-US" sz="1400" b="1" dirty="0"/>
              <a:t>text understanding and generation</a:t>
            </a:r>
            <a:r>
              <a:rPr lang="en-US" sz="1400" dirty="0"/>
              <a:t>.</a:t>
            </a:r>
          </a:p>
          <a:p>
            <a:pPr marL="0" indent="0">
              <a:buNone/>
            </a:pPr>
            <a:endParaRPr lang="en-US" sz="1400" dirty="0"/>
          </a:p>
        </p:txBody>
      </p:sp>
    </p:spTree>
    <p:extLst>
      <p:ext uri="{BB962C8B-B14F-4D97-AF65-F5344CB8AC3E}">
        <p14:creationId xmlns:p14="http://schemas.microsoft.com/office/powerpoint/2010/main" val="32904206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8987E-D714-F604-2277-B2285CC88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CA22F-754D-91EF-732D-76B72FC2D2B0}"/>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a:t>
            </a:r>
            <a:r>
              <a:rPr lang="en-US" sz="3200" dirty="0">
                <a:solidFill>
                  <a:schemeClr val="accent2"/>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6CEFEDC6-EF2C-69E5-63CF-3C369F6D6E68}"/>
              </a:ext>
            </a:extLst>
          </p:cNvPr>
          <p:cNvSpPr>
            <a:spLocks noGrp="1"/>
          </p:cNvSpPr>
          <p:nvPr>
            <p:ph idx="1"/>
          </p:nvPr>
        </p:nvSpPr>
        <p:spPr>
          <a:xfrm>
            <a:off x="685216" y="891628"/>
            <a:ext cx="9105170" cy="5735144"/>
          </a:xfrm>
        </p:spPr>
        <p:txBody>
          <a:bodyPr>
            <a:noAutofit/>
          </a:bodyPr>
          <a:lstStyle/>
          <a:p>
            <a:pPr marL="0" indent="0">
              <a:buNone/>
            </a:pPr>
            <a:r>
              <a:rPr lang="en-US" sz="1400" b="1" dirty="0">
                <a:solidFill>
                  <a:schemeClr val="accent2"/>
                </a:solidFill>
              </a:rPr>
              <a:t>Advantages of Deep Learning</a:t>
            </a:r>
          </a:p>
          <a:p>
            <a:r>
              <a:rPr lang="en-US" sz="1400" b="1" dirty="0"/>
              <a:t>Learns Automatically</a:t>
            </a:r>
          </a:p>
          <a:p>
            <a:r>
              <a:rPr lang="en-US" sz="1400" dirty="0"/>
              <a:t>Does not require manually written rules.</a:t>
            </a:r>
          </a:p>
          <a:p>
            <a:r>
              <a:rPr lang="en-US" sz="1400" b="1" dirty="0"/>
              <a:t>High Accuracy</a:t>
            </a:r>
          </a:p>
          <a:p>
            <a:r>
              <a:rPr lang="en-US" sz="1400" dirty="0"/>
              <a:t>Performs very well with large datasets.</a:t>
            </a:r>
          </a:p>
          <a:p>
            <a:r>
              <a:rPr lang="en-US" sz="1400" b="1" dirty="0"/>
              <a:t>Handles Complex Problems</a:t>
            </a:r>
          </a:p>
          <a:p>
            <a:r>
              <a:rPr lang="en-US" sz="1400" dirty="0"/>
              <a:t>Good for images, speech, and language.</a:t>
            </a:r>
          </a:p>
          <a:p>
            <a:pPr marL="0" indent="0">
              <a:buNone/>
            </a:pPr>
            <a:endParaRPr lang="en-US" sz="1400" dirty="0"/>
          </a:p>
        </p:txBody>
      </p:sp>
    </p:spTree>
    <p:extLst>
      <p:ext uri="{BB962C8B-B14F-4D97-AF65-F5344CB8AC3E}">
        <p14:creationId xmlns:p14="http://schemas.microsoft.com/office/powerpoint/2010/main" val="28548519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6185-BF70-95D1-F680-9A07AE6F6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1687E-A28E-73E6-EC7B-B4BF71DF57EC}"/>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a:t>
            </a:r>
            <a:r>
              <a:rPr lang="en-US" sz="3200" dirty="0">
                <a:solidFill>
                  <a:schemeClr val="accent2"/>
                </a:solidFill>
              </a:rPr>
              <a:t>Deep Learning</a:t>
            </a:r>
            <a:endParaRPr lang="en-US" sz="3200" b="1" dirty="0">
              <a:solidFill>
                <a:srgbClr val="FF0000"/>
              </a:solidFill>
            </a:endParaRPr>
          </a:p>
        </p:txBody>
      </p:sp>
      <p:sp>
        <p:nvSpPr>
          <p:cNvPr id="4" name="Content Placeholder 3">
            <a:extLst>
              <a:ext uri="{FF2B5EF4-FFF2-40B4-BE49-F238E27FC236}">
                <a16:creationId xmlns:a16="http://schemas.microsoft.com/office/drawing/2014/main" id="{34EC4E95-7ED8-2FE4-DBFC-F4902E12CE4C}"/>
              </a:ext>
            </a:extLst>
          </p:cNvPr>
          <p:cNvSpPr>
            <a:spLocks noGrp="1"/>
          </p:cNvSpPr>
          <p:nvPr>
            <p:ph idx="1"/>
          </p:nvPr>
        </p:nvSpPr>
        <p:spPr>
          <a:xfrm>
            <a:off x="685216" y="891628"/>
            <a:ext cx="9105170" cy="5735144"/>
          </a:xfrm>
        </p:spPr>
        <p:txBody>
          <a:bodyPr>
            <a:noAutofit/>
          </a:bodyPr>
          <a:lstStyle/>
          <a:p>
            <a:pPr marL="0" indent="0">
              <a:buNone/>
            </a:pPr>
            <a:r>
              <a:rPr lang="en-US" sz="1400" b="1" dirty="0">
                <a:solidFill>
                  <a:schemeClr val="accent2"/>
                </a:solidFill>
              </a:rPr>
              <a:t>Limitations of Deep Learning</a:t>
            </a:r>
          </a:p>
          <a:p>
            <a:r>
              <a:rPr lang="en-US" sz="1400" b="1" dirty="0"/>
              <a:t>Needs Large Data</a:t>
            </a:r>
          </a:p>
          <a:p>
            <a:r>
              <a:rPr lang="en-US" sz="1400" dirty="0"/>
              <a:t>Deep learning models require huge datasets.</a:t>
            </a:r>
          </a:p>
          <a:p>
            <a:r>
              <a:rPr lang="en-US" sz="1400" b="1" dirty="0"/>
              <a:t>Requires High Computing Power</a:t>
            </a:r>
          </a:p>
          <a:p>
            <a:r>
              <a:rPr lang="en-US" sz="1400" dirty="0"/>
              <a:t>Training often needs </a:t>
            </a:r>
            <a:r>
              <a:rPr lang="en-US" sz="1400" b="1" dirty="0"/>
              <a:t>GPUs or specialized hardware</a:t>
            </a:r>
            <a:r>
              <a:rPr lang="en-US" sz="1400" dirty="0"/>
              <a:t>.</a:t>
            </a:r>
          </a:p>
          <a:p>
            <a:pPr marL="0" indent="0">
              <a:buNone/>
            </a:pPr>
            <a:endParaRPr lang="en-US" sz="1400" dirty="0"/>
          </a:p>
        </p:txBody>
      </p:sp>
    </p:spTree>
    <p:extLst>
      <p:ext uri="{BB962C8B-B14F-4D97-AF65-F5344CB8AC3E}">
        <p14:creationId xmlns:p14="http://schemas.microsoft.com/office/powerpoint/2010/main" val="26823393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36AEF-7A87-100C-3605-B9B6C8803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86426-BCBD-726E-F3CB-8A60586B69A6}"/>
              </a:ext>
            </a:extLst>
          </p:cNvPr>
          <p:cNvSpPr>
            <a:spLocks noGrp="1"/>
          </p:cNvSpPr>
          <p:nvPr>
            <p:ph type="title"/>
          </p:nvPr>
        </p:nvSpPr>
        <p:spPr>
          <a:xfrm>
            <a:off x="685216" y="231228"/>
            <a:ext cx="8596668" cy="1320800"/>
          </a:xfrm>
        </p:spPr>
        <p:txBody>
          <a:bodyPr>
            <a:normAutofit/>
          </a:bodyPr>
          <a:lstStyle/>
          <a:p>
            <a:r>
              <a:rPr lang="en-IN" sz="3200" dirty="0"/>
              <a:t>Basic terminology (model, training, inference, features, labels) </a:t>
            </a:r>
            <a:endParaRPr lang="en-US" sz="3200" dirty="0">
              <a:solidFill>
                <a:schemeClr val="accent2"/>
              </a:solidFill>
            </a:endParaRPr>
          </a:p>
        </p:txBody>
      </p:sp>
      <p:sp>
        <p:nvSpPr>
          <p:cNvPr id="4" name="Content Placeholder 3">
            <a:extLst>
              <a:ext uri="{FF2B5EF4-FFF2-40B4-BE49-F238E27FC236}">
                <a16:creationId xmlns:a16="http://schemas.microsoft.com/office/drawing/2014/main" id="{6555F9C4-8BB5-007B-726C-462875FFA6D0}"/>
              </a:ext>
            </a:extLst>
          </p:cNvPr>
          <p:cNvSpPr>
            <a:spLocks noGrp="1"/>
          </p:cNvSpPr>
          <p:nvPr>
            <p:ph idx="1"/>
          </p:nvPr>
        </p:nvSpPr>
        <p:spPr>
          <a:xfrm>
            <a:off x="685216" y="1552028"/>
            <a:ext cx="9105170" cy="5735144"/>
          </a:xfrm>
        </p:spPr>
        <p:txBody>
          <a:bodyPr>
            <a:noAutofit/>
          </a:bodyPr>
          <a:lstStyle/>
          <a:p>
            <a:pPr marL="0" indent="0">
              <a:buNone/>
            </a:pPr>
            <a:r>
              <a:rPr lang="en-IN" sz="1400" b="1" dirty="0"/>
              <a:t>What is Training in AI </a:t>
            </a:r>
          </a:p>
          <a:p>
            <a:r>
              <a:rPr lang="en-IN" sz="1400" b="1" dirty="0"/>
              <a:t>Training is the process of teaching an AI model to learn patterns from data so that it can make predictions, classifications, or generate new content when it receives new input.</a:t>
            </a:r>
            <a:endParaRPr lang="en-IN" sz="1400" dirty="0"/>
          </a:p>
          <a:p>
            <a:r>
              <a:rPr lang="en-IN" sz="1400" dirty="0"/>
              <a:t>A simple way to think about it:</a:t>
            </a:r>
          </a:p>
          <a:p>
            <a:r>
              <a:rPr lang="en-IN" sz="1400" b="1" dirty="0"/>
              <a:t>Training = showing examples to the model + measuring its mistakes + adjusting the model + repeating the process until it learns useful patterns.</a:t>
            </a:r>
          </a:p>
          <a:p>
            <a:pPr marL="0" indent="0">
              <a:buNone/>
            </a:pPr>
            <a:r>
              <a:rPr lang="en-IN" sz="1400" b="1" dirty="0"/>
              <a:t>Common types of training</a:t>
            </a:r>
          </a:p>
          <a:p>
            <a:pPr lvl="0"/>
            <a:r>
              <a:rPr lang="en-IN" sz="1400" b="1" dirty="0"/>
              <a:t>Pre-training: A model learns broad patterns and language understanding from </a:t>
            </a:r>
            <a:r>
              <a:rPr lang="en-IN" sz="1400" b="1" dirty="0">
                <a:hlinkClick r:id="rId2">
                  <a:extLst>
                    <a:ext uri="{A12FA001-AC4F-418D-AE19-62706E023703}">
                      <ahyp:hlinkClr xmlns:ahyp="http://schemas.microsoft.com/office/drawing/2018/hyperlinkcolor" val="tx"/>
                    </a:ext>
                  </a:extLst>
                </a:hlinkClick>
              </a:rPr>
              <a:t>massive, general-purpose datasets</a:t>
            </a:r>
            <a:r>
              <a:rPr lang="en-IN" sz="1400" b="1" dirty="0"/>
              <a:t> before being adapted to specific tasks.</a:t>
            </a:r>
          </a:p>
          <a:p>
            <a:pPr lvl="0"/>
            <a:r>
              <a:rPr lang="en-IN" sz="1400" b="1" dirty="0"/>
              <a:t>Fine-tuning: The pre-trained model is further trained on a smaller, domain-specific dataset to improve performance for targeted use cases.</a:t>
            </a:r>
          </a:p>
          <a:p>
            <a:pPr lvl="0"/>
            <a:r>
              <a:rPr lang="en-IN" sz="1400" b="1" dirty="0"/>
              <a:t>Supervised learning: The model learns from labelled examples where the correct output is provided for each input.</a:t>
            </a:r>
          </a:p>
          <a:p>
            <a:pPr lvl="0"/>
            <a:r>
              <a:rPr lang="en-IN" sz="1400" b="1" dirty="0"/>
              <a:t>Unsupervised learning: The model discovers hidden patterns or groupings in </a:t>
            </a:r>
            <a:r>
              <a:rPr lang="en-IN" sz="1400" b="1" dirty="0" err="1"/>
              <a:t>unlabeled</a:t>
            </a:r>
            <a:r>
              <a:rPr lang="en-IN" sz="1400" b="1" dirty="0"/>
              <a:t> data without being given explicit answers.</a:t>
            </a:r>
          </a:p>
          <a:p>
            <a:endParaRPr lang="en-IN" sz="1400" b="1" dirty="0"/>
          </a:p>
        </p:txBody>
      </p:sp>
    </p:spTree>
    <p:extLst>
      <p:ext uri="{BB962C8B-B14F-4D97-AF65-F5344CB8AC3E}">
        <p14:creationId xmlns:p14="http://schemas.microsoft.com/office/powerpoint/2010/main" val="257864880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C415E-FCFF-FDD2-3853-82926F767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989F15-3301-B838-E9B4-9910E42D50E8}"/>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Training</a:t>
            </a:r>
            <a:endParaRPr lang="en-US" sz="3200" dirty="0">
              <a:solidFill>
                <a:schemeClr val="accent2"/>
              </a:solidFill>
            </a:endParaRPr>
          </a:p>
        </p:txBody>
      </p:sp>
      <p:sp>
        <p:nvSpPr>
          <p:cNvPr id="4" name="Content Placeholder 3">
            <a:extLst>
              <a:ext uri="{FF2B5EF4-FFF2-40B4-BE49-F238E27FC236}">
                <a16:creationId xmlns:a16="http://schemas.microsoft.com/office/drawing/2014/main" id="{EB16FF9A-DD7B-5975-9134-BC8A99006F2E}"/>
              </a:ext>
            </a:extLst>
          </p:cNvPr>
          <p:cNvSpPr>
            <a:spLocks noGrp="1"/>
          </p:cNvSpPr>
          <p:nvPr>
            <p:ph idx="1"/>
          </p:nvPr>
        </p:nvSpPr>
        <p:spPr>
          <a:xfrm>
            <a:off x="685216" y="1122856"/>
            <a:ext cx="9105170" cy="5735144"/>
          </a:xfrm>
        </p:spPr>
        <p:txBody>
          <a:bodyPr>
            <a:noAutofit/>
          </a:bodyPr>
          <a:lstStyle/>
          <a:p>
            <a:pPr marL="0" indent="0">
              <a:buNone/>
            </a:pPr>
            <a:r>
              <a:rPr lang="en-IN" sz="1600" b="1" dirty="0"/>
              <a:t>Training outputs</a:t>
            </a:r>
          </a:p>
          <a:p>
            <a:r>
              <a:rPr lang="en-IN" sz="1600" dirty="0"/>
              <a:t>The result of the training process is a static model file containing:</a:t>
            </a:r>
          </a:p>
          <a:p>
            <a:pPr lvl="0"/>
            <a:r>
              <a:rPr lang="en-IN" sz="1600" b="1" dirty="0"/>
              <a:t>Weights:</a:t>
            </a:r>
            <a:r>
              <a:rPr lang="en-IN" sz="1600" dirty="0"/>
              <a:t> The learned parameters that determine how input data is transformed.</a:t>
            </a:r>
          </a:p>
          <a:p>
            <a:pPr lvl="0"/>
            <a:r>
              <a:rPr lang="en-IN" sz="1600" b="1" dirty="0"/>
              <a:t>Embeddings:</a:t>
            </a:r>
            <a:r>
              <a:rPr lang="en-IN" sz="1600" dirty="0"/>
              <a:t> </a:t>
            </a:r>
            <a:r>
              <a:rPr lang="en-IN" sz="1600" b="1" dirty="0">
                <a:hlinkClick r:id="rId2"/>
              </a:rPr>
              <a:t>Vector representations of data</a:t>
            </a:r>
            <a:r>
              <a:rPr lang="en-IN" sz="1600" dirty="0"/>
              <a:t> that capture semantic meaning.</a:t>
            </a:r>
          </a:p>
          <a:p>
            <a:pPr lvl="0"/>
            <a:r>
              <a:rPr lang="en-IN" sz="1600" b="1" dirty="0"/>
              <a:t>Learned representations:</a:t>
            </a:r>
            <a:r>
              <a:rPr lang="en-IN" sz="1600" dirty="0"/>
              <a:t> The model’s internal map of how different features relate to one another.</a:t>
            </a:r>
          </a:p>
          <a:p>
            <a:endParaRPr lang="en-IN" sz="1400" b="1" dirty="0"/>
          </a:p>
        </p:txBody>
      </p:sp>
    </p:spTree>
    <p:extLst>
      <p:ext uri="{BB962C8B-B14F-4D97-AF65-F5344CB8AC3E}">
        <p14:creationId xmlns:p14="http://schemas.microsoft.com/office/powerpoint/2010/main" val="282630194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B1B12-F1B3-D679-758D-A813AC2F2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1770E6-BA7B-99EA-5A41-F83A9BF90635}"/>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Inference</a:t>
            </a:r>
            <a:endParaRPr lang="en-US" sz="3200" dirty="0">
              <a:solidFill>
                <a:schemeClr val="accent2"/>
              </a:solidFill>
            </a:endParaRPr>
          </a:p>
        </p:txBody>
      </p:sp>
      <p:sp>
        <p:nvSpPr>
          <p:cNvPr id="4" name="Content Placeholder 3">
            <a:extLst>
              <a:ext uri="{FF2B5EF4-FFF2-40B4-BE49-F238E27FC236}">
                <a16:creationId xmlns:a16="http://schemas.microsoft.com/office/drawing/2014/main" id="{2FA7F5A1-0B20-D948-8159-C731F6ED8164}"/>
              </a:ext>
            </a:extLst>
          </p:cNvPr>
          <p:cNvSpPr>
            <a:spLocks noGrp="1"/>
          </p:cNvSpPr>
          <p:nvPr>
            <p:ph idx="1"/>
          </p:nvPr>
        </p:nvSpPr>
        <p:spPr>
          <a:xfrm>
            <a:off x="777581" y="956283"/>
            <a:ext cx="9105170" cy="5735144"/>
          </a:xfrm>
        </p:spPr>
        <p:txBody>
          <a:bodyPr>
            <a:noAutofit/>
          </a:bodyPr>
          <a:lstStyle/>
          <a:p>
            <a:pPr marL="0" indent="0">
              <a:buNone/>
            </a:pPr>
            <a:r>
              <a:rPr lang="en-IN" sz="1600" b="1" dirty="0"/>
              <a:t>What is Inference in AI?</a:t>
            </a:r>
          </a:p>
          <a:p>
            <a:r>
              <a:rPr lang="en-IN" sz="1600" b="1" dirty="0"/>
              <a:t>Inference is the process of using a trained AI/ML model to make a prediction, classification, decision, or generate new content from new input data.</a:t>
            </a:r>
            <a:endParaRPr lang="en-IN" sz="1600" dirty="0"/>
          </a:p>
          <a:p>
            <a:r>
              <a:rPr lang="en-IN" sz="1600" dirty="0"/>
              <a:t>In simple words:</a:t>
            </a:r>
          </a:p>
          <a:p>
            <a:r>
              <a:rPr lang="en-IN" sz="1600" b="1" dirty="0"/>
              <a:t>Training = AI learns</a:t>
            </a:r>
            <a:r>
              <a:rPr lang="en-IN" sz="1600" dirty="0"/>
              <a:t> 🧠</a:t>
            </a:r>
            <a:br>
              <a:rPr lang="en-IN" sz="1600" dirty="0"/>
            </a:br>
            <a:r>
              <a:rPr lang="en-IN" sz="1600" b="1" dirty="0"/>
              <a:t>Inference = AI uses what it learned</a:t>
            </a:r>
            <a:r>
              <a:rPr lang="en-IN" sz="1600" dirty="0"/>
              <a:t> 🎯</a:t>
            </a:r>
          </a:p>
          <a:p>
            <a:endParaRPr lang="en-IN" sz="1600" dirty="0"/>
          </a:p>
        </p:txBody>
      </p:sp>
    </p:spTree>
    <p:extLst>
      <p:ext uri="{BB962C8B-B14F-4D97-AF65-F5344CB8AC3E}">
        <p14:creationId xmlns:p14="http://schemas.microsoft.com/office/powerpoint/2010/main" val="110942944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349D8-636C-CC4C-FAA3-83336F8D5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E2ADF0-8A56-A604-9277-E684442FE3C7}"/>
              </a:ext>
            </a:extLst>
          </p:cNvPr>
          <p:cNvSpPr>
            <a:spLocks noGrp="1"/>
          </p:cNvSpPr>
          <p:nvPr>
            <p:ph type="title"/>
          </p:nvPr>
        </p:nvSpPr>
        <p:spPr>
          <a:xfrm>
            <a:off x="666743" y="166573"/>
            <a:ext cx="8596668" cy="526154"/>
          </a:xfrm>
        </p:spPr>
        <p:txBody>
          <a:bodyPr>
            <a:normAutofit fontScale="90000"/>
          </a:bodyPr>
          <a:lstStyle/>
          <a:p>
            <a:r>
              <a:rPr lang="en-IN" sz="3200" dirty="0">
                <a:solidFill>
                  <a:schemeClr val="accent2"/>
                </a:solidFill>
              </a:rPr>
              <a:t>AI Spectrum- Inference</a:t>
            </a:r>
            <a:endParaRPr lang="en-US" sz="3200" dirty="0">
              <a:solidFill>
                <a:schemeClr val="accent2"/>
              </a:solidFill>
            </a:endParaRPr>
          </a:p>
        </p:txBody>
      </p:sp>
      <p:sp>
        <p:nvSpPr>
          <p:cNvPr id="4" name="Content Placeholder 3">
            <a:extLst>
              <a:ext uri="{FF2B5EF4-FFF2-40B4-BE49-F238E27FC236}">
                <a16:creationId xmlns:a16="http://schemas.microsoft.com/office/drawing/2014/main" id="{BFBF2C84-216D-F0E3-E203-E97A29AC0774}"/>
              </a:ext>
            </a:extLst>
          </p:cNvPr>
          <p:cNvSpPr>
            <a:spLocks noGrp="1"/>
          </p:cNvSpPr>
          <p:nvPr>
            <p:ph idx="1"/>
          </p:nvPr>
        </p:nvSpPr>
        <p:spPr>
          <a:xfrm>
            <a:off x="777582" y="956283"/>
            <a:ext cx="5244528" cy="5735144"/>
          </a:xfrm>
        </p:spPr>
        <p:txBody>
          <a:bodyPr>
            <a:noAutofit/>
          </a:bodyPr>
          <a:lstStyle/>
          <a:p>
            <a:pPr marL="0" indent="0">
              <a:buNone/>
            </a:pPr>
            <a:r>
              <a:rPr lang="en-IN" sz="1400" b="1" dirty="0"/>
              <a:t>Simple Example</a:t>
            </a:r>
          </a:p>
          <a:p>
            <a:pPr marL="0" indent="0">
              <a:buNone/>
            </a:pPr>
            <a:r>
              <a:rPr lang="en-IN" sz="1400" dirty="0"/>
              <a:t>Suppose we train an AI model to recognize cats and dogs.</a:t>
            </a:r>
          </a:p>
          <a:p>
            <a:pPr marL="0" indent="0">
              <a:buNone/>
            </a:pPr>
            <a:r>
              <a:rPr lang="en-IN" sz="1400" b="1" dirty="0"/>
              <a:t>During Training</a:t>
            </a:r>
          </a:p>
          <a:p>
            <a:pPr marL="0" indent="0">
              <a:buNone/>
            </a:pPr>
            <a:r>
              <a:rPr lang="en-IN" sz="1400" dirty="0"/>
              <a:t>We give the model thousands of images:</a:t>
            </a:r>
          </a:p>
          <a:p>
            <a:r>
              <a:rPr lang="en-IN" sz="1400" dirty="0"/>
              <a:t>Cat Image → Cat</a:t>
            </a:r>
          </a:p>
          <a:p>
            <a:r>
              <a:rPr lang="en-IN" sz="1400" dirty="0"/>
              <a:t>Dog Image → Dog</a:t>
            </a:r>
          </a:p>
          <a:p>
            <a:r>
              <a:rPr lang="en-IN" sz="1400" dirty="0"/>
              <a:t>Cat Image → Cat</a:t>
            </a:r>
          </a:p>
          <a:p>
            <a:r>
              <a:rPr lang="en-IN" sz="1400" dirty="0"/>
              <a:t>Dog Image → Dog   ↓</a:t>
            </a:r>
          </a:p>
          <a:p>
            <a:r>
              <a:rPr lang="en-IN" sz="1400" dirty="0"/>
              <a:t>TRAINING</a:t>
            </a:r>
          </a:p>
          <a:p>
            <a:pPr marL="0" indent="0">
              <a:buNone/>
            </a:pPr>
            <a:r>
              <a:rPr lang="en-IN" sz="1400" dirty="0"/>
              <a:t>Trained Model</a:t>
            </a:r>
          </a:p>
          <a:p>
            <a:pPr marL="0" indent="0">
              <a:buNone/>
            </a:pPr>
            <a:r>
              <a:rPr lang="en-IN" sz="1400" dirty="0"/>
              <a:t>The model learns patterns such as:</a:t>
            </a:r>
          </a:p>
          <a:p>
            <a:pPr lvl="0"/>
            <a:r>
              <a:rPr lang="en-IN" sz="1400" dirty="0"/>
              <a:t>Shapes </a:t>
            </a:r>
          </a:p>
          <a:p>
            <a:pPr lvl="0"/>
            <a:r>
              <a:rPr lang="en-IN" sz="1400" dirty="0"/>
              <a:t>Ears </a:t>
            </a:r>
          </a:p>
          <a:p>
            <a:pPr lvl="0"/>
            <a:r>
              <a:rPr lang="en-IN" sz="1400" dirty="0"/>
              <a:t>Eyes </a:t>
            </a:r>
          </a:p>
          <a:p>
            <a:pPr lvl="0"/>
            <a:r>
              <a:rPr lang="en-IN" sz="1400" dirty="0"/>
              <a:t>Fur </a:t>
            </a:r>
          </a:p>
          <a:p>
            <a:pPr lvl="0"/>
            <a:r>
              <a:rPr lang="en-IN" sz="1400" dirty="0"/>
              <a:t>Face structure </a:t>
            </a:r>
          </a:p>
          <a:p>
            <a:pPr lvl="0"/>
            <a:r>
              <a:rPr lang="en-IN" sz="1400" dirty="0"/>
              <a:t>Body characteristics </a:t>
            </a:r>
          </a:p>
          <a:p>
            <a:endParaRPr lang="en-IN" sz="1400" dirty="0"/>
          </a:p>
        </p:txBody>
      </p:sp>
      <p:sp>
        <p:nvSpPr>
          <p:cNvPr id="5" name="TextBox 4">
            <a:extLst>
              <a:ext uri="{FF2B5EF4-FFF2-40B4-BE49-F238E27FC236}">
                <a16:creationId xmlns:a16="http://schemas.microsoft.com/office/drawing/2014/main" id="{67BFBD6E-5AFF-9913-E751-3DE36D9C4EEE}"/>
              </a:ext>
            </a:extLst>
          </p:cNvPr>
          <p:cNvSpPr txBox="1"/>
          <p:nvPr/>
        </p:nvSpPr>
        <p:spPr>
          <a:xfrm>
            <a:off x="6213102" y="942748"/>
            <a:ext cx="6100618" cy="2677656"/>
          </a:xfrm>
          <a:prstGeom prst="rect">
            <a:avLst/>
          </a:prstGeom>
          <a:noFill/>
        </p:spPr>
        <p:txBody>
          <a:bodyPr wrap="square">
            <a:spAutoFit/>
          </a:bodyPr>
          <a:lstStyle/>
          <a:p>
            <a:r>
              <a:rPr lang="en-IN" sz="1400" b="1" dirty="0"/>
              <a:t>During Inference</a:t>
            </a:r>
          </a:p>
          <a:p>
            <a:endParaRPr lang="en-IN" sz="1400" b="1" dirty="0"/>
          </a:p>
          <a:p>
            <a:r>
              <a:rPr lang="en-IN" sz="1400" dirty="0"/>
              <a:t>We give it a </a:t>
            </a:r>
            <a:r>
              <a:rPr lang="en-IN" sz="1400" b="1" dirty="0"/>
              <a:t>new image</a:t>
            </a:r>
            <a:r>
              <a:rPr lang="en-IN" sz="1400" dirty="0"/>
              <a:t> it has never seen before.</a:t>
            </a:r>
          </a:p>
          <a:p>
            <a:r>
              <a:rPr lang="en-IN" sz="1400" dirty="0"/>
              <a:t>New Image</a:t>
            </a:r>
          </a:p>
          <a:p>
            <a:r>
              <a:rPr lang="en-IN" sz="1400" dirty="0"/>
              <a:t>    ↓</a:t>
            </a:r>
          </a:p>
          <a:p>
            <a:r>
              <a:rPr lang="en-IN" sz="1400" dirty="0"/>
              <a:t>Trained Model</a:t>
            </a:r>
          </a:p>
          <a:p>
            <a:r>
              <a:rPr lang="en-IN" sz="1400" dirty="0"/>
              <a:t>    ↓</a:t>
            </a:r>
          </a:p>
          <a:p>
            <a:r>
              <a:rPr lang="en-IN" sz="1400" dirty="0"/>
              <a:t>Prediction</a:t>
            </a:r>
          </a:p>
          <a:p>
            <a:r>
              <a:rPr lang="en-IN" sz="1400" dirty="0"/>
              <a:t>    ↓</a:t>
            </a:r>
          </a:p>
          <a:p>
            <a:r>
              <a:rPr lang="en-IN" sz="1400" dirty="0"/>
              <a:t>Cat = 95%</a:t>
            </a:r>
          </a:p>
          <a:p>
            <a:r>
              <a:rPr lang="en-IN" sz="1400" dirty="0"/>
              <a:t>Dog = 5%</a:t>
            </a:r>
          </a:p>
          <a:p>
            <a:r>
              <a:rPr lang="en-IN" sz="1400" dirty="0"/>
              <a:t>The model is performing </a:t>
            </a:r>
            <a:r>
              <a:rPr lang="en-IN" sz="1400" b="1" dirty="0"/>
              <a:t>inference</a:t>
            </a:r>
            <a:r>
              <a:rPr lang="en-IN" sz="1400" dirty="0"/>
              <a:t>.</a:t>
            </a:r>
            <a:endParaRPr lang="en-IN" dirty="0"/>
          </a:p>
        </p:txBody>
      </p:sp>
    </p:spTree>
    <p:extLst>
      <p:ext uri="{BB962C8B-B14F-4D97-AF65-F5344CB8AC3E}">
        <p14:creationId xmlns:p14="http://schemas.microsoft.com/office/powerpoint/2010/main" val="12604175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0AB03-FD79-A36D-D8CB-679B0BCC22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B873-658B-D1D7-E6A4-3DC5AFFFC5A3}"/>
              </a:ext>
            </a:extLst>
          </p:cNvPr>
          <p:cNvSpPr>
            <a:spLocks noGrp="1"/>
          </p:cNvSpPr>
          <p:nvPr>
            <p:ph type="title"/>
          </p:nvPr>
        </p:nvSpPr>
        <p:spPr>
          <a:xfrm>
            <a:off x="685216" y="231228"/>
            <a:ext cx="8596668" cy="905728"/>
          </a:xfrm>
        </p:spPr>
        <p:txBody>
          <a:bodyPr>
            <a:normAutofit fontScale="90000"/>
          </a:bodyPr>
          <a:lstStyle/>
          <a:p>
            <a:r>
              <a:rPr lang="en-IN" sz="3200" dirty="0">
                <a:solidFill>
                  <a:schemeClr val="accent2"/>
                </a:solidFill>
              </a:rPr>
              <a:t>AI Spectrum - Training vs Inference</a:t>
            </a:r>
            <a:br>
              <a:rPr lang="en-IN" sz="3200" dirty="0">
                <a:solidFill>
                  <a:schemeClr val="accent2"/>
                </a:solidFill>
              </a:rPr>
            </a:br>
            <a:endParaRPr lang="en-US" sz="3200" dirty="0">
              <a:solidFill>
                <a:schemeClr val="accent2"/>
              </a:solidFill>
            </a:endParaRPr>
          </a:p>
        </p:txBody>
      </p:sp>
      <p:graphicFrame>
        <p:nvGraphicFramePr>
          <p:cNvPr id="3" name="Content Placeholder 2">
            <a:extLst>
              <a:ext uri="{FF2B5EF4-FFF2-40B4-BE49-F238E27FC236}">
                <a16:creationId xmlns:a16="http://schemas.microsoft.com/office/drawing/2014/main" id="{0EB3C9BB-A4B7-36A7-CA9F-D37FF01E8772}"/>
              </a:ext>
            </a:extLst>
          </p:cNvPr>
          <p:cNvGraphicFramePr>
            <a:graphicFrameLocks noGrp="1"/>
          </p:cNvGraphicFramePr>
          <p:nvPr>
            <p:ph idx="1"/>
          </p:nvPr>
        </p:nvGraphicFramePr>
        <p:xfrm>
          <a:off x="685572" y="1136956"/>
          <a:ext cx="8596312" cy="2926080"/>
        </p:xfrm>
        <a:graphic>
          <a:graphicData uri="http://schemas.openxmlformats.org/drawingml/2006/table">
            <a:tbl>
              <a:tblPr/>
              <a:tblGrid>
                <a:gridCol w="4298156">
                  <a:extLst>
                    <a:ext uri="{9D8B030D-6E8A-4147-A177-3AD203B41FA5}">
                      <a16:colId xmlns:a16="http://schemas.microsoft.com/office/drawing/2014/main" val="2854574931"/>
                    </a:ext>
                  </a:extLst>
                </a:gridCol>
                <a:gridCol w="4298156">
                  <a:extLst>
                    <a:ext uri="{9D8B030D-6E8A-4147-A177-3AD203B41FA5}">
                      <a16:colId xmlns:a16="http://schemas.microsoft.com/office/drawing/2014/main" val="2497363941"/>
                    </a:ext>
                  </a:extLst>
                </a:gridCol>
              </a:tblGrid>
              <a:tr h="0">
                <a:tc>
                  <a:txBody>
                    <a:bodyPr/>
                    <a:lstStyle/>
                    <a:p>
                      <a:pPr>
                        <a:buNone/>
                      </a:pPr>
                      <a:r>
                        <a:rPr lang="en-IN" b="1"/>
                        <a:t>Training</a:t>
                      </a:r>
                      <a:endParaRPr lang="en-IN"/>
                    </a:p>
                  </a:txBody>
                  <a:tcPr anchor="ctr">
                    <a:lnL>
                      <a:noFill/>
                    </a:lnL>
                    <a:lnR>
                      <a:noFill/>
                    </a:lnR>
                    <a:lnT>
                      <a:noFill/>
                    </a:lnT>
                    <a:lnB>
                      <a:noFill/>
                    </a:lnB>
                    <a:noFill/>
                  </a:tcPr>
                </a:tc>
                <a:tc>
                  <a:txBody>
                    <a:bodyPr/>
                    <a:lstStyle/>
                    <a:p>
                      <a:pPr>
                        <a:buNone/>
                      </a:pPr>
                      <a:r>
                        <a:rPr lang="en-IN" b="1"/>
                        <a:t>Inference</a:t>
                      </a:r>
                      <a:endParaRPr lang="en-IN"/>
                    </a:p>
                  </a:txBody>
                  <a:tcPr anchor="ctr">
                    <a:lnL>
                      <a:noFill/>
                    </a:lnL>
                    <a:lnR>
                      <a:noFill/>
                    </a:lnR>
                    <a:lnT>
                      <a:noFill/>
                    </a:lnT>
                    <a:lnB>
                      <a:noFill/>
                    </a:lnB>
                    <a:noFill/>
                  </a:tcPr>
                </a:tc>
                <a:extLst>
                  <a:ext uri="{0D108BD9-81ED-4DB2-BD59-A6C34878D82A}">
                    <a16:rowId xmlns:a16="http://schemas.microsoft.com/office/drawing/2014/main" val="2416652002"/>
                  </a:ext>
                </a:extLst>
              </a:tr>
              <a:tr h="0">
                <a:tc>
                  <a:txBody>
                    <a:bodyPr/>
                    <a:lstStyle/>
                    <a:p>
                      <a:pPr>
                        <a:buNone/>
                      </a:pPr>
                      <a:r>
                        <a:rPr lang="en-IN" dirty="0"/>
                        <a:t>Model learns</a:t>
                      </a:r>
                    </a:p>
                  </a:txBody>
                  <a:tcPr anchor="ctr">
                    <a:lnL>
                      <a:noFill/>
                    </a:lnL>
                    <a:lnR>
                      <a:noFill/>
                    </a:lnR>
                    <a:lnT>
                      <a:noFill/>
                    </a:lnT>
                    <a:lnB>
                      <a:noFill/>
                    </a:lnB>
                    <a:noFill/>
                  </a:tcPr>
                </a:tc>
                <a:tc>
                  <a:txBody>
                    <a:bodyPr/>
                    <a:lstStyle/>
                    <a:p>
                      <a:pPr>
                        <a:buNone/>
                      </a:pPr>
                      <a:r>
                        <a:rPr lang="en-IN"/>
                        <a:t>Model applies what it learned</a:t>
                      </a:r>
                    </a:p>
                  </a:txBody>
                  <a:tcPr anchor="ctr">
                    <a:lnL>
                      <a:noFill/>
                    </a:lnL>
                    <a:lnR>
                      <a:noFill/>
                    </a:lnR>
                    <a:lnT>
                      <a:noFill/>
                    </a:lnT>
                    <a:lnB>
                      <a:noFill/>
                    </a:lnB>
                    <a:noFill/>
                  </a:tcPr>
                </a:tc>
                <a:extLst>
                  <a:ext uri="{0D108BD9-81ED-4DB2-BD59-A6C34878D82A}">
                    <a16:rowId xmlns:a16="http://schemas.microsoft.com/office/drawing/2014/main" val="1659746091"/>
                  </a:ext>
                </a:extLst>
              </a:tr>
              <a:tr h="0">
                <a:tc>
                  <a:txBody>
                    <a:bodyPr/>
                    <a:lstStyle/>
                    <a:p>
                      <a:pPr>
                        <a:buNone/>
                      </a:pPr>
                      <a:r>
                        <a:rPr lang="en-IN"/>
                        <a:t>Uses training data</a:t>
                      </a:r>
                    </a:p>
                  </a:txBody>
                  <a:tcPr anchor="ctr">
                    <a:lnL>
                      <a:noFill/>
                    </a:lnL>
                    <a:lnR>
                      <a:noFill/>
                    </a:lnR>
                    <a:lnT>
                      <a:noFill/>
                    </a:lnT>
                    <a:lnB>
                      <a:noFill/>
                    </a:lnB>
                    <a:noFill/>
                  </a:tcPr>
                </a:tc>
                <a:tc>
                  <a:txBody>
                    <a:bodyPr/>
                    <a:lstStyle/>
                    <a:p>
                      <a:pPr>
                        <a:buNone/>
                      </a:pPr>
                      <a:r>
                        <a:rPr lang="en-IN"/>
                        <a:t>Uses new input</a:t>
                      </a:r>
                    </a:p>
                  </a:txBody>
                  <a:tcPr anchor="ctr">
                    <a:lnL>
                      <a:noFill/>
                    </a:lnL>
                    <a:lnR>
                      <a:noFill/>
                    </a:lnR>
                    <a:lnT>
                      <a:noFill/>
                    </a:lnT>
                    <a:lnB>
                      <a:noFill/>
                    </a:lnB>
                    <a:noFill/>
                  </a:tcPr>
                </a:tc>
                <a:extLst>
                  <a:ext uri="{0D108BD9-81ED-4DB2-BD59-A6C34878D82A}">
                    <a16:rowId xmlns:a16="http://schemas.microsoft.com/office/drawing/2014/main" val="1625726391"/>
                  </a:ext>
                </a:extLst>
              </a:tr>
              <a:tr h="0">
                <a:tc>
                  <a:txBody>
                    <a:bodyPr/>
                    <a:lstStyle/>
                    <a:p>
                      <a:pPr>
                        <a:buNone/>
                      </a:pPr>
                      <a:r>
                        <a:rPr lang="en-IN"/>
                        <a:t>Parameters are updated</a:t>
                      </a:r>
                    </a:p>
                  </a:txBody>
                  <a:tcPr anchor="ctr">
                    <a:lnL>
                      <a:noFill/>
                    </a:lnL>
                    <a:lnR>
                      <a:noFill/>
                    </a:lnR>
                    <a:lnT>
                      <a:noFill/>
                    </a:lnT>
                    <a:lnB>
                      <a:noFill/>
                    </a:lnB>
                    <a:noFill/>
                  </a:tcPr>
                </a:tc>
                <a:tc>
                  <a:txBody>
                    <a:bodyPr/>
                    <a:lstStyle/>
                    <a:p>
                      <a:pPr>
                        <a:buNone/>
                      </a:pPr>
                      <a:r>
                        <a:rPr lang="en-IN"/>
                        <a:t>Parameters normally stay fixed</a:t>
                      </a:r>
                    </a:p>
                  </a:txBody>
                  <a:tcPr anchor="ctr">
                    <a:lnL>
                      <a:noFill/>
                    </a:lnL>
                    <a:lnR>
                      <a:noFill/>
                    </a:lnR>
                    <a:lnT>
                      <a:noFill/>
                    </a:lnT>
                    <a:lnB>
                      <a:noFill/>
                    </a:lnB>
                    <a:noFill/>
                  </a:tcPr>
                </a:tc>
                <a:extLst>
                  <a:ext uri="{0D108BD9-81ED-4DB2-BD59-A6C34878D82A}">
                    <a16:rowId xmlns:a16="http://schemas.microsoft.com/office/drawing/2014/main" val="2515403017"/>
                  </a:ext>
                </a:extLst>
              </a:tr>
              <a:tr h="0">
                <a:tc>
                  <a:txBody>
                    <a:bodyPr/>
                    <a:lstStyle/>
                    <a:p>
                      <a:pPr>
                        <a:buNone/>
                      </a:pPr>
                      <a:r>
                        <a:rPr lang="en-IN"/>
                        <a:t>Calculates loss</a:t>
                      </a:r>
                    </a:p>
                  </a:txBody>
                  <a:tcPr anchor="ctr">
                    <a:lnL>
                      <a:noFill/>
                    </a:lnL>
                    <a:lnR>
                      <a:noFill/>
                    </a:lnR>
                    <a:lnT>
                      <a:noFill/>
                    </a:lnT>
                    <a:lnB>
                      <a:noFill/>
                    </a:lnB>
                    <a:noFill/>
                  </a:tcPr>
                </a:tc>
                <a:tc>
                  <a:txBody>
                    <a:bodyPr/>
                    <a:lstStyle/>
                    <a:p>
                      <a:pPr>
                        <a:buNone/>
                      </a:pPr>
                      <a:r>
                        <a:rPr lang="en-IN" dirty="0"/>
                        <a:t>Produces output</a:t>
                      </a:r>
                    </a:p>
                  </a:txBody>
                  <a:tcPr anchor="ctr">
                    <a:lnL>
                      <a:noFill/>
                    </a:lnL>
                    <a:lnR>
                      <a:noFill/>
                    </a:lnR>
                    <a:lnT>
                      <a:noFill/>
                    </a:lnT>
                    <a:lnB>
                      <a:noFill/>
                    </a:lnB>
                    <a:noFill/>
                  </a:tcPr>
                </a:tc>
                <a:extLst>
                  <a:ext uri="{0D108BD9-81ED-4DB2-BD59-A6C34878D82A}">
                    <a16:rowId xmlns:a16="http://schemas.microsoft.com/office/drawing/2014/main" val="454089517"/>
                  </a:ext>
                </a:extLst>
              </a:tr>
              <a:tr h="0">
                <a:tc>
                  <a:txBody>
                    <a:bodyPr/>
                    <a:lstStyle/>
                    <a:p>
                      <a:pPr>
                        <a:buNone/>
                      </a:pPr>
                      <a:r>
                        <a:rPr lang="en-IN"/>
                        <a:t>Uses backpropagation</a:t>
                      </a:r>
                    </a:p>
                  </a:txBody>
                  <a:tcPr anchor="ctr">
                    <a:lnL>
                      <a:noFill/>
                    </a:lnL>
                    <a:lnR>
                      <a:noFill/>
                    </a:lnR>
                    <a:lnT>
                      <a:noFill/>
                    </a:lnT>
                    <a:lnB>
                      <a:noFill/>
                    </a:lnB>
                    <a:noFill/>
                  </a:tcPr>
                </a:tc>
                <a:tc>
                  <a:txBody>
                    <a:bodyPr/>
                    <a:lstStyle/>
                    <a:p>
                      <a:pPr>
                        <a:buNone/>
                      </a:pPr>
                      <a:r>
                        <a:rPr lang="en-IN"/>
                        <a:t>Usually only forward computation</a:t>
                      </a:r>
                    </a:p>
                  </a:txBody>
                  <a:tcPr anchor="ctr">
                    <a:lnL>
                      <a:noFill/>
                    </a:lnL>
                    <a:lnR>
                      <a:noFill/>
                    </a:lnR>
                    <a:lnT>
                      <a:noFill/>
                    </a:lnT>
                    <a:lnB>
                      <a:noFill/>
                    </a:lnB>
                    <a:noFill/>
                  </a:tcPr>
                </a:tc>
                <a:extLst>
                  <a:ext uri="{0D108BD9-81ED-4DB2-BD59-A6C34878D82A}">
                    <a16:rowId xmlns:a16="http://schemas.microsoft.com/office/drawing/2014/main" val="423377990"/>
                  </a:ext>
                </a:extLst>
              </a:tr>
              <a:tr h="0">
                <a:tc>
                  <a:txBody>
                    <a:bodyPr/>
                    <a:lstStyle/>
                    <a:p>
                      <a:pPr>
                        <a:buNone/>
                      </a:pPr>
                      <a:r>
                        <a:rPr lang="en-IN"/>
                        <a:t>Computationally expensive</a:t>
                      </a:r>
                    </a:p>
                  </a:txBody>
                  <a:tcPr anchor="ctr">
                    <a:lnL>
                      <a:noFill/>
                    </a:lnL>
                    <a:lnR>
                      <a:noFill/>
                    </a:lnR>
                    <a:lnT>
                      <a:noFill/>
                    </a:lnT>
                    <a:lnB>
                      <a:noFill/>
                    </a:lnB>
                    <a:noFill/>
                  </a:tcPr>
                </a:tc>
                <a:tc>
                  <a:txBody>
                    <a:bodyPr/>
                    <a:lstStyle/>
                    <a:p>
                      <a:pPr>
                        <a:buNone/>
                      </a:pPr>
                      <a:r>
                        <a:rPr lang="en-IN"/>
                        <a:t>Usually faster</a:t>
                      </a:r>
                    </a:p>
                  </a:txBody>
                  <a:tcPr anchor="ctr">
                    <a:lnL>
                      <a:noFill/>
                    </a:lnL>
                    <a:lnR>
                      <a:noFill/>
                    </a:lnR>
                    <a:lnT>
                      <a:noFill/>
                    </a:lnT>
                    <a:lnB>
                      <a:noFill/>
                    </a:lnB>
                    <a:noFill/>
                  </a:tcPr>
                </a:tc>
                <a:extLst>
                  <a:ext uri="{0D108BD9-81ED-4DB2-BD59-A6C34878D82A}">
                    <a16:rowId xmlns:a16="http://schemas.microsoft.com/office/drawing/2014/main" val="2728995730"/>
                  </a:ext>
                </a:extLst>
              </a:tr>
              <a:tr h="0">
                <a:tc>
                  <a:txBody>
                    <a:bodyPr/>
                    <a:lstStyle/>
                    <a:p>
                      <a:pPr>
                        <a:buNone/>
                      </a:pPr>
                      <a:r>
                        <a:rPr lang="en-IN"/>
                        <a:t>Happens during model development</a:t>
                      </a:r>
                    </a:p>
                  </a:txBody>
                  <a:tcPr anchor="ctr">
                    <a:lnL>
                      <a:noFill/>
                    </a:lnL>
                    <a:lnR>
                      <a:noFill/>
                    </a:lnR>
                    <a:lnT>
                      <a:noFill/>
                    </a:lnT>
                    <a:lnB>
                      <a:noFill/>
                    </a:lnB>
                    <a:noFill/>
                  </a:tcPr>
                </a:tc>
                <a:tc>
                  <a:txBody>
                    <a:bodyPr/>
                    <a:lstStyle/>
                    <a:p>
                      <a:pPr>
                        <a:buNone/>
                      </a:pPr>
                      <a:r>
                        <a:rPr lang="en-IN" dirty="0"/>
                        <a:t>Happens when users use the model</a:t>
                      </a:r>
                    </a:p>
                  </a:txBody>
                  <a:tcPr anchor="ctr">
                    <a:lnL>
                      <a:noFill/>
                    </a:lnL>
                    <a:lnR>
                      <a:noFill/>
                    </a:lnR>
                    <a:lnT>
                      <a:noFill/>
                    </a:lnT>
                    <a:lnB>
                      <a:noFill/>
                    </a:lnB>
                    <a:noFill/>
                  </a:tcPr>
                </a:tc>
                <a:extLst>
                  <a:ext uri="{0D108BD9-81ED-4DB2-BD59-A6C34878D82A}">
                    <a16:rowId xmlns:a16="http://schemas.microsoft.com/office/drawing/2014/main" val="2036113956"/>
                  </a:ext>
                </a:extLst>
              </a:tr>
            </a:tbl>
          </a:graphicData>
        </a:graphic>
      </p:graphicFrame>
    </p:spTree>
    <p:extLst>
      <p:ext uri="{BB962C8B-B14F-4D97-AF65-F5344CB8AC3E}">
        <p14:creationId xmlns:p14="http://schemas.microsoft.com/office/powerpoint/2010/main" val="34002918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7DEC7-A709-8B1F-4E62-B1EC0C68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C17C7-1358-CA15-1887-AF04CCC3830E}"/>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Training vs Inference</a:t>
            </a:r>
            <a:br>
              <a:rPr lang="en-IN" sz="3200" dirty="0">
                <a:solidFill>
                  <a:schemeClr val="accent2"/>
                </a:solidFill>
              </a:rPr>
            </a:br>
            <a:endParaRPr lang="en-US" sz="3200" b="1" dirty="0">
              <a:solidFill>
                <a:srgbClr val="FF0000"/>
              </a:solidFill>
            </a:endParaRPr>
          </a:p>
        </p:txBody>
      </p:sp>
      <p:sp>
        <p:nvSpPr>
          <p:cNvPr id="5" name="Content Placeholder 4">
            <a:extLst>
              <a:ext uri="{FF2B5EF4-FFF2-40B4-BE49-F238E27FC236}">
                <a16:creationId xmlns:a16="http://schemas.microsoft.com/office/drawing/2014/main" id="{A9C33AB8-988C-5B49-7EF9-E6C7DA64E03E}"/>
              </a:ext>
            </a:extLst>
          </p:cNvPr>
          <p:cNvSpPr>
            <a:spLocks noGrp="1"/>
          </p:cNvSpPr>
          <p:nvPr>
            <p:ph idx="1"/>
          </p:nvPr>
        </p:nvSpPr>
        <p:spPr>
          <a:xfrm>
            <a:off x="594207" y="1209243"/>
            <a:ext cx="8596668" cy="3880773"/>
          </a:xfrm>
        </p:spPr>
        <p:txBody>
          <a:bodyPr>
            <a:noAutofit/>
          </a:bodyPr>
          <a:lstStyle/>
          <a:p>
            <a:pPr marL="0" indent="0">
              <a:buNone/>
            </a:pPr>
            <a:r>
              <a:rPr lang="en-IN" sz="1600" b="1" dirty="0"/>
              <a:t>What Happens During Inference?</a:t>
            </a:r>
          </a:p>
          <a:p>
            <a:pPr marL="0" indent="0">
              <a:buNone/>
            </a:pPr>
            <a:endParaRPr lang="en-IN" sz="1600" dirty="0"/>
          </a:p>
          <a:p>
            <a:pPr marL="0" indent="0">
              <a:buNone/>
            </a:pPr>
            <a:r>
              <a:rPr lang="en-IN" sz="1600" dirty="0"/>
              <a:t>The basic inference process is:</a:t>
            </a:r>
          </a:p>
          <a:p>
            <a:r>
              <a:rPr lang="en-IN" sz="1600" dirty="0"/>
              <a:t>New Input</a:t>
            </a:r>
          </a:p>
          <a:p>
            <a:r>
              <a:rPr lang="en-IN" sz="1600" dirty="0"/>
              <a:t>    ↓</a:t>
            </a:r>
          </a:p>
          <a:p>
            <a:r>
              <a:rPr lang="en-IN" sz="1600" dirty="0"/>
              <a:t>Preprocessing</a:t>
            </a:r>
          </a:p>
          <a:p>
            <a:r>
              <a:rPr lang="en-IN" sz="1600" dirty="0"/>
              <a:t>    ↓</a:t>
            </a:r>
          </a:p>
          <a:p>
            <a:r>
              <a:rPr lang="en-IN" sz="1600" dirty="0"/>
              <a:t>Trained Model</a:t>
            </a:r>
          </a:p>
          <a:p>
            <a:r>
              <a:rPr lang="en-IN" sz="1600" dirty="0"/>
              <a:t>    ↓</a:t>
            </a:r>
          </a:p>
          <a:p>
            <a:r>
              <a:rPr lang="en-IN" sz="1600" dirty="0"/>
              <a:t>Forward Pass</a:t>
            </a:r>
          </a:p>
          <a:p>
            <a:r>
              <a:rPr lang="en-IN" sz="1600" dirty="0"/>
              <a:t>    ↓</a:t>
            </a:r>
          </a:p>
          <a:p>
            <a:r>
              <a:rPr lang="en-IN" sz="1600" dirty="0"/>
              <a:t>Prediction / Generation</a:t>
            </a:r>
          </a:p>
          <a:p>
            <a:r>
              <a:rPr lang="en-IN" sz="1600" dirty="0"/>
              <a:t>    ↓</a:t>
            </a:r>
          </a:p>
          <a:p>
            <a:r>
              <a:rPr lang="en-IN" sz="1600" dirty="0"/>
              <a:t>Output</a:t>
            </a:r>
          </a:p>
          <a:p>
            <a:endParaRPr lang="en-IN" sz="1600" dirty="0"/>
          </a:p>
        </p:txBody>
      </p:sp>
    </p:spTree>
    <p:extLst>
      <p:ext uri="{BB962C8B-B14F-4D97-AF65-F5344CB8AC3E}">
        <p14:creationId xmlns:p14="http://schemas.microsoft.com/office/powerpoint/2010/main" val="9357223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A40E-1212-E736-33CD-2D81BEADD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10917-85C0-0FD6-116F-2529085ABD86}"/>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Training vs Inference</a:t>
            </a:r>
            <a:br>
              <a:rPr lang="en-IN" sz="3200" dirty="0">
                <a:solidFill>
                  <a:schemeClr val="accent2"/>
                </a:solidFill>
              </a:rPr>
            </a:br>
            <a:endParaRPr lang="en-US" sz="3200" b="1" dirty="0">
              <a:solidFill>
                <a:srgbClr val="FF0000"/>
              </a:solidFill>
            </a:endParaRPr>
          </a:p>
        </p:txBody>
      </p:sp>
      <p:sp>
        <p:nvSpPr>
          <p:cNvPr id="5" name="Content Placeholder 4">
            <a:extLst>
              <a:ext uri="{FF2B5EF4-FFF2-40B4-BE49-F238E27FC236}">
                <a16:creationId xmlns:a16="http://schemas.microsoft.com/office/drawing/2014/main" id="{7082314F-AEB7-C65D-94B1-9CB1DB231190}"/>
              </a:ext>
            </a:extLst>
          </p:cNvPr>
          <p:cNvSpPr>
            <a:spLocks noGrp="1"/>
          </p:cNvSpPr>
          <p:nvPr>
            <p:ph idx="1"/>
          </p:nvPr>
        </p:nvSpPr>
        <p:spPr>
          <a:xfrm>
            <a:off x="594207" y="1209243"/>
            <a:ext cx="5289357" cy="3880773"/>
          </a:xfrm>
        </p:spPr>
        <p:txBody>
          <a:bodyPr>
            <a:noAutofit/>
          </a:bodyPr>
          <a:lstStyle/>
          <a:p>
            <a:pPr marL="0" indent="0">
              <a:buNone/>
            </a:pPr>
            <a:r>
              <a:rPr lang="en-IN" sz="1600" b="1" dirty="0"/>
              <a:t>Example: Image Recognition</a:t>
            </a:r>
          </a:p>
          <a:p>
            <a:pPr marL="0" indent="0">
              <a:buNone/>
            </a:pPr>
            <a:r>
              <a:rPr lang="en-IN" sz="1600" dirty="0"/>
              <a:t>Suppose a CNN was trained to identify animals.</a:t>
            </a:r>
          </a:p>
          <a:p>
            <a:pPr marL="0" indent="0">
              <a:buNone/>
            </a:pPr>
            <a:r>
              <a:rPr lang="en-IN" sz="1600" b="1" dirty="0"/>
              <a:t>Training</a:t>
            </a:r>
          </a:p>
          <a:p>
            <a:r>
              <a:rPr lang="en-IN" dirty="0"/>
              <a:t>Millions of Images</a:t>
            </a:r>
          </a:p>
          <a:p>
            <a:r>
              <a:rPr lang="en-IN" dirty="0"/>
              <a:t>       ↓</a:t>
            </a:r>
          </a:p>
          <a:p>
            <a:r>
              <a:rPr lang="en-IN" dirty="0"/>
              <a:t>      CNN</a:t>
            </a:r>
          </a:p>
          <a:p>
            <a:r>
              <a:rPr lang="en-IN" dirty="0"/>
              <a:t>       ↓</a:t>
            </a:r>
          </a:p>
          <a:p>
            <a:r>
              <a:rPr lang="en-IN" dirty="0"/>
              <a:t>Learn Features</a:t>
            </a:r>
          </a:p>
          <a:p>
            <a:r>
              <a:rPr lang="en-IN" dirty="0"/>
              <a:t>       ↓</a:t>
            </a:r>
          </a:p>
          <a:p>
            <a:r>
              <a:rPr lang="en-IN" dirty="0"/>
              <a:t>Update Weights</a:t>
            </a:r>
          </a:p>
          <a:p>
            <a:r>
              <a:rPr lang="en-IN" dirty="0"/>
              <a:t>       ↓</a:t>
            </a:r>
          </a:p>
          <a:p>
            <a:r>
              <a:rPr lang="en-IN" dirty="0"/>
              <a:t>Trained CNN</a:t>
            </a:r>
          </a:p>
          <a:p>
            <a:endParaRPr lang="en-IN" sz="1600" dirty="0"/>
          </a:p>
        </p:txBody>
      </p:sp>
      <p:sp>
        <p:nvSpPr>
          <p:cNvPr id="4" name="TextBox 3">
            <a:extLst>
              <a:ext uri="{FF2B5EF4-FFF2-40B4-BE49-F238E27FC236}">
                <a16:creationId xmlns:a16="http://schemas.microsoft.com/office/drawing/2014/main" id="{FA60A07D-FBFC-2512-FDB5-A225551F53FE}"/>
              </a:ext>
            </a:extLst>
          </p:cNvPr>
          <p:cNvSpPr txBox="1"/>
          <p:nvPr/>
        </p:nvSpPr>
        <p:spPr>
          <a:xfrm>
            <a:off x="5974573" y="1209243"/>
            <a:ext cx="6100618" cy="3139321"/>
          </a:xfrm>
          <a:prstGeom prst="rect">
            <a:avLst/>
          </a:prstGeom>
          <a:noFill/>
        </p:spPr>
        <p:txBody>
          <a:bodyPr wrap="square">
            <a:spAutoFit/>
          </a:bodyPr>
          <a:lstStyle/>
          <a:p>
            <a:pPr>
              <a:buNone/>
            </a:pPr>
            <a:r>
              <a:rPr lang="en-IN" b="1" dirty="0"/>
              <a:t>Inference</a:t>
            </a:r>
          </a:p>
          <a:p>
            <a:pPr>
              <a:buNone/>
            </a:pPr>
            <a:endParaRPr lang="en-IN" b="1" dirty="0"/>
          </a:p>
          <a:p>
            <a:pPr rtl="0">
              <a:buNone/>
            </a:pPr>
            <a:r>
              <a:rPr lang="en-IN" dirty="0">
                <a:latin typeface="Courier New" panose="02070309020205020404" pitchFamily="49" charset="0"/>
              </a:rPr>
              <a:t>New Image</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CNN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Prediction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"Dog – 98%“</a:t>
            </a:r>
          </a:p>
          <a:p>
            <a:pPr rtl="0">
              <a:buNone/>
            </a:pPr>
            <a:endParaRPr lang="en-IN" dirty="0">
              <a:latin typeface="Courier New" panose="02070309020205020404" pitchFamily="49" charset="0"/>
            </a:endParaRPr>
          </a:p>
          <a:p>
            <a:pPr>
              <a:buNone/>
            </a:pPr>
            <a:r>
              <a:rPr lang="en-IN" dirty="0"/>
              <a:t>The CNN is now </a:t>
            </a:r>
            <a:r>
              <a:rPr lang="en-IN" b="1" dirty="0"/>
              <a:t>inferring</a:t>
            </a:r>
            <a:r>
              <a:rPr lang="en-IN" dirty="0"/>
              <a:t> what the image contains.</a:t>
            </a:r>
          </a:p>
        </p:txBody>
      </p:sp>
    </p:spTree>
    <p:extLst>
      <p:ext uri="{BB962C8B-B14F-4D97-AF65-F5344CB8AC3E}">
        <p14:creationId xmlns:p14="http://schemas.microsoft.com/office/powerpoint/2010/main" val="37467646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74287-DA6A-C2A6-FDBF-F250678BE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D53F6E-F7CA-FF92-4AE2-1A5AD00DBBC3}"/>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Training vs Inference</a:t>
            </a:r>
            <a:br>
              <a:rPr lang="en-IN" sz="3200" dirty="0">
                <a:solidFill>
                  <a:schemeClr val="accent2"/>
                </a:solidFill>
              </a:rPr>
            </a:br>
            <a:endParaRPr lang="en-US" sz="3200" b="1" dirty="0">
              <a:solidFill>
                <a:srgbClr val="FF0000"/>
              </a:solidFill>
            </a:endParaRPr>
          </a:p>
        </p:txBody>
      </p:sp>
      <p:sp>
        <p:nvSpPr>
          <p:cNvPr id="5" name="Content Placeholder 4">
            <a:extLst>
              <a:ext uri="{FF2B5EF4-FFF2-40B4-BE49-F238E27FC236}">
                <a16:creationId xmlns:a16="http://schemas.microsoft.com/office/drawing/2014/main" id="{5B50AC37-FE13-1B19-9000-FFF4F49D21D3}"/>
              </a:ext>
            </a:extLst>
          </p:cNvPr>
          <p:cNvSpPr>
            <a:spLocks noGrp="1"/>
          </p:cNvSpPr>
          <p:nvPr>
            <p:ph idx="1"/>
          </p:nvPr>
        </p:nvSpPr>
        <p:spPr>
          <a:xfrm>
            <a:off x="594208" y="1209243"/>
            <a:ext cx="5935902" cy="5145375"/>
          </a:xfrm>
        </p:spPr>
        <p:txBody>
          <a:bodyPr>
            <a:noAutofit/>
          </a:bodyPr>
          <a:lstStyle/>
          <a:p>
            <a:pPr marL="0" indent="0">
              <a:buNone/>
            </a:pPr>
            <a:r>
              <a:rPr lang="en-IN" sz="1600" b="1" dirty="0"/>
              <a:t>How Text Generation Works During Inference</a:t>
            </a:r>
          </a:p>
          <a:p>
            <a:r>
              <a:rPr lang="en-IN" sz="1600" dirty="0"/>
              <a:t>Consider:</a:t>
            </a:r>
          </a:p>
          <a:p>
            <a:r>
              <a:rPr lang="en-IN" sz="1600" dirty="0"/>
              <a:t>"The capital of India is"</a:t>
            </a:r>
          </a:p>
          <a:p>
            <a:r>
              <a:rPr lang="en-IN" sz="1600" dirty="0"/>
              <a:t>The model calculates probabilities for possible next tokens.</a:t>
            </a:r>
          </a:p>
          <a:p>
            <a:r>
              <a:rPr lang="en-IN" sz="1600" dirty="0"/>
              <a:t>For example:</a:t>
            </a:r>
          </a:p>
          <a:p>
            <a:r>
              <a:rPr lang="en-IN" dirty="0"/>
              <a:t>Delhi       → 95%</a:t>
            </a:r>
          </a:p>
          <a:p>
            <a:r>
              <a:rPr lang="en-IN" dirty="0"/>
              <a:t>Mumbai      → 1%</a:t>
            </a:r>
          </a:p>
          <a:p>
            <a:r>
              <a:rPr lang="en-IN" dirty="0"/>
              <a:t>Bangalore   → 0.5%</a:t>
            </a:r>
          </a:p>
          <a:p>
            <a:r>
              <a:rPr lang="en-IN" dirty="0"/>
              <a:t>Chennai     → 0.2%</a:t>
            </a:r>
          </a:p>
          <a:p>
            <a:r>
              <a:rPr lang="en-IN" dirty="0"/>
              <a:t>Others      → ...</a:t>
            </a:r>
          </a:p>
          <a:p>
            <a:r>
              <a:rPr lang="en-IN" sz="1600" dirty="0"/>
              <a:t>The model selects a token based on its decoding strategy.</a:t>
            </a:r>
          </a:p>
          <a:p>
            <a:endParaRPr lang="en-IN" sz="1600" dirty="0"/>
          </a:p>
        </p:txBody>
      </p:sp>
      <p:sp>
        <p:nvSpPr>
          <p:cNvPr id="6" name="TextBox 5">
            <a:extLst>
              <a:ext uri="{FF2B5EF4-FFF2-40B4-BE49-F238E27FC236}">
                <a16:creationId xmlns:a16="http://schemas.microsoft.com/office/drawing/2014/main" id="{CBB496EF-1F61-046C-98D4-02A0AD4BBAFE}"/>
              </a:ext>
            </a:extLst>
          </p:cNvPr>
          <p:cNvSpPr txBox="1"/>
          <p:nvPr/>
        </p:nvSpPr>
        <p:spPr>
          <a:xfrm>
            <a:off x="6283037" y="1209243"/>
            <a:ext cx="4421908" cy="3693319"/>
          </a:xfrm>
          <a:prstGeom prst="rect">
            <a:avLst/>
          </a:prstGeom>
          <a:noFill/>
        </p:spPr>
        <p:txBody>
          <a:bodyPr wrap="square">
            <a:spAutoFit/>
          </a:bodyPr>
          <a:lstStyle/>
          <a:p>
            <a:pPr>
              <a:buNone/>
            </a:pPr>
            <a:r>
              <a:rPr lang="en-IN" dirty="0"/>
              <a:t>Then it predicts the next token again.</a:t>
            </a:r>
          </a:p>
          <a:p>
            <a:pPr>
              <a:buNone/>
            </a:pPr>
            <a:endParaRPr lang="en-IN" dirty="0"/>
          </a:p>
          <a:p>
            <a:pPr rtl="0">
              <a:buNone/>
            </a:pPr>
            <a:r>
              <a:rPr lang="en-IN" dirty="0">
                <a:latin typeface="Courier New" panose="02070309020205020404" pitchFamily="49" charset="0"/>
              </a:rPr>
              <a:t>"The capital of India is"</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"New token"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"The capital of India is Delhi"</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Predict next token</a:t>
            </a:r>
          </a:p>
          <a:p>
            <a:pPr rtl="0">
              <a:buNone/>
            </a:pPr>
            <a:r>
              <a:rPr lang="en-IN" dirty="0">
                <a:latin typeface="Courier New" panose="02070309020205020404" pitchFamily="49" charset="0"/>
              </a:rPr>
              <a:t>             ↓</a:t>
            </a:r>
          </a:p>
          <a:p>
            <a:pPr rtl="0">
              <a:buNone/>
            </a:pPr>
            <a:r>
              <a:rPr lang="en-IN" dirty="0">
                <a:latin typeface="Courier New" panose="02070309020205020404" pitchFamily="49" charset="0"/>
              </a:rPr>
              <a:t>          Continue...</a:t>
            </a:r>
          </a:p>
          <a:p>
            <a:pPr>
              <a:buNone/>
            </a:pPr>
            <a:r>
              <a:rPr lang="en-IN" dirty="0"/>
              <a:t>This continues until the model reaches an appropriate stopping point.</a:t>
            </a:r>
          </a:p>
        </p:txBody>
      </p:sp>
    </p:spTree>
    <p:extLst>
      <p:ext uri="{BB962C8B-B14F-4D97-AF65-F5344CB8AC3E}">
        <p14:creationId xmlns:p14="http://schemas.microsoft.com/office/powerpoint/2010/main" val="4143282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1D04F-EBBC-1C44-CED4-41485C1E1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D0BD6-CDAC-E20C-97D4-7E931A74573A}"/>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Models</a:t>
            </a:r>
            <a:endParaRPr lang="en-US" sz="3200" b="1" dirty="0">
              <a:solidFill>
                <a:srgbClr val="FF0000"/>
              </a:solidFill>
            </a:endParaRPr>
          </a:p>
        </p:txBody>
      </p:sp>
      <p:sp>
        <p:nvSpPr>
          <p:cNvPr id="4" name="Content Placeholder 3">
            <a:extLst>
              <a:ext uri="{FF2B5EF4-FFF2-40B4-BE49-F238E27FC236}">
                <a16:creationId xmlns:a16="http://schemas.microsoft.com/office/drawing/2014/main" id="{F46EA318-7E6A-3549-65D6-339A1336F7AA}"/>
              </a:ext>
            </a:extLst>
          </p:cNvPr>
          <p:cNvSpPr>
            <a:spLocks noGrp="1"/>
          </p:cNvSpPr>
          <p:nvPr>
            <p:ph idx="1"/>
          </p:nvPr>
        </p:nvSpPr>
        <p:spPr>
          <a:xfrm>
            <a:off x="685216" y="891628"/>
            <a:ext cx="9105170" cy="5735144"/>
          </a:xfrm>
        </p:spPr>
        <p:txBody>
          <a:bodyPr>
            <a:noAutofit/>
          </a:bodyPr>
          <a:lstStyle/>
          <a:p>
            <a:pPr marL="0" indent="0">
              <a:buNone/>
            </a:pPr>
            <a:r>
              <a:rPr lang="en-IN" dirty="0"/>
              <a:t>An AI model is a computer program trained on a large dataset to recognize patterns, make decisions, or generate new content without human help. It uses math and algorithms to turn new inputs into accurate outputs.</a:t>
            </a:r>
          </a:p>
          <a:p>
            <a:pPr marL="0" indent="0">
              <a:buNone/>
            </a:pPr>
            <a:endParaRPr lang="en-IN" sz="1400" dirty="0"/>
          </a:p>
          <a:p>
            <a:pPr marL="0" indent="0">
              <a:buNone/>
            </a:pPr>
            <a:r>
              <a:rPr lang="en-IN" dirty="0"/>
              <a:t>Simple definition:</a:t>
            </a:r>
          </a:p>
          <a:p>
            <a:r>
              <a:rPr lang="en-IN" dirty="0"/>
              <a:t>AI Model = A trained mathematical/computational system that takes input and produces an output.</a:t>
            </a:r>
          </a:p>
          <a:p>
            <a:pPr marL="0" indent="0">
              <a:buNone/>
            </a:pPr>
            <a:endParaRPr lang="en-IN" dirty="0"/>
          </a:p>
          <a:p>
            <a:pPr marL="0" indent="0">
              <a:buNone/>
            </a:pPr>
            <a:r>
              <a:rPr lang="en-IN" b="1" dirty="0"/>
              <a:t>How AI Models Work</a:t>
            </a:r>
          </a:p>
          <a:p>
            <a:pPr lvl="0"/>
            <a:r>
              <a:rPr lang="en-IN" b="1" dirty="0"/>
              <a:t>Data Input:</a:t>
            </a:r>
            <a:r>
              <a:rPr lang="en-IN" dirty="0"/>
              <a:t> You feed the system a large amount of information, like text, photos, or numbers.</a:t>
            </a:r>
          </a:p>
          <a:p>
            <a:pPr lvl="0"/>
            <a:r>
              <a:rPr lang="en-IN" b="1" dirty="0"/>
              <a:t>Pattern Learning:</a:t>
            </a:r>
            <a:r>
              <a:rPr lang="en-IN" dirty="0"/>
              <a:t> The program studies the data to find hidden rules and connections.</a:t>
            </a:r>
          </a:p>
          <a:p>
            <a:pPr lvl="0"/>
            <a:r>
              <a:rPr lang="en-IN" b="1" dirty="0"/>
              <a:t>Parameters:</a:t>
            </a:r>
            <a:r>
              <a:rPr lang="en-IN" dirty="0"/>
              <a:t> It adjusts tiny internal settings (called weights) to make its guesses more precise.</a:t>
            </a:r>
          </a:p>
          <a:p>
            <a:pPr lvl="0"/>
            <a:r>
              <a:rPr lang="en-IN" b="1" dirty="0"/>
              <a:t>Prediction:</a:t>
            </a:r>
            <a:r>
              <a:rPr lang="en-IN" dirty="0"/>
              <a:t> When given fresh, unseen data, it applies what it learned to give an answer.</a:t>
            </a:r>
          </a:p>
          <a:p>
            <a:pPr marL="0" indent="0">
              <a:buNone/>
            </a:pPr>
            <a:endParaRPr lang="en-US" sz="1400" dirty="0"/>
          </a:p>
        </p:txBody>
      </p:sp>
    </p:spTree>
    <p:extLst>
      <p:ext uri="{BB962C8B-B14F-4D97-AF65-F5344CB8AC3E}">
        <p14:creationId xmlns:p14="http://schemas.microsoft.com/office/powerpoint/2010/main" val="36995041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C4D53-F221-86E7-E37A-CE62079A2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2F9AF-90E7-E201-14EB-068D4DA54F93}"/>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Models</a:t>
            </a:r>
            <a:endParaRPr lang="en-US" sz="3200" b="1" dirty="0">
              <a:solidFill>
                <a:srgbClr val="FF0000"/>
              </a:solidFill>
            </a:endParaRPr>
          </a:p>
        </p:txBody>
      </p:sp>
      <p:pic>
        <p:nvPicPr>
          <p:cNvPr id="6" name="Picture 5" descr="Types-of-AI-Models">
            <a:extLst>
              <a:ext uri="{FF2B5EF4-FFF2-40B4-BE49-F238E27FC236}">
                <a16:creationId xmlns:a16="http://schemas.microsoft.com/office/drawing/2014/main" id="{04E270CB-719D-4861-FC5A-A3F984DE4A8D}"/>
              </a:ext>
            </a:extLst>
          </p:cNvPr>
          <p:cNvPicPr>
            <a:picLocks noChangeAspect="1"/>
          </p:cNvPicPr>
          <p:nvPr/>
        </p:nvPicPr>
        <p:blipFill>
          <a:blip r:embed="rId2"/>
          <a:stretch>
            <a:fillRect/>
          </a:stretch>
        </p:blipFill>
        <p:spPr>
          <a:xfrm>
            <a:off x="1253835" y="1072573"/>
            <a:ext cx="7218220" cy="5160819"/>
          </a:xfrm>
          <a:prstGeom prst="rect">
            <a:avLst/>
          </a:prstGeom>
        </p:spPr>
      </p:pic>
    </p:spTree>
    <p:extLst>
      <p:ext uri="{BB962C8B-B14F-4D97-AF65-F5344CB8AC3E}">
        <p14:creationId xmlns:p14="http://schemas.microsoft.com/office/powerpoint/2010/main" val="14740784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9FEC9-FA86-6705-AD54-78B6BF5F8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643E5-E6BC-3832-4A23-0A90CCB55F25}"/>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 Models - </a:t>
            </a:r>
            <a:r>
              <a:rPr lang="en-IN" sz="2800" b="1" dirty="0"/>
              <a:t>Machine Learning Models </a:t>
            </a:r>
            <a:endParaRPr lang="en-US" sz="2800" b="1" dirty="0">
              <a:solidFill>
                <a:srgbClr val="FF0000"/>
              </a:solidFill>
            </a:endParaRPr>
          </a:p>
        </p:txBody>
      </p:sp>
      <p:sp>
        <p:nvSpPr>
          <p:cNvPr id="4" name="Content Placeholder 3">
            <a:extLst>
              <a:ext uri="{FF2B5EF4-FFF2-40B4-BE49-F238E27FC236}">
                <a16:creationId xmlns:a16="http://schemas.microsoft.com/office/drawing/2014/main" id="{26A4E9DB-CECC-3B49-8E3D-9C98C8881986}"/>
              </a:ext>
            </a:extLst>
          </p:cNvPr>
          <p:cNvSpPr>
            <a:spLocks noGrp="1"/>
          </p:cNvSpPr>
          <p:nvPr>
            <p:ph idx="1"/>
          </p:nvPr>
        </p:nvSpPr>
        <p:spPr>
          <a:xfrm>
            <a:off x="685216" y="1011701"/>
            <a:ext cx="4542566" cy="5735144"/>
          </a:xfrm>
        </p:spPr>
        <p:txBody>
          <a:bodyPr>
            <a:noAutofit/>
          </a:bodyPr>
          <a:lstStyle/>
          <a:p>
            <a:pPr marL="0" indent="0">
              <a:buNone/>
            </a:pPr>
            <a:r>
              <a:rPr lang="en-IN" sz="1600" b="1" dirty="0"/>
              <a:t>Machine Learning (ML) models</a:t>
            </a:r>
            <a:r>
              <a:rPr lang="en-IN" sz="1600" dirty="0"/>
              <a:t> learn patterns from existing data and use those patterns to make predictions or decisions.</a:t>
            </a:r>
          </a:p>
          <a:p>
            <a:pPr marL="0" indent="0">
              <a:buNone/>
            </a:pPr>
            <a:r>
              <a:rPr lang="en-IN" sz="1600" b="1" dirty="0"/>
              <a:t>Basic flow:</a:t>
            </a:r>
            <a:endParaRPr lang="en-IN" sz="1600" dirty="0"/>
          </a:p>
          <a:p>
            <a:r>
              <a:rPr lang="en-IN" sz="1600" b="1" dirty="0"/>
              <a:t>Training Data → ML Model → Prediction</a:t>
            </a:r>
            <a:endParaRPr lang="en-IN" sz="1600" dirty="0"/>
          </a:p>
          <a:p>
            <a:pPr marL="0" indent="0">
              <a:buNone/>
            </a:pPr>
            <a:r>
              <a:rPr lang="en-IN" sz="1600" b="1" dirty="0"/>
              <a:t>Examples</a:t>
            </a:r>
          </a:p>
          <a:p>
            <a:pPr lvl="0"/>
            <a:r>
              <a:rPr lang="en-IN" sz="1600" dirty="0"/>
              <a:t>Predict house prices </a:t>
            </a:r>
          </a:p>
          <a:p>
            <a:pPr lvl="0"/>
            <a:r>
              <a:rPr lang="en-IN" sz="1600" dirty="0"/>
              <a:t>Detect spam emails </a:t>
            </a:r>
          </a:p>
          <a:p>
            <a:pPr lvl="0"/>
            <a:r>
              <a:rPr lang="en-IN" sz="1600" dirty="0"/>
              <a:t>Predict customer churn </a:t>
            </a:r>
          </a:p>
          <a:p>
            <a:pPr lvl="0"/>
            <a:r>
              <a:rPr lang="en-IN" sz="1600" dirty="0"/>
              <a:t>Identify fraudulent transactions </a:t>
            </a:r>
          </a:p>
          <a:p>
            <a:pPr lvl="0"/>
            <a:r>
              <a:rPr lang="en-IN" sz="1600" dirty="0"/>
              <a:t>Recommend products </a:t>
            </a:r>
          </a:p>
          <a:p>
            <a:pPr marL="0" indent="0">
              <a:buNone/>
            </a:pPr>
            <a:endParaRPr lang="en-US" sz="1400" dirty="0"/>
          </a:p>
        </p:txBody>
      </p:sp>
      <p:sp>
        <p:nvSpPr>
          <p:cNvPr id="5" name="TextBox 4">
            <a:extLst>
              <a:ext uri="{FF2B5EF4-FFF2-40B4-BE49-F238E27FC236}">
                <a16:creationId xmlns:a16="http://schemas.microsoft.com/office/drawing/2014/main" id="{3738C5B1-ABD5-2EE0-BA21-BC04F34435B3}"/>
              </a:ext>
            </a:extLst>
          </p:cNvPr>
          <p:cNvSpPr txBox="1"/>
          <p:nvPr/>
        </p:nvSpPr>
        <p:spPr>
          <a:xfrm>
            <a:off x="5876637" y="1044347"/>
            <a:ext cx="6100618" cy="3293209"/>
          </a:xfrm>
          <a:prstGeom prst="rect">
            <a:avLst/>
          </a:prstGeom>
          <a:noFill/>
        </p:spPr>
        <p:txBody>
          <a:bodyPr wrap="square">
            <a:spAutoFit/>
          </a:bodyPr>
          <a:lstStyle/>
          <a:p>
            <a:pPr marL="0" indent="0">
              <a:buNone/>
            </a:pPr>
            <a:r>
              <a:rPr lang="en-IN" sz="1600" b="1" dirty="0"/>
              <a:t>Common ML models</a:t>
            </a:r>
          </a:p>
          <a:p>
            <a:pPr marL="0" indent="0">
              <a:buNone/>
            </a:pPr>
            <a:endParaRPr lang="en-IN" sz="1600" b="1" dirty="0"/>
          </a:p>
          <a:p>
            <a:pPr marL="285750" lvl="0" indent="-285750">
              <a:buFont typeface="Arial" panose="020B0604020202020204" pitchFamily="34" charset="0"/>
              <a:buChar char="•"/>
            </a:pPr>
            <a:r>
              <a:rPr lang="en-IN" sz="1600" dirty="0"/>
              <a:t>Linear Regression </a:t>
            </a:r>
          </a:p>
          <a:p>
            <a:pPr marL="285750" lvl="0" indent="-285750">
              <a:buFont typeface="Arial" panose="020B0604020202020204" pitchFamily="34" charset="0"/>
              <a:buChar char="•"/>
            </a:pPr>
            <a:r>
              <a:rPr lang="en-IN" sz="1600" dirty="0"/>
              <a:t>Logistic Regression </a:t>
            </a:r>
          </a:p>
          <a:p>
            <a:pPr marL="285750" lvl="0" indent="-285750">
              <a:buFont typeface="Arial" panose="020B0604020202020204" pitchFamily="34" charset="0"/>
              <a:buChar char="•"/>
            </a:pPr>
            <a:r>
              <a:rPr lang="en-IN" sz="1600" dirty="0"/>
              <a:t>Decision Trees </a:t>
            </a:r>
          </a:p>
          <a:p>
            <a:pPr marL="285750" lvl="0" indent="-285750">
              <a:buFont typeface="Arial" panose="020B0604020202020204" pitchFamily="34" charset="0"/>
              <a:buChar char="•"/>
            </a:pPr>
            <a:r>
              <a:rPr lang="en-IN" sz="1600" dirty="0"/>
              <a:t>Random Forest </a:t>
            </a:r>
          </a:p>
          <a:p>
            <a:pPr marL="285750" lvl="0" indent="-285750">
              <a:buFont typeface="Arial" panose="020B0604020202020204" pitchFamily="34" charset="0"/>
              <a:buChar char="•"/>
            </a:pPr>
            <a:r>
              <a:rPr lang="en-IN" sz="1600" dirty="0"/>
              <a:t>Support Vector Machines (SVM) </a:t>
            </a:r>
          </a:p>
          <a:p>
            <a:pPr marL="285750" lvl="0" indent="-285750">
              <a:buFont typeface="Arial" panose="020B0604020202020204" pitchFamily="34" charset="0"/>
              <a:buChar char="•"/>
            </a:pPr>
            <a:r>
              <a:rPr lang="en-IN" sz="1600" dirty="0"/>
              <a:t>K-Nearest </a:t>
            </a:r>
            <a:r>
              <a:rPr lang="en-IN" sz="1600" dirty="0" err="1"/>
              <a:t>Neighbors</a:t>
            </a:r>
            <a:r>
              <a:rPr lang="en-IN" sz="1600" dirty="0"/>
              <a:t> (KNN) </a:t>
            </a:r>
          </a:p>
          <a:p>
            <a:pPr marL="285750" lvl="0" indent="-285750">
              <a:buFont typeface="Arial" panose="020B0604020202020204" pitchFamily="34" charset="0"/>
              <a:buChar char="•"/>
            </a:pPr>
            <a:r>
              <a:rPr lang="en-IN" sz="1600" dirty="0"/>
              <a:t>Naive Bayes </a:t>
            </a:r>
          </a:p>
          <a:p>
            <a:pPr lvl="0"/>
            <a:endParaRPr lang="en-IN" sz="1600" dirty="0"/>
          </a:p>
          <a:p>
            <a:r>
              <a:rPr lang="en-IN" sz="1600" b="1" dirty="0"/>
              <a:t>Example:</a:t>
            </a:r>
            <a:endParaRPr lang="en-IN" sz="1600" dirty="0"/>
          </a:p>
          <a:p>
            <a:r>
              <a:rPr lang="en-IN" sz="1600" dirty="0"/>
              <a:t>Customer data → ML model → Customer will churn / will not churn</a:t>
            </a:r>
          </a:p>
        </p:txBody>
      </p:sp>
    </p:spTree>
    <p:extLst>
      <p:ext uri="{BB962C8B-B14F-4D97-AF65-F5344CB8AC3E}">
        <p14:creationId xmlns:p14="http://schemas.microsoft.com/office/powerpoint/2010/main" val="295082347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96BE9-25EE-6A82-7CAB-F8BA6CA938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A10025-FD2F-B79A-D1B5-AD726E0F2928}"/>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 Models </a:t>
            </a:r>
            <a:r>
              <a:rPr lang="en-IN" sz="2800" b="1" dirty="0"/>
              <a:t>Deep Learning Models </a:t>
            </a:r>
            <a:endParaRPr lang="en-US" sz="2800" b="1" dirty="0">
              <a:solidFill>
                <a:srgbClr val="FF0000"/>
              </a:solidFill>
            </a:endParaRPr>
          </a:p>
        </p:txBody>
      </p:sp>
      <p:sp>
        <p:nvSpPr>
          <p:cNvPr id="4" name="Content Placeholder 3">
            <a:extLst>
              <a:ext uri="{FF2B5EF4-FFF2-40B4-BE49-F238E27FC236}">
                <a16:creationId xmlns:a16="http://schemas.microsoft.com/office/drawing/2014/main" id="{B320204D-B62B-8CA4-3E43-E1FEAE64DD67}"/>
              </a:ext>
            </a:extLst>
          </p:cNvPr>
          <p:cNvSpPr>
            <a:spLocks noGrp="1"/>
          </p:cNvSpPr>
          <p:nvPr>
            <p:ph idx="1"/>
          </p:nvPr>
        </p:nvSpPr>
        <p:spPr>
          <a:xfrm>
            <a:off x="685216" y="1011701"/>
            <a:ext cx="4542566" cy="5735144"/>
          </a:xfrm>
        </p:spPr>
        <p:txBody>
          <a:bodyPr>
            <a:noAutofit/>
          </a:bodyPr>
          <a:lstStyle/>
          <a:p>
            <a:r>
              <a:rPr lang="en-IN" sz="1400" b="1" dirty="0"/>
              <a:t>Deep Learning (DL) models</a:t>
            </a:r>
            <a:r>
              <a:rPr lang="en-IN" sz="1400" dirty="0"/>
              <a:t> are a type of machine-learning model based mainly on </a:t>
            </a:r>
            <a:r>
              <a:rPr lang="en-IN" sz="1400" b="1" dirty="0"/>
              <a:t>artificial neural networks with multiple layers</a:t>
            </a:r>
            <a:r>
              <a:rPr lang="en-IN" sz="1400" dirty="0"/>
              <a:t>.</a:t>
            </a:r>
          </a:p>
          <a:p>
            <a:r>
              <a:rPr lang="en-IN" sz="1400" dirty="0"/>
              <a:t>They are particularly useful when dealing with large and complex datasets such as images, speech, video, and text.</a:t>
            </a:r>
          </a:p>
          <a:p>
            <a:pPr marL="0" indent="0">
              <a:buNone/>
            </a:pPr>
            <a:endParaRPr lang="en-US" sz="1400" dirty="0"/>
          </a:p>
        </p:txBody>
      </p:sp>
      <p:pic>
        <p:nvPicPr>
          <p:cNvPr id="3" name="Picture 2" descr="https://images.openai.com/static-rsc-4/GTq1LlubRSrb94T8WCf69lkbgGBvAzgofKe5xcESaOIOFsSvheVAeBRsIgUByzH90vc0UiUaoO4xfl8DgAPI5TQNU24iRos25BitEOz3mF9tZWx8C176PudGl1GhdNUZ4d_CyFJZFMTCjQL1Ze5qUICNul6pARQZzkq60OaN5W-xcbqncU-8KpRfCBuN4DVp?purpose=fullsize">
            <a:extLst>
              <a:ext uri="{FF2B5EF4-FFF2-40B4-BE49-F238E27FC236}">
                <a16:creationId xmlns:a16="http://schemas.microsoft.com/office/drawing/2014/main" id="{AB74D7B2-6932-395C-B9BD-9BBC6E4BFFF9}"/>
              </a:ext>
            </a:extLst>
          </p:cNvPr>
          <p:cNvPicPr>
            <a:picLocks noChangeAspect="1"/>
          </p:cNvPicPr>
          <p:nvPr/>
        </p:nvPicPr>
        <p:blipFill>
          <a:blip r:embed="rId2"/>
          <a:stretch>
            <a:fillRect/>
          </a:stretch>
        </p:blipFill>
        <p:spPr>
          <a:xfrm>
            <a:off x="1999094" y="2743201"/>
            <a:ext cx="7741229" cy="3453246"/>
          </a:xfrm>
          <a:prstGeom prst="rect">
            <a:avLst/>
          </a:prstGeom>
        </p:spPr>
      </p:pic>
    </p:spTree>
    <p:extLst>
      <p:ext uri="{BB962C8B-B14F-4D97-AF65-F5344CB8AC3E}">
        <p14:creationId xmlns:p14="http://schemas.microsoft.com/office/powerpoint/2010/main" val="423398894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D444C-7F0F-9016-AAEF-D09BE6754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B432D-94D2-8C08-652E-0A5309136C0D}"/>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 Models </a:t>
            </a:r>
            <a:r>
              <a:rPr lang="en-IN" sz="2800" b="1" dirty="0"/>
              <a:t>Deep Learning Models </a:t>
            </a:r>
            <a:endParaRPr lang="en-US" sz="2800" b="1" dirty="0">
              <a:solidFill>
                <a:srgbClr val="FF0000"/>
              </a:solidFill>
            </a:endParaRPr>
          </a:p>
        </p:txBody>
      </p:sp>
      <p:sp>
        <p:nvSpPr>
          <p:cNvPr id="4" name="Content Placeholder 3">
            <a:extLst>
              <a:ext uri="{FF2B5EF4-FFF2-40B4-BE49-F238E27FC236}">
                <a16:creationId xmlns:a16="http://schemas.microsoft.com/office/drawing/2014/main" id="{775F35C1-B9D1-A789-DBF6-9CF79D2A5D00}"/>
              </a:ext>
            </a:extLst>
          </p:cNvPr>
          <p:cNvSpPr>
            <a:spLocks noGrp="1"/>
          </p:cNvSpPr>
          <p:nvPr>
            <p:ph idx="1"/>
          </p:nvPr>
        </p:nvSpPr>
        <p:spPr>
          <a:xfrm>
            <a:off x="685216" y="1011701"/>
            <a:ext cx="9169984" cy="5735144"/>
          </a:xfrm>
        </p:spPr>
        <p:txBody>
          <a:bodyPr>
            <a:noAutofit/>
          </a:bodyPr>
          <a:lstStyle/>
          <a:p>
            <a:pPr marL="0" indent="0">
              <a:buNone/>
            </a:pPr>
            <a:r>
              <a:rPr lang="en-IN" sz="1600" b="1" dirty="0"/>
              <a:t>Common deep-learning architectures</a:t>
            </a:r>
          </a:p>
          <a:p>
            <a:pPr marL="0" indent="0">
              <a:buNone/>
            </a:pPr>
            <a:endParaRPr lang="en-IN" sz="1600" b="1" dirty="0"/>
          </a:p>
          <a:p>
            <a:pPr lvl="0"/>
            <a:r>
              <a:rPr lang="en-IN" sz="1600" b="1" dirty="0"/>
              <a:t>ANN</a:t>
            </a:r>
            <a:r>
              <a:rPr lang="en-IN" sz="1600" dirty="0"/>
              <a:t> – Artificial Neural Network </a:t>
            </a:r>
          </a:p>
          <a:p>
            <a:pPr lvl="0"/>
            <a:r>
              <a:rPr lang="en-IN" sz="1600" b="1" dirty="0"/>
              <a:t>CNN</a:t>
            </a:r>
            <a:r>
              <a:rPr lang="en-IN" sz="1600" dirty="0"/>
              <a:t> – Convolutional Neural Network </a:t>
            </a:r>
          </a:p>
          <a:p>
            <a:pPr lvl="0"/>
            <a:r>
              <a:rPr lang="en-IN" sz="1600" b="1" dirty="0"/>
              <a:t>RNN</a:t>
            </a:r>
            <a:r>
              <a:rPr lang="en-IN" sz="1600" dirty="0"/>
              <a:t> – Recurrent Neural Network </a:t>
            </a:r>
          </a:p>
          <a:p>
            <a:pPr lvl="0"/>
            <a:r>
              <a:rPr lang="en-IN" sz="1600" b="1" dirty="0"/>
              <a:t>LSTM</a:t>
            </a:r>
            <a:r>
              <a:rPr lang="en-IN" sz="1600" dirty="0"/>
              <a:t> – Long Short-Term Memory </a:t>
            </a:r>
          </a:p>
          <a:p>
            <a:pPr lvl="0"/>
            <a:r>
              <a:rPr lang="en-IN" sz="1600" b="1" dirty="0"/>
              <a:t>Transformer</a:t>
            </a:r>
            <a:r>
              <a:rPr lang="en-IN" sz="1600" dirty="0"/>
              <a:t> </a:t>
            </a:r>
          </a:p>
          <a:p>
            <a:pPr lvl="0"/>
            <a:endParaRPr lang="en-IN" sz="1600" dirty="0"/>
          </a:p>
          <a:p>
            <a:pPr marL="0" indent="0">
              <a:buNone/>
            </a:pPr>
            <a:r>
              <a:rPr lang="en-IN" sz="1600" b="1" dirty="0"/>
              <a:t>Examples</a:t>
            </a:r>
          </a:p>
          <a:p>
            <a:pPr lvl="0"/>
            <a:r>
              <a:rPr lang="en-IN" sz="1600" dirty="0"/>
              <a:t>Face recognition </a:t>
            </a:r>
          </a:p>
          <a:p>
            <a:pPr lvl="0"/>
            <a:r>
              <a:rPr lang="en-IN" sz="1600" dirty="0"/>
              <a:t>Speech recognition </a:t>
            </a:r>
          </a:p>
          <a:p>
            <a:pPr lvl="0"/>
            <a:r>
              <a:rPr lang="en-IN" sz="1600" dirty="0"/>
              <a:t>Image classification </a:t>
            </a:r>
          </a:p>
          <a:p>
            <a:pPr lvl="0"/>
            <a:r>
              <a:rPr lang="en-IN" sz="1600" dirty="0"/>
              <a:t>Language understanding </a:t>
            </a:r>
          </a:p>
          <a:p>
            <a:pPr lvl="0"/>
            <a:r>
              <a:rPr lang="en-IN" sz="1600" dirty="0"/>
              <a:t>Autonomous driving</a:t>
            </a:r>
          </a:p>
          <a:p>
            <a:pPr marL="0" indent="0">
              <a:buNone/>
            </a:pPr>
            <a:endParaRPr lang="en-US" sz="1400" dirty="0"/>
          </a:p>
        </p:txBody>
      </p:sp>
    </p:spTree>
    <p:extLst>
      <p:ext uri="{BB962C8B-B14F-4D97-AF65-F5344CB8AC3E}">
        <p14:creationId xmlns:p14="http://schemas.microsoft.com/office/powerpoint/2010/main" val="23410371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91E12-8B4F-C441-7E49-B0A0B8A5E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A34057-71D5-FA5E-F112-F7DD4F567291}"/>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 </a:t>
            </a:r>
            <a:r>
              <a:rPr lang="en-IN" sz="2800" b="1" dirty="0"/>
              <a:t>Generative Models </a:t>
            </a:r>
            <a:endParaRPr lang="en-US" sz="2800" b="1" dirty="0">
              <a:solidFill>
                <a:srgbClr val="FF0000"/>
              </a:solidFill>
            </a:endParaRPr>
          </a:p>
        </p:txBody>
      </p:sp>
      <p:sp>
        <p:nvSpPr>
          <p:cNvPr id="4" name="Content Placeholder 3">
            <a:extLst>
              <a:ext uri="{FF2B5EF4-FFF2-40B4-BE49-F238E27FC236}">
                <a16:creationId xmlns:a16="http://schemas.microsoft.com/office/drawing/2014/main" id="{AA49C2BF-35CD-704F-DA8B-062F10FEA332}"/>
              </a:ext>
            </a:extLst>
          </p:cNvPr>
          <p:cNvSpPr>
            <a:spLocks noGrp="1"/>
          </p:cNvSpPr>
          <p:nvPr>
            <p:ph idx="1"/>
          </p:nvPr>
        </p:nvSpPr>
        <p:spPr>
          <a:xfrm>
            <a:off x="685216" y="1011701"/>
            <a:ext cx="4828893" cy="5735144"/>
          </a:xfrm>
        </p:spPr>
        <p:txBody>
          <a:bodyPr>
            <a:noAutofit/>
          </a:bodyPr>
          <a:lstStyle/>
          <a:p>
            <a:pPr marL="0" indent="0">
              <a:buNone/>
            </a:pPr>
            <a:r>
              <a:rPr lang="en-IN" sz="1600" b="1" dirty="0"/>
              <a:t>Generative models</a:t>
            </a:r>
            <a:r>
              <a:rPr lang="en-IN" sz="1600" dirty="0"/>
              <a:t> are AI models that learn patterns from existing data and can </a:t>
            </a:r>
            <a:r>
              <a:rPr lang="en-IN" sz="1600" b="1" dirty="0"/>
              <a:t>generate new content</a:t>
            </a:r>
            <a:r>
              <a:rPr lang="en-IN" sz="1600" dirty="0"/>
              <a:t>.</a:t>
            </a:r>
          </a:p>
          <a:p>
            <a:r>
              <a:rPr lang="en-IN" sz="1600" dirty="0"/>
              <a:t>Instead of simply answering:</a:t>
            </a:r>
          </a:p>
          <a:p>
            <a:r>
              <a:rPr lang="en-IN" sz="1600" dirty="0"/>
              <a:t>"What category does this belong to?"</a:t>
            </a:r>
          </a:p>
          <a:p>
            <a:r>
              <a:rPr lang="en-IN" sz="1600" dirty="0"/>
              <a:t>they can answer:</a:t>
            </a:r>
          </a:p>
          <a:p>
            <a:r>
              <a:rPr lang="en-IN" sz="1600" dirty="0"/>
              <a:t>"Can I create something new based on what I learned?"</a:t>
            </a:r>
          </a:p>
          <a:p>
            <a:pPr marL="0" indent="0">
              <a:buNone/>
            </a:pPr>
            <a:r>
              <a:rPr lang="en-IN" sz="1600" b="1" dirty="0"/>
              <a:t>Examples of technologies</a:t>
            </a:r>
          </a:p>
          <a:p>
            <a:pPr lvl="0"/>
            <a:r>
              <a:rPr lang="en-IN" sz="1600" dirty="0"/>
              <a:t>Large Language Models (LLMs) </a:t>
            </a:r>
          </a:p>
          <a:p>
            <a:pPr lvl="0"/>
            <a:r>
              <a:rPr lang="en-IN" sz="1600" dirty="0"/>
              <a:t>Diffusion models </a:t>
            </a:r>
          </a:p>
          <a:p>
            <a:pPr lvl="0"/>
            <a:r>
              <a:rPr lang="en-IN" sz="1600" dirty="0"/>
              <a:t>GANs </a:t>
            </a:r>
          </a:p>
          <a:p>
            <a:pPr lvl="0"/>
            <a:r>
              <a:rPr lang="en-IN" sz="1600" dirty="0"/>
              <a:t>Multimodal generative models</a:t>
            </a:r>
          </a:p>
          <a:p>
            <a:pPr marL="0" indent="0">
              <a:buNone/>
            </a:pPr>
            <a:endParaRPr lang="en-US" sz="1600" dirty="0"/>
          </a:p>
        </p:txBody>
      </p:sp>
      <p:sp>
        <p:nvSpPr>
          <p:cNvPr id="5" name="TextBox 4">
            <a:extLst>
              <a:ext uri="{FF2B5EF4-FFF2-40B4-BE49-F238E27FC236}">
                <a16:creationId xmlns:a16="http://schemas.microsoft.com/office/drawing/2014/main" id="{3D318DEC-020F-9BF4-69A3-FDB0629C4EEC}"/>
              </a:ext>
            </a:extLst>
          </p:cNvPr>
          <p:cNvSpPr txBox="1"/>
          <p:nvPr/>
        </p:nvSpPr>
        <p:spPr>
          <a:xfrm>
            <a:off x="5848927" y="1011701"/>
            <a:ext cx="4828893" cy="4278094"/>
          </a:xfrm>
          <a:prstGeom prst="rect">
            <a:avLst/>
          </a:prstGeom>
          <a:noFill/>
        </p:spPr>
        <p:txBody>
          <a:bodyPr wrap="square">
            <a:spAutoFit/>
          </a:bodyPr>
          <a:lstStyle/>
          <a:p>
            <a:pPr>
              <a:buNone/>
            </a:pPr>
            <a:r>
              <a:rPr lang="en-IN" sz="1600" b="1" dirty="0"/>
              <a:t>Example:</a:t>
            </a:r>
          </a:p>
          <a:p>
            <a:pPr>
              <a:buNone/>
            </a:pPr>
            <a:endParaRPr lang="en-IN" sz="1600" dirty="0"/>
          </a:p>
          <a:p>
            <a:pPr>
              <a:buNone/>
            </a:pPr>
            <a:r>
              <a:rPr lang="en-IN" sz="1600" dirty="0"/>
              <a:t>Prompt: "A robot teaching students" → Generative AI → New image</a:t>
            </a:r>
          </a:p>
          <a:p>
            <a:pPr>
              <a:buNone/>
            </a:pPr>
            <a:endParaRPr lang="en-IN" sz="1600" dirty="0"/>
          </a:p>
          <a:p>
            <a:pPr>
              <a:buNone/>
            </a:pPr>
            <a:r>
              <a:rPr lang="en-IN" sz="1600" dirty="0"/>
              <a:t>Another example:</a:t>
            </a:r>
          </a:p>
          <a:p>
            <a:pPr>
              <a:buNone/>
            </a:pPr>
            <a:endParaRPr lang="en-IN" sz="1600" dirty="0"/>
          </a:p>
          <a:p>
            <a:pPr>
              <a:buNone/>
            </a:pPr>
            <a:r>
              <a:rPr lang="en-IN" sz="1600" dirty="0"/>
              <a:t>Prompt → LLM → Java Selenium test script</a:t>
            </a:r>
          </a:p>
          <a:p>
            <a:pPr>
              <a:buNone/>
            </a:pPr>
            <a:r>
              <a:rPr lang="en-IN" sz="1600" b="1" dirty="0"/>
              <a:t>Traditional vs Generative AI</a:t>
            </a:r>
          </a:p>
          <a:p>
            <a:pPr>
              <a:buNone/>
            </a:pPr>
            <a:endParaRPr lang="en-IN" sz="1600" b="1" dirty="0"/>
          </a:p>
          <a:p>
            <a:pPr>
              <a:buNone/>
            </a:pPr>
            <a:r>
              <a:rPr lang="en-IN" sz="1600" b="1" dirty="0"/>
              <a:t>Traditional AI:</a:t>
            </a:r>
          </a:p>
          <a:p>
            <a:pPr>
              <a:buNone/>
            </a:pPr>
            <a:endParaRPr lang="en-IN" sz="1600" dirty="0"/>
          </a:p>
          <a:p>
            <a:pPr>
              <a:buNone/>
            </a:pPr>
            <a:r>
              <a:rPr lang="en-IN" sz="1600" dirty="0"/>
              <a:t>Image → Model → Cat</a:t>
            </a:r>
          </a:p>
          <a:p>
            <a:pPr>
              <a:buNone/>
            </a:pPr>
            <a:endParaRPr lang="en-IN" sz="1600" dirty="0"/>
          </a:p>
          <a:p>
            <a:pPr>
              <a:buNone/>
            </a:pPr>
            <a:r>
              <a:rPr lang="en-IN" sz="1600" b="1" dirty="0"/>
              <a:t>Generative AI:</a:t>
            </a:r>
          </a:p>
          <a:p>
            <a:pPr>
              <a:buNone/>
            </a:pPr>
            <a:endParaRPr lang="en-IN" sz="1600" dirty="0"/>
          </a:p>
          <a:p>
            <a:pPr>
              <a:buNone/>
            </a:pPr>
            <a:r>
              <a:rPr lang="en-IN" sz="1600" dirty="0"/>
              <a:t>Text prompt → Model → New image of a cat</a:t>
            </a:r>
          </a:p>
        </p:txBody>
      </p:sp>
    </p:spTree>
    <p:extLst>
      <p:ext uri="{BB962C8B-B14F-4D97-AF65-F5344CB8AC3E}">
        <p14:creationId xmlns:p14="http://schemas.microsoft.com/office/powerpoint/2010/main" val="231197874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17FD4-A3C6-AF60-D479-31A320656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91A73-84CB-6D97-6E65-1D1385360AAC}"/>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 </a:t>
            </a:r>
            <a:r>
              <a:rPr lang="en-IN" sz="2800" b="1" dirty="0"/>
              <a:t>Generative Models </a:t>
            </a:r>
            <a:endParaRPr lang="en-US" sz="2800" b="1" dirty="0">
              <a:solidFill>
                <a:srgbClr val="FF0000"/>
              </a:solidFill>
            </a:endParaRPr>
          </a:p>
        </p:txBody>
      </p:sp>
      <p:pic>
        <p:nvPicPr>
          <p:cNvPr id="3" name="Picture 2" descr="https://images.openai.com/static-rsc-4/gTChKxHbBt2mfzohk6z5EU05k-atpPcliIQwFSouIpztNDFXOuAUn511Erf9z8j0IvgwYBu5ljTPo-qDarDpy_1HEE4TIatG49Pjd21UUr2_gwjnpSb3haJeL_tJ07N9AgXnOoom9aqB51O-hX0KFPfmEEwl2mDEaSAN_4QoDSWaH3Tno75b9U1O9wcmS8gA?purpose=fullsize">
            <a:extLst>
              <a:ext uri="{FF2B5EF4-FFF2-40B4-BE49-F238E27FC236}">
                <a16:creationId xmlns:a16="http://schemas.microsoft.com/office/drawing/2014/main" id="{AF4EC1A9-2CEC-38AB-027B-7C59A5D091B3}"/>
              </a:ext>
            </a:extLst>
          </p:cNvPr>
          <p:cNvPicPr>
            <a:picLocks noChangeAspect="1"/>
          </p:cNvPicPr>
          <p:nvPr/>
        </p:nvPicPr>
        <p:blipFill>
          <a:blip r:embed="rId2"/>
          <a:stretch>
            <a:fillRect/>
          </a:stretch>
        </p:blipFill>
        <p:spPr>
          <a:xfrm>
            <a:off x="1551709" y="1068388"/>
            <a:ext cx="7620000" cy="5076825"/>
          </a:xfrm>
          <a:prstGeom prst="rect">
            <a:avLst/>
          </a:prstGeom>
        </p:spPr>
      </p:pic>
    </p:spTree>
    <p:extLst>
      <p:ext uri="{BB962C8B-B14F-4D97-AF65-F5344CB8AC3E}">
        <p14:creationId xmlns:p14="http://schemas.microsoft.com/office/powerpoint/2010/main" val="110835729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6B4FD-4336-D928-A367-303939F8AA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655C8-222D-943A-A6E6-054183BF994F}"/>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 </a:t>
            </a:r>
            <a:r>
              <a:rPr lang="en-IN" sz="2800" b="1" dirty="0"/>
              <a:t>Hybrid models</a:t>
            </a:r>
            <a:r>
              <a:rPr lang="en-IN" sz="2800" dirty="0"/>
              <a:t> </a:t>
            </a:r>
            <a:endParaRPr lang="en-US" sz="2800" b="1" dirty="0">
              <a:solidFill>
                <a:srgbClr val="FF0000"/>
              </a:solidFill>
            </a:endParaRPr>
          </a:p>
        </p:txBody>
      </p:sp>
      <p:sp>
        <p:nvSpPr>
          <p:cNvPr id="5" name="TextBox 4">
            <a:extLst>
              <a:ext uri="{FF2B5EF4-FFF2-40B4-BE49-F238E27FC236}">
                <a16:creationId xmlns:a16="http://schemas.microsoft.com/office/drawing/2014/main" id="{523570FB-2E9C-2D0D-5A3A-C0FFFF3DD2EA}"/>
              </a:ext>
            </a:extLst>
          </p:cNvPr>
          <p:cNvSpPr txBox="1"/>
          <p:nvPr/>
        </p:nvSpPr>
        <p:spPr>
          <a:xfrm>
            <a:off x="824345" y="1020956"/>
            <a:ext cx="8042564" cy="2062103"/>
          </a:xfrm>
          <a:prstGeom prst="rect">
            <a:avLst/>
          </a:prstGeom>
          <a:noFill/>
        </p:spPr>
        <p:txBody>
          <a:bodyPr wrap="square">
            <a:spAutoFit/>
          </a:bodyPr>
          <a:lstStyle/>
          <a:p>
            <a:pPr>
              <a:buNone/>
            </a:pPr>
            <a:r>
              <a:rPr lang="en-IN" sz="1600" b="1" dirty="0"/>
              <a:t>Hybrid models</a:t>
            </a:r>
            <a:r>
              <a:rPr lang="en-IN" sz="1600" dirty="0"/>
              <a:t> combine </a:t>
            </a:r>
            <a:r>
              <a:rPr lang="en-IN" sz="1600" b="1" dirty="0"/>
              <a:t>two or more AI techniques or models</a:t>
            </a:r>
            <a:r>
              <a:rPr lang="en-IN" sz="1600" dirty="0"/>
              <a:t> to solve a problem more effectively.</a:t>
            </a:r>
          </a:p>
          <a:p>
            <a:pPr>
              <a:buNone/>
            </a:pPr>
            <a:endParaRPr lang="en-IN" sz="1600" dirty="0"/>
          </a:p>
          <a:p>
            <a:pPr>
              <a:buNone/>
            </a:pPr>
            <a:r>
              <a:rPr lang="en-IN" sz="1600" dirty="0"/>
              <a:t>For example, a system might combine:</a:t>
            </a:r>
          </a:p>
          <a:p>
            <a:pPr marL="342900" lvl="0" indent="-342900">
              <a:buFont typeface="Arial" panose="020B0604020202020204" pitchFamily="34" charset="0"/>
              <a:buChar char="•"/>
            </a:pPr>
            <a:r>
              <a:rPr lang="en-IN" sz="1600" dirty="0"/>
              <a:t>Machine Learning + Deep Learning </a:t>
            </a:r>
          </a:p>
          <a:p>
            <a:pPr marL="342900" lvl="0" indent="-342900">
              <a:buFont typeface="Arial" panose="020B0604020202020204" pitchFamily="34" charset="0"/>
              <a:buChar char="•"/>
            </a:pPr>
            <a:r>
              <a:rPr lang="en-IN" sz="1600" dirty="0"/>
              <a:t>Rule-based systems + Machine Learning </a:t>
            </a:r>
          </a:p>
          <a:p>
            <a:pPr marL="342900" lvl="0" indent="-342900">
              <a:buFont typeface="Arial" panose="020B0604020202020204" pitchFamily="34" charset="0"/>
              <a:buChar char="•"/>
            </a:pPr>
            <a:r>
              <a:rPr lang="en-IN" sz="1600" dirty="0"/>
              <a:t>Computer Vision + NLP </a:t>
            </a:r>
          </a:p>
          <a:p>
            <a:pPr marL="342900" lvl="0" indent="-342900">
              <a:buFont typeface="Arial" panose="020B0604020202020204" pitchFamily="34" charset="0"/>
              <a:buChar char="•"/>
            </a:pPr>
            <a:r>
              <a:rPr lang="en-IN" sz="1600" dirty="0"/>
              <a:t>ML + Generative AI</a:t>
            </a:r>
          </a:p>
        </p:txBody>
      </p:sp>
    </p:spTree>
    <p:extLst>
      <p:ext uri="{BB962C8B-B14F-4D97-AF65-F5344CB8AC3E}">
        <p14:creationId xmlns:p14="http://schemas.microsoft.com/office/powerpoint/2010/main" val="40085691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E286-FC0D-9A4D-45E4-447475911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B9A547-E869-0E8A-EAA9-E4280FDFFD47}"/>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 </a:t>
            </a:r>
            <a:r>
              <a:rPr lang="en-IN" sz="2800" b="1" dirty="0"/>
              <a:t>Hybrid models</a:t>
            </a:r>
            <a:r>
              <a:rPr lang="en-IN" sz="2800" dirty="0"/>
              <a:t> </a:t>
            </a:r>
            <a:endParaRPr lang="en-US" sz="2800" b="1" dirty="0">
              <a:solidFill>
                <a:srgbClr val="FF0000"/>
              </a:solidFill>
            </a:endParaRPr>
          </a:p>
        </p:txBody>
      </p:sp>
      <p:sp>
        <p:nvSpPr>
          <p:cNvPr id="5" name="TextBox 4">
            <a:extLst>
              <a:ext uri="{FF2B5EF4-FFF2-40B4-BE49-F238E27FC236}">
                <a16:creationId xmlns:a16="http://schemas.microsoft.com/office/drawing/2014/main" id="{8FEBD47C-B55F-4FA8-4686-C4B895F028AE}"/>
              </a:ext>
            </a:extLst>
          </p:cNvPr>
          <p:cNvSpPr txBox="1"/>
          <p:nvPr/>
        </p:nvSpPr>
        <p:spPr>
          <a:xfrm>
            <a:off x="824345" y="1020956"/>
            <a:ext cx="8042564" cy="5262979"/>
          </a:xfrm>
          <a:prstGeom prst="rect">
            <a:avLst/>
          </a:prstGeom>
          <a:noFill/>
        </p:spPr>
        <p:txBody>
          <a:bodyPr wrap="square">
            <a:spAutoFit/>
          </a:bodyPr>
          <a:lstStyle/>
          <a:p>
            <a:r>
              <a:rPr lang="en-IN" sz="1600" b="1" dirty="0"/>
              <a:t>Example: Smart customer-support system</a:t>
            </a:r>
          </a:p>
          <a:p>
            <a:endParaRPr lang="en-IN" sz="1600" b="1" dirty="0"/>
          </a:p>
          <a:p>
            <a:r>
              <a:rPr lang="en-IN" sz="1600" dirty="0"/>
              <a:t>A customer sends a message.</a:t>
            </a:r>
          </a:p>
          <a:p>
            <a:endParaRPr lang="en-IN" sz="1600" dirty="0"/>
          </a:p>
          <a:p>
            <a:r>
              <a:rPr lang="en-IN" sz="1600" b="1" dirty="0"/>
              <a:t>NLP model</a:t>
            </a:r>
            <a:br>
              <a:rPr lang="en-IN" sz="1600" dirty="0"/>
            </a:br>
            <a:r>
              <a:rPr lang="en-IN" sz="1600" dirty="0"/>
              <a:t>↓</a:t>
            </a:r>
            <a:br>
              <a:rPr lang="en-IN" sz="1600" dirty="0"/>
            </a:br>
            <a:r>
              <a:rPr lang="en-IN" sz="1600" dirty="0"/>
              <a:t>Understands the customer's question</a:t>
            </a:r>
          </a:p>
          <a:p>
            <a:r>
              <a:rPr lang="en-IN" sz="1600" b="1" dirty="0"/>
              <a:t>ML model</a:t>
            </a:r>
            <a:br>
              <a:rPr lang="en-IN" sz="1600" dirty="0"/>
            </a:br>
            <a:r>
              <a:rPr lang="en-IN" sz="1600" dirty="0"/>
              <a:t>↓</a:t>
            </a:r>
            <a:br>
              <a:rPr lang="en-IN" sz="1600" dirty="0"/>
            </a:br>
            <a:r>
              <a:rPr lang="en-IN" sz="1600" dirty="0"/>
              <a:t>Classifies the issue</a:t>
            </a:r>
          </a:p>
          <a:p>
            <a:r>
              <a:rPr lang="en-IN" sz="1600" b="1" dirty="0"/>
              <a:t>Generative AI model</a:t>
            </a:r>
            <a:br>
              <a:rPr lang="en-IN" sz="1600" dirty="0"/>
            </a:br>
            <a:r>
              <a:rPr lang="en-IN" sz="1600" dirty="0"/>
              <a:t>↓</a:t>
            </a:r>
            <a:br>
              <a:rPr lang="en-IN" sz="1600" dirty="0"/>
            </a:br>
            <a:r>
              <a:rPr lang="en-IN" sz="1600" dirty="0"/>
              <a:t>Generates a response</a:t>
            </a:r>
          </a:p>
          <a:p>
            <a:r>
              <a:rPr lang="en-IN" sz="1600" b="1" dirty="0"/>
              <a:t>Human/Business rules</a:t>
            </a:r>
            <a:br>
              <a:rPr lang="en-IN" sz="1600" dirty="0"/>
            </a:br>
            <a:r>
              <a:rPr lang="en-IN" sz="1600" dirty="0"/>
              <a:t>↓</a:t>
            </a:r>
            <a:br>
              <a:rPr lang="en-IN" sz="1600" dirty="0"/>
            </a:br>
            <a:r>
              <a:rPr lang="en-IN" sz="1600" dirty="0"/>
              <a:t>Approves or controls the response</a:t>
            </a:r>
          </a:p>
          <a:p>
            <a:endParaRPr lang="en-IN" sz="1600" dirty="0"/>
          </a:p>
          <a:p>
            <a:r>
              <a:rPr lang="en-IN" sz="1600" b="1" dirty="0"/>
              <a:t>Why use hybrid models?</a:t>
            </a:r>
          </a:p>
          <a:p>
            <a:r>
              <a:rPr lang="en-IN" sz="1600" dirty="0"/>
              <a:t>Because one model may not be good at everything.</a:t>
            </a:r>
          </a:p>
          <a:p>
            <a:r>
              <a:rPr lang="en-IN" sz="1600" b="1" dirty="0"/>
              <a:t>Hybrid approach = combine the strengths of multiple approaches.</a:t>
            </a:r>
            <a:endParaRPr lang="en-IN" sz="1600" dirty="0"/>
          </a:p>
          <a:p>
            <a:pPr>
              <a:buNone/>
            </a:pPr>
            <a:endParaRPr lang="en-IN" sz="1600" dirty="0"/>
          </a:p>
        </p:txBody>
      </p:sp>
    </p:spTree>
    <p:extLst>
      <p:ext uri="{BB962C8B-B14F-4D97-AF65-F5344CB8AC3E}">
        <p14:creationId xmlns:p14="http://schemas.microsoft.com/office/powerpoint/2010/main" val="17046713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8C0AF-9563-421D-4DCC-151A576D5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33765-1E5F-2CBE-0884-9FA421A44BCD}"/>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a:t>
            </a:r>
            <a:r>
              <a:rPr lang="en-IN" sz="2800" b="1" dirty="0"/>
              <a:t> NLP Models </a:t>
            </a:r>
            <a:endParaRPr lang="en-US" sz="2800" b="1" dirty="0">
              <a:solidFill>
                <a:srgbClr val="FF0000"/>
              </a:solidFill>
            </a:endParaRPr>
          </a:p>
        </p:txBody>
      </p:sp>
      <p:sp>
        <p:nvSpPr>
          <p:cNvPr id="5" name="TextBox 4">
            <a:extLst>
              <a:ext uri="{FF2B5EF4-FFF2-40B4-BE49-F238E27FC236}">
                <a16:creationId xmlns:a16="http://schemas.microsoft.com/office/drawing/2014/main" id="{56F76C28-D101-FB75-B84E-AD9417358DFB}"/>
              </a:ext>
            </a:extLst>
          </p:cNvPr>
          <p:cNvSpPr txBox="1"/>
          <p:nvPr/>
        </p:nvSpPr>
        <p:spPr>
          <a:xfrm>
            <a:off x="685216" y="1153390"/>
            <a:ext cx="5031510" cy="3046988"/>
          </a:xfrm>
          <a:prstGeom prst="rect">
            <a:avLst/>
          </a:prstGeom>
          <a:noFill/>
        </p:spPr>
        <p:txBody>
          <a:bodyPr wrap="square">
            <a:spAutoFit/>
          </a:bodyPr>
          <a:lstStyle/>
          <a:p>
            <a:endParaRPr lang="en-IN" sz="1600" b="1" dirty="0"/>
          </a:p>
          <a:p>
            <a:r>
              <a:rPr lang="en-IN" sz="1600" b="1" dirty="0"/>
              <a:t>NLP = Natural Language Processing</a:t>
            </a:r>
          </a:p>
          <a:p>
            <a:endParaRPr lang="en-IN" sz="1600" dirty="0"/>
          </a:p>
          <a:p>
            <a:r>
              <a:rPr lang="en-IN" sz="1600" dirty="0"/>
              <a:t>NLP models are designed to work with </a:t>
            </a:r>
            <a:r>
              <a:rPr lang="en-IN" sz="1600" b="1" dirty="0"/>
              <a:t>human language</a:t>
            </a:r>
          </a:p>
          <a:p>
            <a:endParaRPr lang="en-IN" sz="1600" dirty="0"/>
          </a:p>
          <a:p>
            <a:r>
              <a:rPr lang="en-IN" sz="1600" dirty="0"/>
              <a:t>They process:</a:t>
            </a:r>
          </a:p>
          <a:p>
            <a:pPr lvl="0"/>
            <a:r>
              <a:rPr lang="en-IN" sz="1600" dirty="0"/>
              <a:t>Text </a:t>
            </a:r>
          </a:p>
          <a:p>
            <a:pPr lvl="0"/>
            <a:r>
              <a:rPr lang="en-IN" sz="1600" dirty="0"/>
              <a:t>Speech </a:t>
            </a:r>
          </a:p>
          <a:p>
            <a:pPr lvl="0"/>
            <a:r>
              <a:rPr lang="en-IN" sz="1600" dirty="0"/>
              <a:t>Documents </a:t>
            </a:r>
          </a:p>
          <a:p>
            <a:pPr lvl="0"/>
            <a:r>
              <a:rPr lang="en-IN" sz="1600" dirty="0"/>
              <a:t>Conversations</a:t>
            </a:r>
          </a:p>
          <a:p>
            <a:pPr>
              <a:buNone/>
            </a:pPr>
            <a:endParaRPr lang="en-IN" sz="1600" dirty="0"/>
          </a:p>
        </p:txBody>
      </p:sp>
      <p:pic>
        <p:nvPicPr>
          <p:cNvPr id="3" name="Picture 2" descr="NLP and Machine Learning: Key Differences and Types">
            <a:extLst>
              <a:ext uri="{FF2B5EF4-FFF2-40B4-BE49-F238E27FC236}">
                <a16:creationId xmlns:a16="http://schemas.microsoft.com/office/drawing/2014/main" id="{929E8043-601B-FB7D-2DA7-888E8838B8DA}"/>
              </a:ext>
            </a:extLst>
          </p:cNvPr>
          <p:cNvPicPr>
            <a:picLocks noChangeAspect="1"/>
          </p:cNvPicPr>
          <p:nvPr/>
        </p:nvPicPr>
        <p:blipFill>
          <a:blip r:embed="rId2"/>
          <a:stretch>
            <a:fillRect/>
          </a:stretch>
        </p:blipFill>
        <p:spPr>
          <a:xfrm>
            <a:off x="5118099" y="1024081"/>
            <a:ext cx="5160819" cy="5160819"/>
          </a:xfrm>
          <a:prstGeom prst="rect">
            <a:avLst/>
          </a:prstGeom>
        </p:spPr>
      </p:pic>
    </p:spTree>
    <p:extLst>
      <p:ext uri="{BB962C8B-B14F-4D97-AF65-F5344CB8AC3E}">
        <p14:creationId xmlns:p14="http://schemas.microsoft.com/office/powerpoint/2010/main" val="38096200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826EF-5E70-AEA7-BE7B-3E0B1637C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EC150-CE40-EBDB-FE1F-A1A810E9A3A3}"/>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a:t>
            </a:r>
            <a:r>
              <a:rPr lang="en-IN" sz="2800" b="1" dirty="0"/>
              <a:t> NLP Models </a:t>
            </a:r>
            <a:endParaRPr lang="en-US" sz="2800" b="1" dirty="0">
              <a:solidFill>
                <a:srgbClr val="FF0000"/>
              </a:solidFill>
            </a:endParaRPr>
          </a:p>
        </p:txBody>
      </p:sp>
      <p:sp>
        <p:nvSpPr>
          <p:cNvPr id="6" name="TextBox 5">
            <a:extLst>
              <a:ext uri="{FF2B5EF4-FFF2-40B4-BE49-F238E27FC236}">
                <a16:creationId xmlns:a16="http://schemas.microsoft.com/office/drawing/2014/main" id="{36A1576A-253C-AACA-9B45-456C929F0A6F}"/>
              </a:ext>
            </a:extLst>
          </p:cNvPr>
          <p:cNvSpPr txBox="1"/>
          <p:nvPr/>
        </p:nvSpPr>
        <p:spPr>
          <a:xfrm>
            <a:off x="584200" y="891628"/>
            <a:ext cx="8697684" cy="5909310"/>
          </a:xfrm>
          <a:prstGeom prst="rect">
            <a:avLst/>
          </a:prstGeom>
          <a:noFill/>
        </p:spPr>
        <p:txBody>
          <a:bodyPr wrap="square">
            <a:spAutoFit/>
          </a:bodyPr>
          <a:lstStyle/>
          <a:p>
            <a:pPr>
              <a:buNone/>
            </a:pPr>
            <a:r>
              <a:rPr lang="en-IN" sz="1400" b="1" dirty="0"/>
              <a:t>Applications</a:t>
            </a:r>
          </a:p>
          <a:p>
            <a:pPr>
              <a:buNone/>
            </a:pPr>
            <a:endParaRPr lang="en-IN" sz="1400" b="1" dirty="0"/>
          </a:p>
          <a:p>
            <a:pPr>
              <a:buNone/>
            </a:pPr>
            <a:r>
              <a:rPr lang="en-IN" sz="1400" b="1" dirty="0"/>
              <a:t>Sentiment Analysis</a:t>
            </a:r>
          </a:p>
          <a:p>
            <a:pPr>
              <a:buNone/>
            </a:pPr>
            <a:endParaRPr lang="en-IN" sz="1400" dirty="0"/>
          </a:p>
          <a:p>
            <a:pPr>
              <a:buNone/>
            </a:pPr>
            <a:r>
              <a:rPr lang="en-IN" sz="1400" dirty="0">
                <a:latin typeface="Courier New" panose="02070309020205020404" pitchFamily="49" charset="0"/>
              </a:rPr>
              <a:t>"This product is excellent!" → Positive</a:t>
            </a:r>
          </a:p>
          <a:p>
            <a:pPr>
              <a:buNone/>
            </a:pPr>
            <a:endParaRPr lang="en-IN" sz="1400" dirty="0"/>
          </a:p>
          <a:p>
            <a:pPr>
              <a:buNone/>
            </a:pPr>
            <a:r>
              <a:rPr lang="en-IN" sz="1400" b="1" dirty="0"/>
              <a:t>Translation</a:t>
            </a:r>
          </a:p>
          <a:p>
            <a:pPr>
              <a:buNone/>
            </a:pPr>
            <a:endParaRPr lang="en-IN" sz="1400" dirty="0"/>
          </a:p>
          <a:p>
            <a:pPr>
              <a:buNone/>
            </a:pPr>
            <a:r>
              <a:rPr lang="en-IN" sz="1400" dirty="0">
                <a:latin typeface="Courier New" panose="02070309020205020404" pitchFamily="49" charset="0"/>
              </a:rPr>
              <a:t>English → Hindi</a:t>
            </a:r>
          </a:p>
          <a:p>
            <a:pPr>
              <a:buNone/>
            </a:pPr>
            <a:endParaRPr lang="en-IN" sz="1400" dirty="0"/>
          </a:p>
          <a:p>
            <a:pPr>
              <a:buNone/>
            </a:pPr>
            <a:r>
              <a:rPr lang="en-IN" sz="1400" b="1" dirty="0"/>
              <a:t>Text Summarization</a:t>
            </a:r>
          </a:p>
          <a:p>
            <a:pPr>
              <a:buNone/>
            </a:pPr>
            <a:endParaRPr lang="en-IN" sz="1400" dirty="0"/>
          </a:p>
          <a:p>
            <a:pPr>
              <a:buNone/>
            </a:pPr>
            <a:r>
              <a:rPr lang="en-IN" sz="1400" dirty="0">
                <a:latin typeface="Courier New" panose="02070309020205020404" pitchFamily="49" charset="0"/>
              </a:rPr>
              <a:t>Long document → Short summary</a:t>
            </a:r>
          </a:p>
          <a:p>
            <a:pPr>
              <a:buNone/>
            </a:pPr>
            <a:endParaRPr lang="en-IN" sz="1400" dirty="0"/>
          </a:p>
          <a:p>
            <a:pPr>
              <a:buNone/>
            </a:pPr>
            <a:r>
              <a:rPr lang="en-IN" sz="1400" b="1" dirty="0"/>
              <a:t>Question Answering</a:t>
            </a:r>
          </a:p>
          <a:p>
            <a:pPr>
              <a:buNone/>
            </a:pPr>
            <a:endParaRPr lang="en-IN" sz="1400" dirty="0"/>
          </a:p>
          <a:p>
            <a:pPr>
              <a:buNone/>
            </a:pPr>
            <a:r>
              <a:rPr lang="en-IN" sz="1400" dirty="0">
                <a:latin typeface="Courier New" panose="02070309020205020404" pitchFamily="49" charset="0"/>
              </a:rPr>
              <a:t>Question → Answer</a:t>
            </a:r>
          </a:p>
          <a:p>
            <a:pPr>
              <a:buNone/>
            </a:pPr>
            <a:endParaRPr lang="en-IN" sz="1400" dirty="0"/>
          </a:p>
          <a:p>
            <a:pPr>
              <a:buNone/>
            </a:pPr>
            <a:r>
              <a:rPr lang="en-IN" sz="1400" b="1" dirty="0"/>
              <a:t>Chatbots</a:t>
            </a:r>
          </a:p>
          <a:p>
            <a:pPr>
              <a:buNone/>
            </a:pPr>
            <a:endParaRPr lang="en-IN" sz="1400" dirty="0"/>
          </a:p>
          <a:p>
            <a:pPr>
              <a:buNone/>
            </a:pPr>
            <a:r>
              <a:rPr lang="en-IN" sz="1400" dirty="0">
                <a:latin typeface="Courier New" panose="02070309020205020404" pitchFamily="49" charset="0"/>
              </a:rPr>
              <a:t>User → NLP model → Response</a:t>
            </a:r>
          </a:p>
          <a:p>
            <a:pPr>
              <a:buNone/>
            </a:pPr>
            <a:endParaRPr lang="en-IN" sz="1400" dirty="0"/>
          </a:p>
          <a:p>
            <a:pPr>
              <a:buNone/>
            </a:pPr>
            <a:r>
              <a:rPr lang="en-IN" sz="1400" b="1" dirty="0"/>
              <a:t>Modern NLP</a:t>
            </a:r>
          </a:p>
          <a:p>
            <a:pPr>
              <a:buNone/>
            </a:pPr>
            <a:endParaRPr lang="en-IN" sz="1400" b="1" dirty="0"/>
          </a:p>
          <a:p>
            <a:pPr>
              <a:buNone/>
            </a:pPr>
            <a:r>
              <a:rPr lang="en-IN" sz="1400" dirty="0"/>
              <a:t>Modern NLP is heavily based on </a:t>
            </a:r>
            <a:r>
              <a:rPr lang="en-IN" sz="1400" b="1" dirty="0"/>
              <a:t>Transformer architectures</a:t>
            </a:r>
            <a:r>
              <a:rPr lang="en-IN" sz="1400" dirty="0"/>
              <a:t>.</a:t>
            </a:r>
          </a:p>
          <a:p>
            <a:pPr>
              <a:buNone/>
            </a:pPr>
            <a:endParaRPr lang="en-IN" sz="1400" dirty="0"/>
          </a:p>
          <a:p>
            <a:pPr>
              <a:buNone/>
            </a:pPr>
            <a:r>
              <a:rPr lang="en-IN" sz="1400" dirty="0"/>
              <a:t>Large Language Models are an important modern category of NLP models.</a:t>
            </a:r>
          </a:p>
        </p:txBody>
      </p:sp>
    </p:spTree>
    <p:extLst>
      <p:ext uri="{BB962C8B-B14F-4D97-AF65-F5344CB8AC3E}">
        <p14:creationId xmlns:p14="http://schemas.microsoft.com/office/powerpoint/2010/main" val="32047389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EE5D3-0AC0-F763-1A20-083202DF3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0B3FC-631B-2A3E-0477-3B9C93690837}"/>
              </a:ext>
            </a:extLst>
          </p:cNvPr>
          <p:cNvSpPr>
            <a:spLocks noGrp="1"/>
          </p:cNvSpPr>
          <p:nvPr>
            <p:ph type="title"/>
          </p:nvPr>
        </p:nvSpPr>
        <p:spPr>
          <a:xfrm>
            <a:off x="685216" y="231228"/>
            <a:ext cx="8596668" cy="1320800"/>
          </a:xfrm>
        </p:spPr>
        <p:txBody>
          <a:bodyPr>
            <a:normAutofit/>
          </a:bodyPr>
          <a:lstStyle/>
          <a:p>
            <a:r>
              <a:rPr lang="en-IN" sz="2800" dirty="0">
                <a:solidFill>
                  <a:schemeClr val="accent2"/>
                </a:solidFill>
              </a:rPr>
              <a:t>AI Spectrum-Models -</a:t>
            </a:r>
            <a:r>
              <a:rPr lang="en-IN" sz="2800" b="1" dirty="0"/>
              <a:t> Computer Vision Models — </a:t>
            </a:r>
            <a:endParaRPr lang="en-US" sz="2800" b="1" dirty="0">
              <a:solidFill>
                <a:srgbClr val="FF0000"/>
              </a:solidFill>
            </a:endParaRPr>
          </a:p>
        </p:txBody>
      </p:sp>
      <p:sp>
        <p:nvSpPr>
          <p:cNvPr id="6" name="TextBox 5">
            <a:extLst>
              <a:ext uri="{FF2B5EF4-FFF2-40B4-BE49-F238E27FC236}">
                <a16:creationId xmlns:a16="http://schemas.microsoft.com/office/drawing/2014/main" id="{74432256-7A1B-4C96-23F4-3A44A97CEE01}"/>
              </a:ext>
            </a:extLst>
          </p:cNvPr>
          <p:cNvSpPr txBox="1"/>
          <p:nvPr/>
        </p:nvSpPr>
        <p:spPr>
          <a:xfrm>
            <a:off x="584200" y="891628"/>
            <a:ext cx="8697684" cy="738664"/>
          </a:xfrm>
          <a:prstGeom prst="rect">
            <a:avLst/>
          </a:prstGeom>
          <a:noFill/>
        </p:spPr>
        <p:txBody>
          <a:bodyPr wrap="square">
            <a:spAutoFit/>
          </a:bodyPr>
          <a:lstStyle/>
          <a:p>
            <a:endParaRPr lang="en-IN" sz="1400" b="1" dirty="0"/>
          </a:p>
          <a:p>
            <a:r>
              <a:rPr lang="en-IN" sz="1400" b="1" dirty="0"/>
              <a:t>Computer Vision models</a:t>
            </a:r>
            <a:r>
              <a:rPr lang="en-IN" sz="1400" dirty="0"/>
              <a:t> enable computers to understand and analyse </a:t>
            </a:r>
            <a:r>
              <a:rPr lang="en-IN" sz="1400" b="1" dirty="0"/>
              <a:t>images and videos</a:t>
            </a:r>
            <a:r>
              <a:rPr lang="en-IN" sz="1400" dirty="0"/>
              <a:t>.</a:t>
            </a:r>
          </a:p>
          <a:p>
            <a:pPr>
              <a:buNone/>
            </a:pPr>
            <a:endParaRPr lang="en-IN" sz="1400" dirty="0"/>
          </a:p>
        </p:txBody>
      </p:sp>
      <p:pic>
        <p:nvPicPr>
          <p:cNvPr id="3" name="Picture 2" descr="https://images.openai.com/static-rsc-4/gOmnhX01AlI4TYtEqSv7ShxPjcDJsaqWJ-lvJ9vDL0kH-b3zA_Ara2Eeik9Nye6Qc6oZd6Z-94pSaM8pWF1J5HtKaTwfdC_wK4UuhIeNyemp3JwXWyb4SLD5pLoA6QPWNOuZkSbHYxPuPmRMR5MxOFrjVUPrWStU1nVl2Rasg8OL68ZLJlgA_3py1Juu6UKm?purpose=fullsize">
            <a:extLst>
              <a:ext uri="{FF2B5EF4-FFF2-40B4-BE49-F238E27FC236}">
                <a16:creationId xmlns:a16="http://schemas.microsoft.com/office/drawing/2014/main" id="{2494EFA1-3161-E475-3C0D-88DC8C3AC0DB}"/>
              </a:ext>
            </a:extLst>
          </p:cNvPr>
          <p:cNvPicPr>
            <a:picLocks noChangeAspect="1"/>
          </p:cNvPicPr>
          <p:nvPr/>
        </p:nvPicPr>
        <p:blipFill>
          <a:blip r:embed="rId2"/>
          <a:stretch>
            <a:fillRect/>
          </a:stretch>
        </p:blipFill>
        <p:spPr>
          <a:xfrm>
            <a:off x="980209" y="1630292"/>
            <a:ext cx="7390748" cy="4134200"/>
          </a:xfrm>
          <a:prstGeom prst="rect">
            <a:avLst/>
          </a:prstGeom>
        </p:spPr>
      </p:pic>
      <p:sp>
        <p:nvSpPr>
          <p:cNvPr id="5" name="TextBox 4">
            <a:extLst>
              <a:ext uri="{FF2B5EF4-FFF2-40B4-BE49-F238E27FC236}">
                <a16:creationId xmlns:a16="http://schemas.microsoft.com/office/drawing/2014/main" id="{87B423E0-8CA4-B8A7-48F3-CF5FFF624DF6}"/>
              </a:ext>
            </a:extLst>
          </p:cNvPr>
          <p:cNvSpPr txBox="1"/>
          <p:nvPr/>
        </p:nvSpPr>
        <p:spPr>
          <a:xfrm>
            <a:off x="842818" y="6045956"/>
            <a:ext cx="6100618" cy="646331"/>
          </a:xfrm>
          <a:prstGeom prst="rect">
            <a:avLst/>
          </a:prstGeom>
          <a:noFill/>
        </p:spPr>
        <p:txBody>
          <a:bodyPr wrap="square">
            <a:spAutoFit/>
          </a:bodyPr>
          <a:lstStyle/>
          <a:p>
            <a:pPr>
              <a:buNone/>
            </a:pPr>
            <a:r>
              <a:rPr lang="en-IN" sz="1800" b="1" dirty="0"/>
              <a:t>Medical Imaging</a:t>
            </a:r>
          </a:p>
          <a:p>
            <a:pPr>
              <a:buNone/>
            </a:pPr>
            <a:r>
              <a:rPr lang="en-IN" sz="1800" dirty="0"/>
              <a:t>AI can </a:t>
            </a:r>
            <a:r>
              <a:rPr lang="en-IN" sz="1800" dirty="0" err="1"/>
              <a:t>analyze</a:t>
            </a:r>
            <a:r>
              <a:rPr lang="en-IN" sz="1800" dirty="0"/>
              <a:t> X-rays, CT scans, MRI images, etc.</a:t>
            </a:r>
          </a:p>
        </p:txBody>
      </p:sp>
    </p:spTree>
    <p:extLst>
      <p:ext uri="{BB962C8B-B14F-4D97-AF65-F5344CB8AC3E}">
        <p14:creationId xmlns:p14="http://schemas.microsoft.com/office/powerpoint/2010/main" val="141276175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75DE4-7588-DAED-3900-788586692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46413-DE25-2DA6-20EC-EE2ECF2B51E7}"/>
              </a:ext>
            </a:extLst>
          </p:cNvPr>
          <p:cNvSpPr>
            <a:spLocks noGrp="1"/>
          </p:cNvSpPr>
          <p:nvPr>
            <p:ph type="title"/>
          </p:nvPr>
        </p:nvSpPr>
        <p:spPr>
          <a:xfrm>
            <a:off x="685216" y="231228"/>
            <a:ext cx="8596668" cy="660400"/>
          </a:xfrm>
        </p:spPr>
        <p:txBody>
          <a:bodyPr>
            <a:normAutofit/>
          </a:bodyPr>
          <a:lstStyle/>
          <a:p>
            <a:r>
              <a:rPr lang="en-IN" sz="2800" dirty="0">
                <a:solidFill>
                  <a:schemeClr val="accent2"/>
                </a:solidFill>
              </a:rPr>
              <a:t>AI Spectrum-Models</a:t>
            </a:r>
            <a:endParaRPr lang="en-US" sz="2800" b="1" dirty="0">
              <a:solidFill>
                <a:srgbClr val="FF0000"/>
              </a:solidFill>
            </a:endParaRPr>
          </a:p>
        </p:txBody>
      </p:sp>
      <p:sp>
        <p:nvSpPr>
          <p:cNvPr id="8" name="TextBox 7">
            <a:extLst>
              <a:ext uri="{FF2B5EF4-FFF2-40B4-BE49-F238E27FC236}">
                <a16:creationId xmlns:a16="http://schemas.microsoft.com/office/drawing/2014/main" id="{81792BE8-7688-E696-6519-BEE0A10AA592}"/>
              </a:ext>
            </a:extLst>
          </p:cNvPr>
          <p:cNvSpPr txBox="1"/>
          <p:nvPr/>
        </p:nvSpPr>
        <p:spPr>
          <a:xfrm>
            <a:off x="1406236" y="1243134"/>
            <a:ext cx="7423727" cy="4801314"/>
          </a:xfrm>
          <a:prstGeom prst="rect">
            <a:avLst/>
          </a:prstGeom>
          <a:noFill/>
        </p:spPr>
        <p:txBody>
          <a:bodyPr wrap="square">
            <a:spAutoFit/>
          </a:bodyPr>
          <a:lstStyle/>
          <a:p>
            <a:r>
              <a:rPr lang="en-IN" dirty="0"/>
              <a:t> AI MODELS</a:t>
            </a:r>
          </a:p>
          <a:p>
            <a:r>
              <a:rPr lang="en-IN" dirty="0"/>
              <a:t>                        │</a:t>
            </a:r>
          </a:p>
          <a:p>
            <a:r>
              <a:rPr lang="en-IN" dirty="0"/>
              <a:t>        ┌───────────────┼────────────────┐</a:t>
            </a:r>
          </a:p>
          <a:p>
            <a:r>
              <a:rPr lang="en-IN" dirty="0"/>
              <a:t>        │               │                │</a:t>
            </a:r>
          </a:p>
          <a:p>
            <a:r>
              <a:rPr lang="en-IN" dirty="0"/>
              <a:t>   ML Models      Deep Learning     Generative Models</a:t>
            </a:r>
          </a:p>
          <a:p>
            <a:r>
              <a:rPr lang="en-IN" dirty="0"/>
              <a:t>        │               │                │</a:t>
            </a:r>
          </a:p>
          <a:p>
            <a:r>
              <a:rPr lang="en-IN" dirty="0"/>
              <a:t>        │        ┌──────┼──────┐         │</a:t>
            </a:r>
          </a:p>
          <a:p>
            <a:r>
              <a:rPr lang="en-IN" dirty="0"/>
              <a:t>        │        │      │      │         │</a:t>
            </a:r>
          </a:p>
          <a:p>
            <a:r>
              <a:rPr lang="en-IN" dirty="0"/>
              <a:t>        │       CNN    RNN Transformer   │</a:t>
            </a:r>
          </a:p>
          <a:p>
            <a:r>
              <a:rPr lang="en-IN" dirty="0"/>
              <a:t>        │        │      │      │         │</a:t>
            </a:r>
          </a:p>
          <a:p>
            <a:r>
              <a:rPr lang="en-IN" dirty="0"/>
              <a:t>        │        └──────┼──────┘         │</a:t>
            </a:r>
          </a:p>
          <a:p>
            <a:r>
              <a:rPr lang="en-IN" dirty="0"/>
              <a:t>        │               │                │</a:t>
            </a:r>
          </a:p>
          <a:p>
            <a:r>
              <a:rPr lang="en-IN" dirty="0"/>
              <a:t>        │       ┌───────┴───────┐        │</a:t>
            </a:r>
          </a:p>
          <a:p>
            <a:r>
              <a:rPr lang="en-IN" dirty="0"/>
              <a:t>        │       │               │        │</a:t>
            </a:r>
          </a:p>
          <a:p>
            <a:r>
              <a:rPr lang="en-IN" dirty="0"/>
              <a:t>   NLP Models              Computer Vision</a:t>
            </a:r>
          </a:p>
          <a:p>
            <a:r>
              <a:rPr lang="en-IN" dirty="0"/>
              <a:t>        │                         │</a:t>
            </a:r>
          </a:p>
          <a:p>
            <a:r>
              <a:rPr lang="en-IN" dirty="0"/>
              <a:t>        └──────── Hybrid Models ──┘</a:t>
            </a:r>
          </a:p>
        </p:txBody>
      </p:sp>
    </p:spTree>
    <p:extLst>
      <p:ext uri="{BB962C8B-B14F-4D97-AF65-F5344CB8AC3E}">
        <p14:creationId xmlns:p14="http://schemas.microsoft.com/office/powerpoint/2010/main" val="32274317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A78F4-2E0E-F3C5-73D6-35D4921594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78B91-75AC-BA37-0EF2-3EB153D51436}"/>
              </a:ext>
            </a:extLst>
          </p:cNvPr>
          <p:cNvSpPr>
            <a:spLocks noGrp="1"/>
          </p:cNvSpPr>
          <p:nvPr>
            <p:ph type="title"/>
          </p:nvPr>
        </p:nvSpPr>
        <p:spPr>
          <a:xfrm>
            <a:off x="685216" y="231228"/>
            <a:ext cx="8596668" cy="660400"/>
          </a:xfrm>
        </p:spPr>
        <p:txBody>
          <a:bodyPr>
            <a:normAutofit/>
          </a:bodyPr>
          <a:lstStyle/>
          <a:p>
            <a:r>
              <a:rPr lang="en-IN" sz="2800" dirty="0">
                <a:solidFill>
                  <a:schemeClr val="accent2"/>
                </a:solidFill>
              </a:rPr>
              <a:t>AI Spectrum-Models</a:t>
            </a:r>
            <a:endParaRPr lang="en-US" sz="2800" b="1" dirty="0">
              <a:solidFill>
                <a:srgbClr val="FF0000"/>
              </a:solidFill>
            </a:endParaRPr>
          </a:p>
        </p:txBody>
      </p:sp>
      <p:graphicFrame>
        <p:nvGraphicFramePr>
          <p:cNvPr id="3" name="Table 2">
            <a:extLst>
              <a:ext uri="{FF2B5EF4-FFF2-40B4-BE49-F238E27FC236}">
                <a16:creationId xmlns:a16="http://schemas.microsoft.com/office/drawing/2014/main" id="{3F0C9BDD-9612-69E6-0149-C580B25D920B}"/>
              </a:ext>
            </a:extLst>
          </p:cNvPr>
          <p:cNvGraphicFramePr>
            <a:graphicFrameLocks noGrp="1"/>
          </p:cNvGraphicFramePr>
          <p:nvPr/>
        </p:nvGraphicFramePr>
        <p:xfrm>
          <a:off x="685573" y="1623753"/>
          <a:ext cx="8596311" cy="2834640"/>
        </p:xfrm>
        <a:graphic>
          <a:graphicData uri="http://schemas.openxmlformats.org/drawingml/2006/table">
            <a:tbl>
              <a:tblPr/>
              <a:tblGrid>
                <a:gridCol w="2865437">
                  <a:extLst>
                    <a:ext uri="{9D8B030D-6E8A-4147-A177-3AD203B41FA5}">
                      <a16:colId xmlns:a16="http://schemas.microsoft.com/office/drawing/2014/main" val="1991978488"/>
                    </a:ext>
                  </a:extLst>
                </a:gridCol>
                <a:gridCol w="2865437">
                  <a:extLst>
                    <a:ext uri="{9D8B030D-6E8A-4147-A177-3AD203B41FA5}">
                      <a16:colId xmlns:a16="http://schemas.microsoft.com/office/drawing/2014/main" val="3326700455"/>
                    </a:ext>
                  </a:extLst>
                </a:gridCol>
                <a:gridCol w="2865437">
                  <a:extLst>
                    <a:ext uri="{9D8B030D-6E8A-4147-A177-3AD203B41FA5}">
                      <a16:colId xmlns:a16="http://schemas.microsoft.com/office/drawing/2014/main" val="217972613"/>
                    </a:ext>
                  </a:extLst>
                </a:gridCol>
              </a:tblGrid>
              <a:tr h="0">
                <a:tc>
                  <a:txBody>
                    <a:bodyPr/>
                    <a:lstStyle/>
                    <a:p>
                      <a:pPr>
                        <a:buNone/>
                      </a:pPr>
                      <a:r>
                        <a:rPr lang="en-IN"/>
                        <a:t>Model Type</a:t>
                      </a:r>
                    </a:p>
                  </a:txBody>
                  <a:tcPr anchor="ctr">
                    <a:lnL>
                      <a:noFill/>
                    </a:lnL>
                    <a:lnR>
                      <a:noFill/>
                    </a:lnR>
                    <a:lnT>
                      <a:noFill/>
                    </a:lnT>
                    <a:lnB>
                      <a:noFill/>
                    </a:lnB>
                    <a:noFill/>
                  </a:tcPr>
                </a:tc>
                <a:tc>
                  <a:txBody>
                    <a:bodyPr/>
                    <a:lstStyle/>
                    <a:p>
                      <a:pPr>
                        <a:buNone/>
                      </a:pPr>
                      <a:r>
                        <a:rPr lang="en-IN"/>
                        <a:t>Main Purpose</a:t>
                      </a:r>
                    </a:p>
                  </a:txBody>
                  <a:tcPr anchor="ctr">
                    <a:lnL>
                      <a:noFill/>
                    </a:lnL>
                    <a:lnR>
                      <a:noFill/>
                    </a:lnR>
                    <a:lnT>
                      <a:noFill/>
                    </a:lnT>
                    <a:lnB>
                      <a:noFill/>
                    </a:lnB>
                    <a:noFill/>
                  </a:tcPr>
                </a:tc>
                <a:tc>
                  <a:txBody>
                    <a:bodyPr/>
                    <a:lstStyle/>
                    <a:p>
                      <a:pPr>
                        <a:buNone/>
                      </a:pPr>
                      <a:r>
                        <a:rPr lang="en-IN"/>
                        <a:t>Example</a:t>
                      </a:r>
                    </a:p>
                  </a:txBody>
                  <a:tcPr anchor="ctr">
                    <a:lnL>
                      <a:noFill/>
                    </a:lnL>
                    <a:lnR>
                      <a:noFill/>
                    </a:lnR>
                    <a:lnT>
                      <a:noFill/>
                    </a:lnT>
                    <a:lnB>
                      <a:noFill/>
                    </a:lnB>
                    <a:noFill/>
                  </a:tcPr>
                </a:tc>
                <a:extLst>
                  <a:ext uri="{0D108BD9-81ED-4DB2-BD59-A6C34878D82A}">
                    <a16:rowId xmlns:a16="http://schemas.microsoft.com/office/drawing/2014/main" val="1276170353"/>
                  </a:ext>
                </a:extLst>
              </a:tr>
              <a:tr h="0">
                <a:tc>
                  <a:txBody>
                    <a:bodyPr/>
                    <a:lstStyle/>
                    <a:p>
                      <a:pPr>
                        <a:buNone/>
                      </a:pPr>
                      <a:r>
                        <a:rPr lang="en-IN" b="1" dirty="0"/>
                        <a:t>Machine Learning</a:t>
                      </a:r>
                      <a:endParaRPr lang="en-IN" dirty="0"/>
                    </a:p>
                  </a:txBody>
                  <a:tcPr anchor="ctr">
                    <a:lnL>
                      <a:noFill/>
                    </a:lnL>
                    <a:lnR>
                      <a:noFill/>
                    </a:lnR>
                    <a:lnT>
                      <a:noFill/>
                    </a:lnT>
                    <a:lnB>
                      <a:noFill/>
                    </a:lnB>
                    <a:noFill/>
                  </a:tcPr>
                </a:tc>
                <a:tc>
                  <a:txBody>
                    <a:bodyPr/>
                    <a:lstStyle/>
                    <a:p>
                      <a:pPr>
                        <a:buNone/>
                      </a:pPr>
                      <a:r>
                        <a:rPr lang="en-IN" dirty="0"/>
                        <a:t>Predict/classify</a:t>
                      </a:r>
                    </a:p>
                  </a:txBody>
                  <a:tcPr anchor="ctr">
                    <a:lnL>
                      <a:noFill/>
                    </a:lnL>
                    <a:lnR>
                      <a:noFill/>
                    </a:lnR>
                    <a:lnT>
                      <a:noFill/>
                    </a:lnT>
                    <a:lnB>
                      <a:noFill/>
                    </a:lnB>
                    <a:noFill/>
                  </a:tcPr>
                </a:tc>
                <a:tc>
                  <a:txBody>
                    <a:bodyPr/>
                    <a:lstStyle/>
                    <a:p>
                      <a:pPr>
                        <a:buNone/>
                      </a:pPr>
                      <a:r>
                        <a:rPr lang="en-IN"/>
                        <a:t>Fraud detection</a:t>
                      </a:r>
                    </a:p>
                  </a:txBody>
                  <a:tcPr anchor="ctr">
                    <a:lnL>
                      <a:noFill/>
                    </a:lnL>
                    <a:lnR>
                      <a:noFill/>
                    </a:lnR>
                    <a:lnT>
                      <a:noFill/>
                    </a:lnT>
                    <a:lnB>
                      <a:noFill/>
                    </a:lnB>
                    <a:noFill/>
                  </a:tcPr>
                </a:tc>
                <a:extLst>
                  <a:ext uri="{0D108BD9-81ED-4DB2-BD59-A6C34878D82A}">
                    <a16:rowId xmlns:a16="http://schemas.microsoft.com/office/drawing/2014/main" val="2618141540"/>
                  </a:ext>
                </a:extLst>
              </a:tr>
              <a:tr h="0">
                <a:tc>
                  <a:txBody>
                    <a:bodyPr/>
                    <a:lstStyle/>
                    <a:p>
                      <a:pPr>
                        <a:buNone/>
                      </a:pPr>
                      <a:r>
                        <a:rPr lang="en-IN" b="1"/>
                        <a:t>Deep Learning</a:t>
                      </a:r>
                      <a:endParaRPr lang="en-IN"/>
                    </a:p>
                  </a:txBody>
                  <a:tcPr anchor="ctr">
                    <a:lnL>
                      <a:noFill/>
                    </a:lnL>
                    <a:lnR>
                      <a:noFill/>
                    </a:lnR>
                    <a:lnT>
                      <a:noFill/>
                    </a:lnT>
                    <a:lnB>
                      <a:noFill/>
                    </a:lnB>
                    <a:noFill/>
                  </a:tcPr>
                </a:tc>
                <a:tc>
                  <a:txBody>
                    <a:bodyPr/>
                    <a:lstStyle/>
                    <a:p>
                      <a:pPr>
                        <a:buNone/>
                      </a:pPr>
                      <a:r>
                        <a:rPr lang="en-IN"/>
                        <a:t>Learn complex patterns</a:t>
                      </a:r>
                    </a:p>
                  </a:txBody>
                  <a:tcPr anchor="ctr">
                    <a:lnL>
                      <a:noFill/>
                    </a:lnL>
                    <a:lnR>
                      <a:noFill/>
                    </a:lnR>
                    <a:lnT>
                      <a:noFill/>
                    </a:lnT>
                    <a:lnB>
                      <a:noFill/>
                    </a:lnB>
                    <a:noFill/>
                  </a:tcPr>
                </a:tc>
                <a:tc>
                  <a:txBody>
                    <a:bodyPr/>
                    <a:lstStyle/>
                    <a:p>
                      <a:pPr>
                        <a:buNone/>
                      </a:pPr>
                      <a:r>
                        <a:rPr lang="en-IN"/>
                        <a:t>Face recognition</a:t>
                      </a:r>
                    </a:p>
                  </a:txBody>
                  <a:tcPr anchor="ctr">
                    <a:lnL>
                      <a:noFill/>
                    </a:lnL>
                    <a:lnR>
                      <a:noFill/>
                    </a:lnR>
                    <a:lnT>
                      <a:noFill/>
                    </a:lnT>
                    <a:lnB>
                      <a:noFill/>
                    </a:lnB>
                    <a:noFill/>
                  </a:tcPr>
                </a:tc>
                <a:extLst>
                  <a:ext uri="{0D108BD9-81ED-4DB2-BD59-A6C34878D82A}">
                    <a16:rowId xmlns:a16="http://schemas.microsoft.com/office/drawing/2014/main" val="2681127867"/>
                  </a:ext>
                </a:extLst>
              </a:tr>
              <a:tr h="0">
                <a:tc>
                  <a:txBody>
                    <a:bodyPr/>
                    <a:lstStyle/>
                    <a:p>
                      <a:pPr>
                        <a:buNone/>
                      </a:pPr>
                      <a:r>
                        <a:rPr lang="en-IN" b="1"/>
                        <a:t>Generative Models</a:t>
                      </a:r>
                      <a:endParaRPr lang="en-IN"/>
                    </a:p>
                  </a:txBody>
                  <a:tcPr anchor="ctr">
                    <a:lnL>
                      <a:noFill/>
                    </a:lnL>
                    <a:lnR>
                      <a:noFill/>
                    </a:lnR>
                    <a:lnT>
                      <a:noFill/>
                    </a:lnT>
                    <a:lnB>
                      <a:noFill/>
                    </a:lnB>
                    <a:noFill/>
                  </a:tcPr>
                </a:tc>
                <a:tc>
                  <a:txBody>
                    <a:bodyPr/>
                    <a:lstStyle/>
                    <a:p>
                      <a:pPr>
                        <a:buNone/>
                      </a:pPr>
                      <a:r>
                        <a:rPr lang="en-IN"/>
                        <a:t>Create new content</a:t>
                      </a:r>
                    </a:p>
                  </a:txBody>
                  <a:tcPr anchor="ctr">
                    <a:lnL>
                      <a:noFill/>
                    </a:lnL>
                    <a:lnR>
                      <a:noFill/>
                    </a:lnR>
                    <a:lnT>
                      <a:noFill/>
                    </a:lnT>
                    <a:lnB>
                      <a:noFill/>
                    </a:lnB>
                    <a:noFill/>
                  </a:tcPr>
                </a:tc>
                <a:tc>
                  <a:txBody>
                    <a:bodyPr/>
                    <a:lstStyle/>
                    <a:p>
                      <a:pPr>
                        <a:buNone/>
                      </a:pPr>
                      <a:r>
                        <a:rPr lang="en-IN"/>
                        <a:t>Generate text/image</a:t>
                      </a:r>
                    </a:p>
                  </a:txBody>
                  <a:tcPr anchor="ctr">
                    <a:lnL>
                      <a:noFill/>
                    </a:lnL>
                    <a:lnR>
                      <a:noFill/>
                    </a:lnR>
                    <a:lnT>
                      <a:noFill/>
                    </a:lnT>
                    <a:lnB>
                      <a:noFill/>
                    </a:lnB>
                    <a:noFill/>
                  </a:tcPr>
                </a:tc>
                <a:extLst>
                  <a:ext uri="{0D108BD9-81ED-4DB2-BD59-A6C34878D82A}">
                    <a16:rowId xmlns:a16="http://schemas.microsoft.com/office/drawing/2014/main" val="1544136071"/>
                  </a:ext>
                </a:extLst>
              </a:tr>
              <a:tr h="0">
                <a:tc>
                  <a:txBody>
                    <a:bodyPr/>
                    <a:lstStyle/>
                    <a:p>
                      <a:pPr>
                        <a:buNone/>
                      </a:pPr>
                      <a:r>
                        <a:rPr lang="en-IN" b="1"/>
                        <a:t>Hybrid Models</a:t>
                      </a:r>
                      <a:endParaRPr lang="en-IN"/>
                    </a:p>
                  </a:txBody>
                  <a:tcPr anchor="ctr">
                    <a:lnL>
                      <a:noFill/>
                    </a:lnL>
                    <a:lnR>
                      <a:noFill/>
                    </a:lnR>
                    <a:lnT>
                      <a:noFill/>
                    </a:lnT>
                    <a:lnB>
                      <a:noFill/>
                    </a:lnB>
                    <a:noFill/>
                  </a:tcPr>
                </a:tc>
                <a:tc>
                  <a:txBody>
                    <a:bodyPr/>
                    <a:lstStyle/>
                    <a:p>
                      <a:pPr>
                        <a:buNone/>
                      </a:pPr>
                      <a:r>
                        <a:rPr lang="en-IN"/>
                        <a:t>Combine techniques</a:t>
                      </a:r>
                    </a:p>
                  </a:txBody>
                  <a:tcPr anchor="ctr">
                    <a:lnL>
                      <a:noFill/>
                    </a:lnL>
                    <a:lnR>
                      <a:noFill/>
                    </a:lnR>
                    <a:lnT>
                      <a:noFill/>
                    </a:lnT>
                    <a:lnB>
                      <a:noFill/>
                    </a:lnB>
                    <a:noFill/>
                  </a:tcPr>
                </a:tc>
                <a:tc>
                  <a:txBody>
                    <a:bodyPr/>
                    <a:lstStyle/>
                    <a:p>
                      <a:pPr>
                        <a:buNone/>
                      </a:pPr>
                      <a:r>
                        <a:rPr lang="en-IN"/>
                        <a:t>AI customer-support system</a:t>
                      </a:r>
                    </a:p>
                  </a:txBody>
                  <a:tcPr anchor="ctr">
                    <a:lnL>
                      <a:noFill/>
                    </a:lnL>
                    <a:lnR>
                      <a:noFill/>
                    </a:lnR>
                    <a:lnT>
                      <a:noFill/>
                    </a:lnT>
                    <a:lnB>
                      <a:noFill/>
                    </a:lnB>
                    <a:noFill/>
                  </a:tcPr>
                </a:tc>
                <a:extLst>
                  <a:ext uri="{0D108BD9-81ED-4DB2-BD59-A6C34878D82A}">
                    <a16:rowId xmlns:a16="http://schemas.microsoft.com/office/drawing/2014/main" val="935167799"/>
                  </a:ext>
                </a:extLst>
              </a:tr>
              <a:tr h="0">
                <a:tc>
                  <a:txBody>
                    <a:bodyPr/>
                    <a:lstStyle/>
                    <a:p>
                      <a:pPr>
                        <a:buNone/>
                      </a:pPr>
                      <a:r>
                        <a:rPr lang="en-IN" b="1"/>
                        <a:t>NLP Models</a:t>
                      </a:r>
                      <a:endParaRPr lang="en-IN"/>
                    </a:p>
                  </a:txBody>
                  <a:tcPr anchor="ctr">
                    <a:lnL>
                      <a:noFill/>
                    </a:lnL>
                    <a:lnR>
                      <a:noFill/>
                    </a:lnR>
                    <a:lnT>
                      <a:noFill/>
                    </a:lnT>
                    <a:lnB>
                      <a:noFill/>
                    </a:lnB>
                    <a:noFill/>
                  </a:tcPr>
                </a:tc>
                <a:tc>
                  <a:txBody>
                    <a:bodyPr/>
                    <a:lstStyle/>
                    <a:p>
                      <a:pPr>
                        <a:buNone/>
                      </a:pPr>
                      <a:r>
                        <a:rPr lang="en-IN"/>
                        <a:t>Understand language</a:t>
                      </a:r>
                    </a:p>
                  </a:txBody>
                  <a:tcPr anchor="ctr">
                    <a:lnL>
                      <a:noFill/>
                    </a:lnL>
                    <a:lnR>
                      <a:noFill/>
                    </a:lnR>
                    <a:lnT>
                      <a:noFill/>
                    </a:lnT>
                    <a:lnB>
                      <a:noFill/>
                    </a:lnB>
                    <a:noFill/>
                  </a:tcPr>
                </a:tc>
                <a:tc>
                  <a:txBody>
                    <a:bodyPr/>
                    <a:lstStyle/>
                    <a:p>
                      <a:pPr>
                        <a:buNone/>
                      </a:pPr>
                      <a:r>
                        <a:rPr lang="en-IN"/>
                        <a:t>Chatbot</a:t>
                      </a:r>
                    </a:p>
                  </a:txBody>
                  <a:tcPr anchor="ctr">
                    <a:lnL>
                      <a:noFill/>
                    </a:lnL>
                    <a:lnR>
                      <a:noFill/>
                    </a:lnR>
                    <a:lnT>
                      <a:noFill/>
                    </a:lnT>
                    <a:lnB>
                      <a:noFill/>
                    </a:lnB>
                    <a:noFill/>
                  </a:tcPr>
                </a:tc>
                <a:extLst>
                  <a:ext uri="{0D108BD9-81ED-4DB2-BD59-A6C34878D82A}">
                    <a16:rowId xmlns:a16="http://schemas.microsoft.com/office/drawing/2014/main" val="2107109177"/>
                  </a:ext>
                </a:extLst>
              </a:tr>
              <a:tr h="0">
                <a:tc>
                  <a:txBody>
                    <a:bodyPr/>
                    <a:lstStyle/>
                    <a:p>
                      <a:pPr>
                        <a:buNone/>
                      </a:pPr>
                      <a:r>
                        <a:rPr lang="en-IN" b="1"/>
                        <a:t>Computer Vision</a:t>
                      </a:r>
                      <a:endParaRPr lang="en-IN"/>
                    </a:p>
                  </a:txBody>
                  <a:tcPr anchor="ctr">
                    <a:lnL>
                      <a:noFill/>
                    </a:lnL>
                    <a:lnR>
                      <a:noFill/>
                    </a:lnR>
                    <a:lnT>
                      <a:noFill/>
                    </a:lnT>
                    <a:lnB>
                      <a:noFill/>
                    </a:lnB>
                    <a:noFill/>
                  </a:tcPr>
                </a:tc>
                <a:tc>
                  <a:txBody>
                    <a:bodyPr/>
                    <a:lstStyle/>
                    <a:p>
                      <a:pPr>
                        <a:buNone/>
                      </a:pPr>
                      <a:r>
                        <a:rPr lang="en-IN"/>
                        <a:t>Understand images/video</a:t>
                      </a:r>
                    </a:p>
                  </a:txBody>
                  <a:tcPr anchor="ctr">
                    <a:lnL>
                      <a:noFill/>
                    </a:lnL>
                    <a:lnR>
                      <a:noFill/>
                    </a:lnR>
                    <a:lnT>
                      <a:noFill/>
                    </a:lnT>
                    <a:lnB>
                      <a:noFill/>
                    </a:lnB>
                    <a:noFill/>
                  </a:tcPr>
                </a:tc>
                <a:tc>
                  <a:txBody>
                    <a:bodyPr/>
                    <a:lstStyle/>
                    <a:p>
                      <a:pPr>
                        <a:buNone/>
                      </a:pPr>
                      <a:r>
                        <a:rPr lang="en-IN" dirty="0"/>
                        <a:t>Object detection</a:t>
                      </a:r>
                    </a:p>
                  </a:txBody>
                  <a:tcPr anchor="ctr">
                    <a:lnL>
                      <a:noFill/>
                    </a:lnL>
                    <a:lnR>
                      <a:noFill/>
                    </a:lnR>
                    <a:lnT>
                      <a:noFill/>
                    </a:lnT>
                    <a:lnB>
                      <a:noFill/>
                    </a:lnB>
                    <a:noFill/>
                  </a:tcPr>
                </a:tc>
                <a:extLst>
                  <a:ext uri="{0D108BD9-81ED-4DB2-BD59-A6C34878D82A}">
                    <a16:rowId xmlns:a16="http://schemas.microsoft.com/office/drawing/2014/main" val="2952844877"/>
                  </a:ext>
                </a:extLst>
              </a:tr>
            </a:tbl>
          </a:graphicData>
        </a:graphic>
      </p:graphicFrame>
      <p:sp>
        <p:nvSpPr>
          <p:cNvPr id="5" name="TextBox 4">
            <a:extLst>
              <a:ext uri="{FF2B5EF4-FFF2-40B4-BE49-F238E27FC236}">
                <a16:creationId xmlns:a16="http://schemas.microsoft.com/office/drawing/2014/main" id="{09A19D98-FD40-6C5C-F548-73CAED021F65}"/>
              </a:ext>
            </a:extLst>
          </p:cNvPr>
          <p:cNvSpPr txBox="1"/>
          <p:nvPr/>
        </p:nvSpPr>
        <p:spPr>
          <a:xfrm>
            <a:off x="685216" y="891628"/>
            <a:ext cx="6100618" cy="369332"/>
          </a:xfrm>
          <a:prstGeom prst="rect">
            <a:avLst/>
          </a:prstGeom>
          <a:noFill/>
        </p:spPr>
        <p:txBody>
          <a:bodyPr wrap="square">
            <a:spAutoFit/>
          </a:bodyPr>
          <a:lstStyle/>
          <a:p>
            <a:pPr>
              <a:buNone/>
            </a:pPr>
            <a:r>
              <a:rPr lang="en-IN" b="1" dirty="0"/>
              <a:t>Quick Comparison</a:t>
            </a:r>
          </a:p>
        </p:txBody>
      </p:sp>
    </p:spTree>
    <p:extLst>
      <p:ext uri="{BB962C8B-B14F-4D97-AF65-F5344CB8AC3E}">
        <p14:creationId xmlns:p14="http://schemas.microsoft.com/office/powerpoint/2010/main" val="3432372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35B4-AEA8-3667-9981-31F9B757D7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D1094-8956-0BAA-8A4F-E8FD17662BAC}"/>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Datasets</a:t>
            </a:r>
            <a:endParaRPr lang="en-US" sz="3200" b="1" dirty="0">
              <a:solidFill>
                <a:srgbClr val="FF0000"/>
              </a:solidFill>
            </a:endParaRPr>
          </a:p>
        </p:txBody>
      </p:sp>
      <p:sp>
        <p:nvSpPr>
          <p:cNvPr id="4" name="Content Placeholder 3">
            <a:extLst>
              <a:ext uri="{FF2B5EF4-FFF2-40B4-BE49-F238E27FC236}">
                <a16:creationId xmlns:a16="http://schemas.microsoft.com/office/drawing/2014/main" id="{6A9BB801-AEE5-924E-AA91-3501AF3181AA}"/>
              </a:ext>
            </a:extLst>
          </p:cNvPr>
          <p:cNvSpPr>
            <a:spLocks noGrp="1"/>
          </p:cNvSpPr>
          <p:nvPr>
            <p:ph idx="1"/>
          </p:nvPr>
        </p:nvSpPr>
        <p:spPr>
          <a:xfrm>
            <a:off x="685216" y="891628"/>
            <a:ext cx="9105170" cy="5735144"/>
          </a:xfrm>
        </p:spPr>
        <p:txBody>
          <a:bodyPr>
            <a:noAutofit/>
          </a:bodyPr>
          <a:lstStyle/>
          <a:p>
            <a:r>
              <a:rPr lang="en-IN" sz="1600" dirty="0">
                <a:solidFill>
                  <a:schemeClr val="tx1"/>
                </a:solidFill>
              </a:rPr>
              <a:t>A dataset is a structured collection of related data, usually organized in rows and columns that represents information about a specific category or domain. </a:t>
            </a:r>
          </a:p>
          <a:p>
            <a:r>
              <a:rPr lang="en-IN" sz="1600" dirty="0">
                <a:solidFill>
                  <a:schemeClr val="tx1"/>
                </a:solidFill>
              </a:rPr>
              <a:t>It forms the foundation for many operations, techniques and models used across industries.</a:t>
            </a:r>
            <a:endParaRPr lang="en-US" sz="1600" dirty="0">
              <a:solidFill>
                <a:schemeClr val="tx1"/>
              </a:solidFill>
            </a:endParaRPr>
          </a:p>
        </p:txBody>
      </p:sp>
      <p:pic>
        <p:nvPicPr>
          <p:cNvPr id="3" name="Picture 2" descr="components_of_a_dataset">
            <a:extLst>
              <a:ext uri="{FF2B5EF4-FFF2-40B4-BE49-F238E27FC236}">
                <a16:creationId xmlns:a16="http://schemas.microsoft.com/office/drawing/2014/main" id="{F9C33E40-425C-8BFB-3E64-19361D905A7D}"/>
              </a:ext>
            </a:extLst>
          </p:cNvPr>
          <p:cNvPicPr>
            <a:picLocks noChangeAspect="1"/>
          </p:cNvPicPr>
          <p:nvPr/>
        </p:nvPicPr>
        <p:blipFill>
          <a:blip r:embed="rId2"/>
          <a:stretch>
            <a:fillRect/>
          </a:stretch>
        </p:blipFill>
        <p:spPr>
          <a:xfrm>
            <a:off x="1744072" y="2521528"/>
            <a:ext cx="6116073" cy="3740408"/>
          </a:xfrm>
          <a:prstGeom prst="rect">
            <a:avLst/>
          </a:prstGeom>
        </p:spPr>
      </p:pic>
    </p:spTree>
    <p:extLst>
      <p:ext uri="{BB962C8B-B14F-4D97-AF65-F5344CB8AC3E}">
        <p14:creationId xmlns:p14="http://schemas.microsoft.com/office/powerpoint/2010/main" val="184059727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76037-5792-34DB-6A33-5AC214BF6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85DE3-CA0A-508B-A2E6-630E8FD46B39}"/>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Datasets</a:t>
            </a:r>
            <a:endParaRPr lang="en-US" sz="3200" b="1" dirty="0">
              <a:solidFill>
                <a:srgbClr val="FF0000"/>
              </a:solidFill>
            </a:endParaRPr>
          </a:p>
        </p:txBody>
      </p:sp>
      <p:sp>
        <p:nvSpPr>
          <p:cNvPr id="6" name="TextBox 5">
            <a:extLst>
              <a:ext uri="{FF2B5EF4-FFF2-40B4-BE49-F238E27FC236}">
                <a16:creationId xmlns:a16="http://schemas.microsoft.com/office/drawing/2014/main" id="{9EAF216C-A6BC-29D9-E8A3-1453730DBB23}"/>
              </a:ext>
            </a:extLst>
          </p:cNvPr>
          <p:cNvSpPr txBox="1"/>
          <p:nvPr/>
        </p:nvSpPr>
        <p:spPr>
          <a:xfrm>
            <a:off x="685216" y="1229680"/>
            <a:ext cx="9363948" cy="4444807"/>
          </a:xfrm>
          <a:prstGeom prst="rect">
            <a:avLst/>
          </a:prstGeom>
          <a:noFill/>
        </p:spPr>
        <p:txBody>
          <a:bodyPr wrap="square">
            <a:spAutoFit/>
          </a:bodyPr>
          <a:lstStyle/>
          <a:p>
            <a:pPr marL="0" marR="0" indent="0" algn="l" rtl="0" fontAlgn="base">
              <a:spcAft>
                <a:spcPts val="750"/>
              </a:spcAft>
              <a:buNone/>
            </a:pPr>
            <a:r>
              <a:rPr lang="en-IN" sz="1600" b="0" i="0" spc="12" dirty="0">
                <a:solidFill>
                  <a:srgbClr val="273239"/>
                </a:solidFill>
                <a:effectLst/>
              </a:rPr>
              <a:t>For example, A student dataset may include rows for each student and columns for attributes like name, age, grade and marks.</a:t>
            </a:r>
            <a:endParaRPr lang="en-IN" sz="1600" b="0" i="0" spc="10" dirty="0">
              <a:solidFill>
                <a:srgbClr val="273239"/>
              </a:solidFill>
              <a:effectLst/>
            </a:endParaRPr>
          </a:p>
          <a:p>
            <a:pPr marL="0" marR="0" indent="0" algn="l" fontAlgn="base">
              <a:lnSpc>
                <a:spcPts val="2100"/>
              </a:lnSpc>
              <a:buNone/>
            </a:pPr>
            <a:r>
              <a:rPr lang="en-IN" sz="1600" b="1" i="0" spc="12" dirty="0">
                <a:solidFill>
                  <a:srgbClr val="273239"/>
                </a:solidFill>
                <a:effectLst/>
              </a:rPr>
              <a:t>Importance of Dataset</a:t>
            </a:r>
            <a:endParaRPr lang="en-IN" sz="1600" b="1" i="0" spc="0" dirty="0">
              <a:solidFill>
                <a:srgbClr val="273239"/>
              </a:solidFill>
              <a:effectLst/>
            </a:endParaRPr>
          </a:p>
          <a:p>
            <a:pPr marL="0" marR="0" indent="0" algn="l" rtl="0" fontAlgn="base">
              <a:spcAft>
                <a:spcPts val="750"/>
              </a:spcAft>
              <a:buNone/>
            </a:pPr>
            <a:r>
              <a:rPr lang="en-IN" sz="1600" b="0" i="0" spc="12" dirty="0">
                <a:solidFill>
                  <a:srgbClr val="273239"/>
                </a:solidFill>
                <a:effectLst/>
              </a:rPr>
              <a:t>Some reasons why datasets are important in analysis and machine learning are:</a:t>
            </a:r>
            <a:endParaRPr lang="en-IN" sz="1600" b="0" i="0" spc="10" dirty="0">
              <a:solidFill>
                <a:srgbClr val="273239"/>
              </a:solidFill>
              <a:effectLst/>
            </a:endParaRPr>
          </a:p>
          <a:p>
            <a:pPr marL="342900" marR="0" lvl="0" indent="-342900" algn="l" fontAlgn="base">
              <a:spcAft>
                <a:spcPts val="1800"/>
              </a:spcAft>
              <a:buFont typeface="+mj-lt"/>
              <a:buAutoNum type="arabicPeriod"/>
            </a:pPr>
            <a:r>
              <a:rPr lang="en-IN" sz="1600" b="1" i="0" spc="10" dirty="0">
                <a:solidFill>
                  <a:srgbClr val="273239"/>
                </a:solidFill>
                <a:effectLst/>
              </a:rPr>
              <a:t>Analysis:</a:t>
            </a:r>
            <a:r>
              <a:rPr lang="en-IN" sz="1600" b="0" i="0" spc="12" dirty="0">
                <a:solidFill>
                  <a:srgbClr val="273239"/>
                </a:solidFill>
                <a:effectLst/>
              </a:rPr>
              <a:t> Provide the raw material required for analysis and decision making.</a:t>
            </a:r>
            <a:endParaRPr lang="en-IN" sz="1600" b="0" i="0" spc="10" dirty="0">
              <a:solidFill>
                <a:srgbClr val="273239"/>
              </a:solidFill>
              <a:effectLst/>
            </a:endParaRPr>
          </a:p>
          <a:p>
            <a:pPr marL="342900" marR="0" lvl="0" indent="-342900" algn="l" fontAlgn="base">
              <a:spcAft>
                <a:spcPts val="1800"/>
              </a:spcAft>
              <a:buFont typeface="+mj-lt"/>
              <a:buAutoNum type="arabicPeriod" startAt="2"/>
            </a:pPr>
            <a:r>
              <a:rPr lang="en-IN" sz="1600" b="1" i="0" spc="10" dirty="0">
                <a:solidFill>
                  <a:srgbClr val="273239"/>
                </a:solidFill>
                <a:effectLst/>
              </a:rPr>
              <a:t>Training Machine Learning Models:</a:t>
            </a:r>
            <a:r>
              <a:rPr lang="en-IN" sz="1600" b="0" i="0" spc="12" dirty="0">
                <a:solidFill>
                  <a:srgbClr val="273239"/>
                </a:solidFill>
                <a:effectLst/>
              </a:rPr>
              <a:t> Enable the training and testing of machine learning and AI models.</a:t>
            </a:r>
            <a:endParaRPr lang="en-IN" sz="1600" b="0" i="0" spc="10" dirty="0">
              <a:solidFill>
                <a:srgbClr val="273239"/>
              </a:solidFill>
              <a:effectLst/>
            </a:endParaRPr>
          </a:p>
          <a:p>
            <a:pPr marL="342900" marR="0" lvl="0" indent="-342900" algn="l" fontAlgn="base">
              <a:spcAft>
                <a:spcPts val="1800"/>
              </a:spcAft>
              <a:buFont typeface="+mj-lt"/>
              <a:buAutoNum type="arabicPeriod" startAt="3"/>
            </a:pPr>
            <a:r>
              <a:rPr lang="en-IN" sz="1600" b="1" i="0" spc="10" dirty="0">
                <a:solidFill>
                  <a:srgbClr val="273239"/>
                </a:solidFill>
                <a:effectLst/>
              </a:rPr>
              <a:t>Discover Patterns and Correlations: </a:t>
            </a:r>
            <a:r>
              <a:rPr lang="en-IN" sz="1600" b="0" i="0" spc="12" dirty="0">
                <a:solidFill>
                  <a:srgbClr val="273239"/>
                </a:solidFill>
                <a:effectLst/>
              </a:rPr>
              <a:t>Help uncover patterns, correlations and insights across domains.</a:t>
            </a:r>
            <a:endParaRPr lang="en-IN" sz="1600" b="0" i="0" spc="10" dirty="0">
              <a:solidFill>
                <a:srgbClr val="273239"/>
              </a:solidFill>
              <a:effectLst/>
            </a:endParaRPr>
          </a:p>
          <a:p>
            <a:pPr marL="342900" marR="0" lvl="0" indent="-342900" algn="l" fontAlgn="base">
              <a:spcAft>
                <a:spcPts val="1800"/>
              </a:spcAft>
              <a:buFont typeface="+mj-lt"/>
              <a:buAutoNum type="arabicPeriod" startAt="4"/>
            </a:pPr>
            <a:r>
              <a:rPr lang="en-IN" sz="1600" b="1" i="0" spc="10" dirty="0">
                <a:solidFill>
                  <a:srgbClr val="273239"/>
                </a:solidFill>
                <a:effectLst/>
              </a:rPr>
              <a:t>Innovation:</a:t>
            </a:r>
            <a:r>
              <a:rPr lang="en-IN" sz="1600" b="0" i="0" spc="12" dirty="0">
                <a:solidFill>
                  <a:srgbClr val="273239"/>
                </a:solidFill>
                <a:effectLst/>
              </a:rPr>
              <a:t> Support research and development in industries like healthcare, finance and education.</a:t>
            </a:r>
            <a:endParaRPr lang="en-IN" sz="1600" b="0" i="0" spc="10" dirty="0">
              <a:solidFill>
                <a:srgbClr val="273239"/>
              </a:solidFill>
              <a:effectLst/>
            </a:endParaRPr>
          </a:p>
          <a:p>
            <a:pPr marL="342900" marR="0" lvl="0" indent="-342900" algn="l" fontAlgn="base">
              <a:spcAft>
                <a:spcPts val="1800"/>
              </a:spcAft>
              <a:buFont typeface="+mj-lt"/>
              <a:buAutoNum type="arabicPeriod" startAt="5"/>
            </a:pPr>
            <a:r>
              <a:rPr lang="en-IN" sz="1600" b="1" i="0" spc="10" dirty="0">
                <a:solidFill>
                  <a:srgbClr val="273239"/>
                </a:solidFill>
                <a:effectLst/>
              </a:rPr>
              <a:t>Evaluation and Standards:</a:t>
            </a:r>
            <a:r>
              <a:rPr lang="en-IN" sz="1600" b="0" i="0" spc="12" dirty="0">
                <a:solidFill>
                  <a:srgbClr val="273239"/>
                </a:solidFill>
                <a:effectLst/>
              </a:rPr>
              <a:t> Allow reproducibility and benchmarking in academic and professional projects.</a:t>
            </a:r>
            <a:endParaRPr lang="en-IN" sz="1600" b="0" i="0" spc="10" dirty="0">
              <a:solidFill>
                <a:srgbClr val="273239"/>
              </a:solidFill>
              <a:effectLst/>
            </a:endParaRPr>
          </a:p>
        </p:txBody>
      </p:sp>
    </p:spTree>
    <p:extLst>
      <p:ext uri="{BB962C8B-B14F-4D97-AF65-F5344CB8AC3E}">
        <p14:creationId xmlns:p14="http://schemas.microsoft.com/office/powerpoint/2010/main" val="6454584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B3FE2-C405-269D-BA86-AE53BDDE74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504B2-19B6-6F98-467C-71B2E03E336F}"/>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Types of Dataset</a:t>
            </a:r>
            <a:br>
              <a:rPr lang="en-IN" sz="3200" b="1" dirty="0">
                <a:solidFill>
                  <a:srgbClr val="273239"/>
                </a:solidFill>
                <a:latin typeface="Nunito" pitchFamily="2" charset="0"/>
              </a:rPr>
            </a:br>
            <a:endParaRPr lang="en-US" sz="3200" b="1" dirty="0">
              <a:solidFill>
                <a:srgbClr val="FF0000"/>
              </a:solidFill>
            </a:endParaRPr>
          </a:p>
        </p:txBody>
      </p:sp>
      <p:sp>
        <p:nvSpPr>
          <p:cNvPr id="4" name="TextBox 3">
            <a:extLst>
              <a:ext uri="{FF2B5EF4-FFF2-40B4-BE49-F238E27FC236}">
                <a16:creationId xmlns:a16="http://schemas.microsoft.com/office/drawing/2014/main" id="{185F8C22-5AF3-D0BC-428A-3BB41BC9A29C}"/>
              </a:ext>
            </a:extLst>
          </p:cNvPr>
          <p:cNvSpPr txBox="1"/>
          <p:nvPr/>
        </p:nvSpPr>
        <p:spPr>
          <a:xfrm>
            <a:off x="842817" y="1073338"/>
            <a:ext cx="8596668" cy="5519460"/>
          </a:xfrm>
          <a:prstGeom prst="rect">
            <a:avLst/>
          </a:prstGeom>
          <a:noFill/>
        </p:spPr>
        <p:txBody>
          <a:bodyPr wrap="square">
            <a:spAutoFit/>
          </a:bodyPr>
          <a:lstStyle/>
          <a:p>
            <a:pPr marL="0" marR="0" indent="0" algn="l" rtl="0" fontAlgn="base">
              <a:spcAft>
                <a:spcPts val="750"/>
              </a:spcAft>
              <a:buNone/>
            </a:pPr>
            <a:r>
              <a:rPr lang="en-IN" sz="1600" b="0" i="0" spc="12" dirty="0">
                <a:solidFill>
                  <a:srgbClr val="273239"/>
                </a:solidFill>
                <a:effectLst/>
                <a:latin typeface="+mj-lt"/>
              </a:rPr>
              <a:t>There are various types of datasets available out there. Some of them are:</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a:pPr>
            <a:r>
              <a:rPr lang="en-IN" sz="1600" b="1" i="0" spc="10" dirty="0">
                <a:solidFill>
                  <a:srgbClr val="273239"/>
                </a:solidFill>
                <a:effectLst/>
                <a:latin typeface="+mj-lt"/>
              </a:rPr>
              <a:t>Numerical Dataset:</a:t>
            </a:r>
            <a:r>
              <a:rPr lang="en-IN" sz="1600" b="0" i="0" spc="12" dirty="0">
                <a:solidFill>
                  <a:srgbClr val="273239"/>
                </a:solidFill>
                <a:effectLst/>
                <a:latin typeface="+mj-lt"/>
              </a:rPr>
              <a:t> Contains numeric data points that can be </a:t>
            </a:r>
            <a:r>
              <a:rPr lang="en-IN" sz="1600" b="0" i="0" spc="12" dirty="0" err="1">
                <a:solidFill>
                  <a:srgbClr val="273239"/>
                </a:solidFill>
                <a:effectLst/>
                <a:latin typeface="+mj-lt"/>
              </a:rPr>
              <a:t>analyzed</a:t>
            </a:r>
            <a:r>
              <a:rPr lang="en-IN" sz="1600" b="0" i="0" spc="12" dirty="0">
                <a:solidFill>
                  <a:srgbClr val="273239"/>
                </a:solidFill>
                <a:effectLst/>
                <a:latin typeface="+mj-lt"/>
              </a:rPr>
              <a:t> using mathematical or statistical methods. For example temperature dataset.</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2"/>
            </a:pPr>
            <a:r>
              <a:rPr lang="en-IN" sz="1600" b="1" i="0" spc="10" dirty="0">
                <a:solidFill>
                  <a:srgbClr val="273239"/>
                </a:solidFill>
                <a:effectLst/>
                <a:latin typeface="+mj-lt"/>
              </a:rPr>
              <a:t>Categorical Dataset: </a:t>
            </a:r>
            <a:r>
              <a:rPr lang="en-IN" sz="1600" b="0" i="0" spc="12" dirty="0">
                <a:solidFill>
                  <a:srgbClr val="273239"/>
                </a:solidFill>
                <a:effectLst/>
                <a:latin typeface="+mj-lt"/>
              </a:rPr>
              <a:t>Represents discrete categories or groups such as </a:t>
            </a:r>
            <a:r>
              <a:rPr lang="en-IN" sz="1600" b="0" i="0" spc="12" dirty="0" err="1">
                <a:solidFill>
                  <a:srgbClr val="273239"/>
                </a:solidFill>
                <a:effectLst/>
                <a:latin typeface="+mj-lt"/>
              </a:rPr>
              <a:t>color</a:t>
            </a:r>
            <a:r>
              <a:rPr lang="en-IN" sz="1600" b="0" i="0" spc="12" dirty="0">
                <a:solidFill>
                  <a:srgbClr val="273239"/>
                </a:solidFill>
                <a:effectLst/>
                <a:latin typeface="+mj-lt"/>
              </a:rPr>
              <a:t>, gender, occupation or sports.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3"/>
            </a:pPr>
            <a:r>
              <a:rPr lang="en-IN" sz="1600" b="1" i="0" spc="10" dirty="0">
                <a:solidFill>
                  <a:srgbClr val="273239"/>
                </a:solidFill>
                <a:effectLst/>
                <a:latin typeface="+mj-lt"/>
              </a:rPr>
              <a:t>Time Series Dataset: </a:t>
            </a:r>
            <a:r>
              <a:rPr lang="en-IN" sz="1600" b="0" i="0" spc="12" dirty="0">
                <a:solidFill>
                  <a:srgbClr val="273239"/>
                </a:solidFill>
                <a:effectLst/>
                <a:latin typeface="+mj-lt"/>
              </a:rPr>
              <a:t>Records data over a period of time to track trends or changes. For example stock prices.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4"/>
            </a:pPr>
            <a:r>
              <a:rPr lang="en-IN" sz="1600" b="1" i="0" spc="10" dirty="0">
                <a:solidFill>
                  <a:srgbClr val="273239"/>
                </a:solidFill>
                <a:effectLst/>
                <a:latin typeface="+mj-lt"/>
              </a:rPr>
              <a:t>Ordered Dataset: </a:t>
            </a:r>
            <a:r>
              <a:rPr lang="en-IN" sz="1600" b="0" i="0" spc="12" dirty="0">
                <a:solidFill>
                  <a:srgbClr val="273239"/>
                </a:solidFill>
                <a:effectLst/>
                <a:latin typeface="+mj-lt"/>
              </a:rPr>
              <a:t>Contains ranked or ordinal data where the order matters but not the exact difference between values. Example can be customer reviews, survey ratings or movie rankings.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5"/>
            </a:pPr>
            <a:r>
              <a:rPr lang="en-IN" sz="1600" b="1" i="0" spc="10" dirty="0">
                <a:solidFill>
                  <a:srgbClr val="273239"/>
                </a:solidFill>
                <a:effectLst/>
                <a:latin typeface="+mj-lt"/>
              </a:rPr>
              <a:t>Image Dataset:</a:t>
            </a:r>
            <a:r>
              <a:rPr lang="en-IN" sz="1600" b="0" i="0" spc="12" dirty="0">
                <a:solidFill>
                  <a:srgbClr val="273239"/>
                </a:solidFill>
                <a:effectLst/>
                <a:latin typeface="+mj-lt"/>
              </a:rPr>
              <a:t> Consists of images used for classification, recognition or analysis tasks. For example medical imaging for disease detection.</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6"/>
            </a:pPr>
            <a:r>
              <a:rPr lang="en-IN" sz="1600" b="1" i="0" spc="10" dirty="0">
                <a:solidFill>
                  <a:srgbClr val="273239"/>
                </a:solidFill>
                <a:effectLst/>
                <a:latin typeface="+mj-lt"/>
              </a:rPr>
              <a:t>Web Dataset: </a:t>
            </a:r>
            <a:r>
              <a:rPr lang="en-IN" sz="1600" b="0" i="0" spc="12" dirty="0">
                <a:solidFill>
                  <a:srgbClr val="273239"/>
                </a:solidFill>
                <a:effectLst/>
                <a:latin typeface="+mj-lt"/>
              </a:rPr>
              <a:t>Collected from APIs or web sources, usually stored in structured formats like JSON for further analysis.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7"/>
            </a:pPr>
            <a:r>
              <a:rPr lang="en-IN" sz="1600" b="1" i="0" spc="10" dirty="0">
                <a:solidFill>
                  <a:srgbClr val="273239"/>
                </a:solidFill>
                <a:effectLst/>
                <a:latin typeface="+mj-lt"/>
              </a:rPr>
              <a:t>File based Dataset: </a:t>
            </a:r>
            <a:r>
              <a:rPr lang="en-IN" sz="1600" b="0" i="0" spc="12" dirty="0">
                <a:solidFill>
                  <a:srgbClr val="273239"/>
                </a:solidFill>
                <a:effectLst/>
                <a:latin typeface="+mj-lt"/>
              </a:rPr>
              <a:t>Stored in files such as CSV, Excel (.xlsx) or text files for easy access and manipulation.</a:t>
            </a:r>
            <a:endParaRPr lang="en-IN" sz="1600" b="0" i="0" spc="10" dirty="0">
              <a:solidFill>
                <a:srgbClr val="273239"/>
              </a:solidFill>
              <a:effectLst/>
              <a:latin typeface="+mj-lt"/>
            </a:endParaRPr>
          </a:p>
        </p:txBody>
      </p:sp>
    </p:spTree>
    <p:extLst>
      <p:ext uri="{BB962C8B-B14F-4D97-AF65-F5344CB8AC3E}">
        <p14:creationId xmlns:p14="http://schemas.microsoft.com/office/powerpoint/2010/main" val="20278375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EEE0B-6777-F9F8-CF3E-F83B4EECB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D7F20-E141-A3F9-8068-F36BB0891A4B}"/>
              </a:ext>
            </a:extLst>
          </p:cNvPr>
          <p:cNvSpPr>
            <a:spLocks noGrp="1"/>
          </p:cNvSpPr>
          <p:nvPr>
            <p:ph type="title"/>
          </p:nvPr>
        </p:nvSpPr>
        <p:spPr>
          <a:xfrm>
            <a:off x="685216" y="231228"/>
            <a:ext cx="8596668" cy="1320800"/>
          </a:xfrm>
        </p:spPr>
        <p:txBody>
          <a:bodyPr>
            <a:normAutofit fontScale="90000"/>
          </a:bodyPr>
          <a:lstStyle/>
          <a:p>
            <a:r>
              <a:rPr lang="en-IN" sz="3200" dirty="0">
                <a:solidFill>
                  <a:schemeClr val="accent2"/>
                </a:solidFill>
              </a:rPr>
              <a:t>AI Spectrum - Features of a Dataset</a:t>
            </a:r>
            <a:br>
              <a:rPr lang="en-IN" sz="3200" b="1" spc="12" dirty="0">
                <a:solidFill>
                  <a:srgbClr val="273239"/>
                </a:solidFill>
              </a:rPr>
            </a:br>
            <a:br>
              <a:rPr lang="en-IN" sz="3200" b="1" dirty="0">
                <a:solidFill>
                  <a:srgbClr val="273239"/>
                </a:solidFill>
                <a:latin typeface="Nunito" pitchFamily="2" charset="0"/>
              </a:rPr>
            </a:br>
            <a:endParaRPr lang="en-US" sz="3200" b="1" dirty="0">
              <a:solidFill>
                <a:srgbClr val="FF0000"/>
              </a:solidFill>
            </a:endParaRPr>
          </a:p>
        </p:txBody>
      </p:sp>
      <p:sp>
        <p:nvSpPr>
          <p:cNvPr id="5" name="TextBox 4">
            <a:extLst>
              <a:ext uri="{FF2B5EF4-FFF2-40B4-BE49-F238E27FC236}">
                <a16:creationId xmlns:a16="http://schemas.microsoft.com/office/drawing/2014/main" id="{1CF8A4FD-45A0-B5D7-F9B1-9F1228BDC2E7}"/>
              </a:ext>
            </a:extLst>
          </p:cNvPr>
          <p:cNvSpPr txBox="1"/>
          <p:nvPr/>
        </p:nvSpPr>
        <p:spPr>
          <a:xfrm>
            <a:off x="685215" y="1186235"/>
            <a:ext cx="8274057" cy="3849772"/>
          </a:xfrm>
          <a:prstGeom prst="rect">
            <a:avLst/>
          </a:prstGeom>
          <a:noFill/>
        </p:spPr>
        <p:txBody>
          <a:bodyPr wrap="square">
            <a:spAutoFit/>
          </a:bodyPr>
          <a:lstStyle/>
          <a:p>
            <a:pPr marL="0" marR="0" indent="0" algn="l" fontAlgn="base">
              <a:lnSpc>
                <a:spcPts val="2100"/>
              </a:lnSpc>
              <a:buNone/>
            </a:pPr>
            <a:endParaRPr lang="en-IN" sz="1600" b="1" i="0" spc="0" dirty="0">
              <a:solidFill>
                <a:srgbClr val="273239"/>
              </a:solidFill>
              <a:effectLst/>
              <a:latin typeface="+mj-lt"/>
            </a:endParaRPr>
          </a:p>
          <a:p>
            <a:pPr marL="0" marR="0" indent="0" algn="l" rtl="0" fontAlgn="base">
              <a:spcAft>
                <a:spcPts val="750"/>
              </a:spcAft>
              <a:buNone/>
            </a:pPr>
            <a:r>
              <a:rPr lang="en-IN" sz="1600" b="0" i="0" spc="12" dirty="0">
                <a:solidFill>
                  <a:srgbClr val="273239"/>
                </a:solidFill>
                <a:effectLst/>
                <a:latin typeface="+mj-lt"/>
              </a:rPr>
              <a:t>Some possible features of a dataset are:</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a:pPr>
            <a:r>
              <a:rPr lang="en-IN" sz="1600" b="1" i="0" spc="10" dirty="0">
                <a:solidFill>
                  <a:srgbClr val="273239"/>
                </a:solidFill>
                <a:effectLst/>
                <a:latin typeface="+mj-lt"/>
              </a:rPr>
              <a:t>Numerical Features:</a:t>
            </a:r>
            <a:r>
              <a:rPr lang="en-IN" sz="1600" b="0" i="0" spc="12" dirty="0">
                <a:solidFill>
                  <a:srgbClr val="273239"/>
                </a:solidFill>
                <a:effectLst/>
                <a:latin typeface="+mj-lt"/>
              </a:rPr>
              <a:t> These may include numerical values such as height, weight and so on. These may be continuous over an interval or discrete variables.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2"/>
            </a:pPr>
            <a:r>
              <a:rPr lang="en-IN" sz="1600" b="1" i="0" spc="10" dirty="0">
                <a:solidFill>
                  <a:srgbClr val="273239"/>
                </a:solidFill>
                <a:effectLst/>
                <a:latin typeface="+mj-lt"/>
              </a:rPr>
              <a:t>Categorical Features:</a:t>
            </a:r>
            <a:r>
              <a:rPr lang="en-IN" sz="1600" b="0" i="0" spc="12" dirty="0">
                <a:solidFill>
                  <a:srgbClr val="273239"/>
                </a:solidFill>
                <a:effectLst/>
                <a:latin typeface="+mj-lt"/>
              </a:rPr>
              <a:t> These include multiple classes or categories such as gender, colour and so on.</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3"/>
            </a:pPr>
            <a:r>
              <a:rPr lang="en-IN" sz="1600" b="1" i="0" spc="10" dirty="0">
                <a:solidFill>
                  <a:srgbClr val="273239"/>
                </a:solidFill>
                <a:effectLst/>
                <a:latin typeface="+mj-lt"/>
              </a:rPr>
              <a:t>Size of the Data:</a:t>
            </a:r>
            <a:r>
              <a:rPr lang="en-IN" sz="1600" b="0" i="0" spc="12" dirty="0">
                <a:solidFill>
                  <a:srgbClr val="273239"/>
                </a:solidFill>
                <a:effectLst/>
                <a:latin typeface="+mj-lt"/>
              </a:rPr>
              <a:t> It refers to the number of entries and features it contains in the file containing the Dataset.</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4"/>
            </a:pPr>
            <a:r>
              <a:rPr lang="en-IN" sz="1600" b="1" i="0" spc="10" dirty="0">
                <a:solidFill>
                  <a:srgbClr val="273239"/>
                </a:solidFill>
                <a:effectLst/>
                <a:latin typeface="+mj-lt"/>
              </a:rPr>
              <a:t>Data Entries:</a:t>
            </a:r>
            <a:r>
              <a:rPr lang="en-IN" sz="1600" b="0" i="0" spc="12" dirty="0">
                <a:solidFill>
                  <a:srgbClr val="273239"/>
                </a:solidFill>
                <a:effectLst/>
                <a:latin typeface="+mj-lt"/>
              </a:rPr>
              <a:t> These refer to the individual values of data present in the Dataset.</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5"/>
            </a:pPr>
            <a:r>
              <a:rPr lang="en-IN" sz="1600" b="1" i="0" spc="10" dirty="0">
                <a:solidFill>
                  <a:srgbClr val="273239"/>
                </a:solidFill>
                <a:effectLst/>
                <a:latin typeface="+mj-lt"/>
              </a:rPr>
              <a:t>Target Variable:</a:t>
            </a:r>
            <a:r>
              <a:rPr lang="en-IN" sz="1600" b="0" i="0" spc="12" dirty="0">
                <a:solidFill>
                  <a:srgbClr val="273239"/>
                </a:solidFill>
                <a:effectLst/>
                <a:latin typeface="+mj-lt"/>
              </a:rPr>
              <a:t> This is the main feature in a dataset that we want to predict or explain using the other features.</a:t>
            </a:r>
            <a:endParaRPr lang="en-IN" sz="1600" b="0" i="0" spc="10" dirty="0">
              <a:solidFill>
                <a:srgbClr val="273239"/>
              </a:solidFill>
              <a:effectLst/>
              <a:latin typeface="+mj-lt"/>
            </a:endParaRPr>
          </a:p>
        </p:txBody>
      </p:sp>
    </p:spTree>
    <p:extLst>
      <p:ext uri="{BB962C8B-B14F-4D97-AF65-F5344CB8AC3E}">
        <p14:creationId xmlns:p14="http://schemas.microsoft.com/office/powerpoint/2010/main" val="419868482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A834E-5E93-8898-6156-0FCF40D886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578043-B8AB-72DE-751A-5A5B797B58AC}"/>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Operations of Dataset</a:t>
            </a:r>
            <a:br>
              <a:rPr lang="en-IN" sz="3200" b="1" dirty="0">
                <a:solidFill>
                  <a:srgbClr val="273239"/>
                </a:solidFill>
                <a:latin typeface="Nunito" pitchFamily="2" charset="0"/>
              </a:rPr>
            </a:br>
            <a:endParaRPr lang="en-US" sz="3200" b="1" dirty="0">
              <a:solidFill>
                <a:srgbClr val="FF0000"/>
              </a:solidFill>
            </a:endParaRPr>
          </a:p>
        </p:txBody>
      </p:sp>
      <p:pic>
        <p:nvPicPr>
          <p:cNvPr id="4" name="Picture 3">
            <a:extLst>
              <a:ext uri="{FF2B5EF4-FFF2-40B4-BE49-F238E27FC236}">
                <a16:creationId xmlns:a16="http://schemas.microsoft.com/office/drawing/2014/main" id="{5AAD3F6F-14E8-DB2D-8334-53335D9B612D}"/>
              </a:ext>
            </a:extLst>
          </p:cNvPr>
          <p:cNvPicPr>
            <a:picLocks noChangeAspect="1"/>
          </p:cNvPicPr>
          <p:nvPr/>
        </p:nvPicPr>
        <p:blipFill>
          <a:blip r:embed="rId2"/>
          <a:stretch>
            <a:fillRect/>
          </a:stretch>
        </p:blipFill>
        <p:spPr>
          <a:xfrm>
            <a:off x="1034474" y="1126837"/>
            <a:ext cx="6964217" cy="5305972"/>
          </a:xfrm>
          <a:prstGeom prst="rect">
            <a:avLst/>
          </a:prstGeom>
        </p:spPr>
      </p:pic>
    </p:spTree>
    <p:extLst>
      <p:ext uri="{BB962C8B-B14F-4D97-AF65-F5344CB8AC3E}">
        <p14:creationId xmlns:p14="http://schemas.microsoft.com/office/powerpoint/2010/main" val="291725341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2D98-B06B-B7CE-E38E-B7C053A901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C0798-98B3-3E4F-4221-D77670A4FE72}"/>
              </a:ext>
            </a:extLst>
          </p:cNvPr>
          <p:cNvSpPr>
            <a:spLocks noGrp="1"/>
          </p:cNvSpPr>
          <p:nvPr>
            <p:ph type="title"/>
          </p:nvPr>
        </p:nvSpPr>
        <p:spPr>
          <a:xfrm>
            <a:off x="685216" y="231228"/>
            <a:ext cx="8596668" cy="1320800"/>
          </a:xfrm>
        </p:spPr>
        <p:txBody>
          <a:bodyPr>
            <a:normAutofit fontScale="90000"/>
          </a:bodyPr>
          <a:lstStyle/>
          <a:p>
            <a:r>
              <a:rPr lang="en-IN" sz="3200" dirty="0">
                <a:solidFill>
                  <a:schemeClr val="accent2"/>
                </a:solidFill>
              </a:rPr>
              <a:t>AI Spectrum - Challenges in Working with Dataset</a:t>
            </a:r>
            <a:br>
              <a:rPr lang="en-IN" sz="3200" b="1" spc="12" dirty="0">
                <a:solidFill>
                  <a:srgbClr val="273239"/>
                </a:solidFill>
              </a:rPr>
            </a:br>
            <a:endParaRPr lang="en-US" sz="3200" b="1" dirty="0">
              <a:solidFill>
                <a:srgbClr val="FF0000"/>
              </a:solidFill>
            </a:endParaRPr>
          </a:p>
        </p:txBody>
      </p:sp>
      <p:sp>
        <p:nvSpPr>
          <p:cNvPr id="4" name="TextBox 3">
            <a:extLst>
              <a:ext uri="{FF2B5EF4-FFF2-40B4-BE49-F238E27FC236}">
                <a16:creationId xmlns:a16="http://schemas.microsoft.com/office/drawing/2014/main" id="{C6ACE48C-5445-A6AC-BDAF-BD1951A10D0E}"/>
              </a:ext>
            </a:extLst>
          </p:cNvPr>
          <p:cNvSpPr txBox="1"/>
          <p:nvPr/>
        </p:nvSpPr>
        <p:spPr>
          <a:xfrm>
            <a:off x="972128" y="1336290"/>
            <a:ext cx="7054272" cy="4095993"/>
          </a:xfrm>
          <a:prstGeom prst="rect">
            <a:avLst/>
          </a:prstGeom>
          <a:noFill/>
        </p:spPr>
        <p:txBody>
          <a:bodyPr wrap="square">
            <a:spAutoFit/>
          </a:bodyPr>
          <a:lstStyle/>
          <a:p>
            <a:pPr marL="0" marR="0" indent="0" algn="l" fontAlgn="base">
              <a:lnSpc>
                <a:spcPts val="2100"/>
              </a:lnSpc>
              <a:buNone/>
            </a:pPr>
            <a:endParaRPr lang="en-IN" sz="1600" b="1" i="0" spc="0" dirty="0">
              <a:solidFill>
                <a:srgbClr val="273239"/>
              </a:solidFill>
              <a:effectLst/>
            </a:endParaRPr>
          </a:p>
          <a:p>
            <a:pPr marL="0" marR="0" indent="0" algn="l" rtl="0" fontAlgn="base">
              <a:spcAft>
                <a:spcPts val="750"/>
              </a:spcAft>
              <a:buNone/>
            </a:pPr>
            <a:r>
              <a:rPr lang="en-IN" sz="1600" b="0" i="0" spc="12" dirty="0">
                <a:solidFill>
                  <a:srgbClr val="273239"/>
                </a:solidFill>
                <a:effectLst/>
              </a:rPr>
              <a:t>Common challenges faced when working with datasets are:</a:t>
            </a:r>
            <a:endParaRPr lang="en-IN" sz="1600" b="0" i="0" spc="10" dirty="0">
              <a:solidFill>
                <a:srgbClr val="273239"/>
              </a:solidFill>
              <a:effectLst/>
            </a:endParaRPr>
          </a:p>
          <a:p>
            <a:pPr marL="342900" marR="0" lvl="0" indent="-342900" algn="l" fontAlgn="base">
              <a:spcAft>
                <a:spcPts val="1800"/>
              </a:spcAft>
              <a:buFont typeface="+mj-lt"/>
              <a:buAutoNum type="arabicPeriod"/>
            </a:pPr>
            <a:r>
              <a:rPr lang="en-IN" sz="1600" b="1" i="0" spc="10" dirty="0">
                <a:solidFill>
                  <a:srgbClr val="273239"/>
                </a:solidFill>
                <a:effectLst/>
              </a:rPr>
              <a:t>Quality Issues: </a:t>
            </a:r>
            <a:r>
              <a:rPr lang="en-IN" sz="1600" b="0" i="0" spc="12" dirty="0">
                <a:solidFill>
                  <a:srgbClr val="273239"/>
                </a:solidFill>
                <a:effectLst/>
              </a:rPr>
              <a:t>Poorly collected or inconsistent data can mislead analysis and reduce the accuracy of models.</a:t>
            </a:r>
            <a:endParaRPr lang="en-IN" sz="1600" b="0" i="0" spc="10" dirty="0">
              <a:solidFill>
                <a:srgbClr val="273239"/>
              </a:solidFill>
              <a:effectLst/>
            </a:endParaRPr>
          </a:p>
          <a:p>
            <a:pPr marL="342900" marR="0" lvl="0" indent="-342900" algn="l" fontAlgn="base">
              <a:spcAft>
                <a:spcPts val="1800"/>
              </a:spcAft>
              <a:buFont typeface="+mj-lt"/>
              <a:buAutoNum type="arabicPeriod" startAt="2"/>
            </a:pPr>
            <a:r>
              <a:rPr lang="en-IN" sz="1600" b="1" i="0" spc="10" dirty="0">
                <a:solidFill>
                  <a:srgbClr val="273239"/>
                </a:solidFill>
                <a:effectLst/>
              </a:rPr>
              <a:t>Missing Data:</a:t>
            </a:r>
            <a:r>
              <a:rPr lang="en-IN" sz="1600" b="0" i="0" spc="12" dirty="0">
                <a:solidFill>
                  <a:srgbClr val="273239"/>
                </a:solidFill>
                <a:effectLst/>
              </a:rPr>
              <a:t> Incomplete records create gaps that make it harder to draw reliable conclusions or train models effectively.</a:t>
            </a:r>
            <a:endParaRPr lang="en-IN" sz="1600" b="0" i="0" spc="10" dirty="0">
              <a:solidFill>
                <a:srgbClr val="273239"/>
              </a:solidFill>
              <a:effectLst/>
            </a:endParaRPr>
          </a:p>
          <a:p>
            <a:pPr marL="342900" marR="0" lvl="0" indent="-342900" algn="l" fontAlgn="base">
              <a:spcAft>
                <a:spcPts val="1800"/>
              </a:spcAft>
              <a:buFont typeface="+mj-lt"/>
              <a:buAutoNum type="arabicPeriod" startAt="3"/>
            </a:pPr>
            <a:r>
              <a:rPr lang="en-IN" sz="1600" b="1" i="0" spc="10" dirty="0">
                <a:solidFill>
                  <a:srgbClr val="273239"/>
                </a:solidFill>
                <a:effectLst/>
              </a:rPr>
              <a:t>Bias: </a:t>
            </a:r>
            <a:r>
              <a:rPr lang="en-IN" sz="1600" b="0" i="0" spc="12" dirty="0">
                <a:solidFill>
                  <a:srgbClr val="273239"/>
                </a:solidFill>
                <a:effectLst/>
              </a:rPr>
              <a:t>When datasets are unbalanced or unrepresentative, the resulting models may produce unfair or skewed outcomes.</a:t>
            </a:r>
            <a:endParaRPr lang="en-IN" sz="1600" b="0" i="0" spc="10" dirty="0">
              <a:solidFill>
                <a:srgbClr val="273239"/>
              </a:solidFill>
              <a:effectLst/>
            </a:endParaRPr>
          </a:p>
          <a:p>
            <a:pPr marL="342900" marR="0" lvl="0" indent="-342900" algn="l" fontAlgn="base">
              <a:spcAft>
                <a:spcPts val="1800"/>
              </a:spcAft>
              <a:buFont typeface="+mj-lt"/>
              <a:buAutoNum type="arabicPeriod" startAt="4"/>
            </a:pPr>
            <a:r>
              <a:rPr lang="en-IN" sz="1600" b="1" i="0" spc="10" dirty="0">
                <a:solidFill>
                  <a:srgbClr val="273239"/>
                </a:solidFill>
                <a:effectLst/>
              </a:rPr>
              <a:t>Scalability: </a:t>
            </a:r>
            <a:r>
              <a:rPr lang="en-IN" sz="1600" b="0" i="0" spc="12" dirty="0">
                <a:solidFill>
                  <a:srgbClr val="273239"/>
                </a:solidFill>
                <a:effectLst/>
              </a:rPr>
              <a:t>Very large datasets can be challenging to clean, store and process efficiently with limited resources.</a:t>
            </a:r>
            <a:endParaRPr lang="en-IN" sz="1600" b="0" i="0" spc="10" dirty="0">
              <a:solidFill>
                <a:srgbClr val="273239"/>
              </a:solidFill>
              <a:effectLst/>
            </a:endParaRPr>
          </a:p>
          <a:p>
            <a:pPr marL="342900" marR="0" lvl="0" indent="-342900" algn="l" fontAlgn="base">
              <a:spcAft>
                <a:spcPts val="1800"/>
              </a:spcAft>
              <a:buFont typeface="+mj-lt"/>
              <a:buAutoNum type="arabicPeriod" startAt="5"/>
            </a:pPr>
            <a:r>
              <a:rPr lang="en-IN" sz="1600" b="1" i="0" spc="10" dirty="0">
                <a:solidFill>
                  <a:srgbClr val="273239"/>
                </a:solidFill>
                <a:effectLst/>
              </a:rPr>
              <a:t>Privacy Concerns:</a:t>
            </a:r>
            <a:r>
              <a:rPr lang="en-IN" sz="1600" b="0" i="0" spc="12" dirty="0">
                <a:solidFill>
                  <a:srgbClr val="273239"/>
                </a:solidFill>
                <a:effectLst/>
              </a:rPr>
              <a:t> Sensitive or personal data requires strict handling to ensure compliance with privacy and security standards.</a:t>
            </a:r>
            <a:endParaRPr lang="en-IN" sz="1600" b="0" i="0" spc="10" dirty="0">
              <a:solidFill>
                <a:srgbClr val="273239"/>
              </a:solidFill>
              <a:effectLst/>
            </a:endParaRPr>
          </a:p>
        </p:txBody>
      </p:sp>
    </p:spTree>
    <p:extLst>
      <p:ext uri="{BB962C8B-B14F-4D97-AF65-F5344CB8AC3E}">
        <p14:creationId xmlns:p14="http://schemas.microsoft.com/office/powerpoint/2010/main" val="50114436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61B7B-9B50-5ADE-338D-C5C6F9ECE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2889C7-73B7-7E6B-4B90-416376A989ED}"/>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Applications of Dataset</a:t>
            </a:r>
            <a:br>
              <a:rPr lang="en-IN" sz="3200" b="1" spc="12" dirty="0">
                <a:solidFill>
                  <a:srgbClr val="273239"/>
                </a:solidFill>
              </a:rPr>
            </a:br>
            <a:endParaRPr lang="en-US" sz="3200" b="1" dirty="0">
              <a:solidFill>
                <a:srgbClr val="FF0000"/>
              </a:solidFill>
            </a:endParaRPr>
          </a:p>
        </p:txBody>
      </p:sp>
      <p:sp>
        <p:nvSpPr>
          <p:cNvPr id="4" name="TextBox 3">
            <a:extLst>
              <a:ext uri="{FF2B5EF4-FFF2-40B4-BE49-F238E27FC236}">
                <a16:creationId xmlns:a16="http://schemas.microsoft.com/office/drawing/2014/main" id="{D779B7E9-7D5A-0074-4F64-F30664EA61E5}"/>
              </a:ext>
            </a:extLst>
          </p:cNvPr>
          <p:cNvSpPr txBox="1"/>
          <p:nvPr/>
        </p:nvSpPr>
        <p:spPr>
          <a:xfrm>
            <a:off x="870528" y="1297071"/>
            <a:ext cx="8328890" cy="4095993"/>
          </a:xfrm>
          <a:prstGeom prst="rect">
            <a:avLst/>
          </a:prstGeom>
          <a:noFill/>
        </p:spPr>
        <p:txBody>
          <a:bodyPr wrap="square">
            <a:spAutoFit/>
          </a:bodyPr>
          <a:lstStyle/>
          <a:p>
            <a:pPr marL="0" marR="0" indent="0" algn="l" fontAlgn="base">
              <a:lnSpc>
                <a:spcPts val="2100"/>
              </a:lnSpc>
              <a:buNone/>
            </a:pPr>
            <a:endParaRPr lang="en-IN" sz="1600" b="1" i="0" spc="0" dirty="0">
              <a:solidFill>
                <a:srgbClr val="273239"/>
              </a:solidFill>
              <a:effectLst/>
              <a:latin typeface="+mj-lt"/>
            </a:endParaRPr>
          </a:p>
          <a:p>
            <a:pPr marL="0" marR="0" indent="0" algn="l" rtl="0" fontAlgn="base">
              <a:spcAft>
                <a:spcPts val="750"/>
              </a:spcAft>
              <a:buNone/>
            </a:pPr>
            <a:r>
              <a:rPr lang="en-IN" sz="1600" b="0" i="0" spc="12" dirty="0">
                <a:solidFill>
                  <a:srgbClr val="273239"/>
                </a:solidFill>
                <a:effectLst/>
                <a:latin typeface="+mj-lt"/>
              </a:rPr>
              <a:t>Here are some of the applications of dataset:</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a:pPr>
            <a:r>
              <a:rPr lang="en-IN" sz="1600" b="1" i="0" spc="10" dirty="0">
                <a:solidFill>
                  <a:srgbClr val="273239"/>
                </a:solidFill>
                <a:effectLst/>
                <a:latin typeface="+mj-lt"/>
              </a:rPr>
              <a:t>Machine Learning Training:</a:t>
            </a:r>
            <a:r>
              <a:rPr lang="en-IN" sz="1600" b="0" i="0" spc="12" dirty="0">
                <a:solidFill>
                  <a:srgbClr val="273239"/>
                </a:solidFill>
                <a:effectLst/>
                <a:latin typeface="+mj-lt"/>
              </a:rPr>
              <a:t> Datasets are used to train models for tasks like image recognition, natural language processing or fraud detection.</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2"/>
            </a:pPr>
            <a:r>
              <a:rPr lang="en-IN" sz="1600" b="1" i="0" spc="10" dirty="0">
                <a:solidFill>
                  <a:srgbClr val="273239"/>
                </a:solidFill>
                <a:effectLst/>
                <a:latin typeface="+mj-lt"/>
              </a:rPr>
              <a:t>Business Analytics:</a:t>
            </a:r>
            <a:r>
              <a:rPr lang="en-IN" sz="1600" b="0" i="0" spc="12" dirty="0">
                <a:solidFill>
                  <a:srgbClr val="273239"/>
                </a:solidFill>
                <a:effectLst/>
                <a:latin typeface="+mj-lt"/>
              </a:rPr>
              <a:t> Companies </a:t>
            </a:r>
            <a:r>
              <a:rPr lang="en-IN" sz="1600" b="0" i="0" spc="12" dirty="0" err="1">
                <a:solidFill>
                  <a:srgbClr val="273239"/>
                </a:solidFill>
                <a:effectLst/>
                <a:latin typeface="+mj-lt"/>
              </a:rPr>
              <a:t>analyze</a:t>
            </a:r>
            <a:r>
              <a:rPr lang="en-IN" sz="1600" b="0" i="0" spc="12" dirty="0">
                <a:solidFill>
                  <a:srgbClr val="273239"/>
                </a:solidFill>
                <a:effectLst/>
                <a:latin typeface="+mj-lt"/>
              </a:rPr>
              <a:t> sales, customer and financial datasets to make informed decisions.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3"/>
            </a:pPr>
            <a:r>
              <a:rPr lang="en-IN" sz="1600" b="1" i="0" spc="10" dirty="0">
                <a:solidFill>
                  <a:srgbClr val="273239"/>
                </a:solidFill>
                <a:effectLst/>
                <a:latin typeface="+mj-lt"/>
              </a:rPr>
              <a:t>Healthcare: </a:t>
            </a:r>
            <a:r>
              <a:rPr lang="en-IN" sz="1600" b="0" i="0" spc="12" dirty="0">
                <a:solidFill>
                  <a:srgbClr val="273239"/>
                </a:solidFill>
                <a:effectLst/>
                <a:latin typeface="+mj-lt"/>
              </a:rPr>
              <a:t>Patient records, medical images and genomic datasets support disease diagnosis and treatment planning.</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4"/>
            </a:pPr>
            <a:r>
              <a:rPr lang="en-IN" sz="1600" b="1" i="0" spc="10" dirty="0">
                <a:solidFill>
                  <a:srgbClr val="273239"/>
                </a:solidFill>
                <a:effectLst/>
                <a:latin typeface="+mj-lt"/>
              </a:rPr>
              <a:t>Education and Research: </a:t>
            </a:r>
            <a:r>
              <a:rPr lang="en-IN" sz="1600" b="0" i="0" spc="12" dirty="0">
                <a:solidFill>
                  <a:srgbClr val="273239"/>
                </a:solidFill>
                <a:effectLst/>
                <a:latin typeface="+mj-lt"/>
              </a:rPr>
              <a:t>Public datasets help students and researchers experiment validate hypotheses and build new solutions.</a:t>
            </a:r>
            <a:endParaRPr lang="en-IN" sz="1600" b="0" i="0" spc="10" dirty="0">
              <a:solidFill>
                <a:srgbClr val="273239"/>
              </a:solidFill>
              <a:effectLst/>
              <a:latin typeface="+mj-lt"/>
            </a:endParaRPr>
          </a:p>
          <a:p>
            <a:pPr marL="342900" marR="0" lvl="0" indent="-342900" algn="l" fontAlgn="base">
              <a:spcAft>
                <a:spcPts val="1800"/>
              </a:spcAft>
              <a:buFont typeface="+mj-lt"/>
              <a:buAutoNum type="arabicPeriod" startAt="5"/>
            </a:pPr>
            <a:r>
              <a:rPr lang="en-IN" sz="1600" b="1" i="0" spc="10" dirty="0">
                <a:solidFill>
                  <a:srgbClr val="273239"/>
                </a:solidFill>
                <a:effectLst/>
                <a:latin typeface="+mj-lt"/>
              </a:rPr>
              <a:t>Recommendation Systems: </a:t>
            </a:r>
            <a:r>
              <a:rPr lang="en-IN" sz="1600" b="0" i="0" spc="12" dirty="0">
                <a:solidFill>
                  <a:srgbClr val="273239"/>
                </a:solidFill>
                <a:effectLst/>
                <a:latin typeface="+mj-lt"/>
              </a:rPr>
              <a:t>Datasets of user </a:t>
            </a:r>
            <a:r>
              <a:rPr lang="en-IN" sz="1600" b="0" i="0" spc="12" dirty="0" err="1">
                <a:solidFill>
                  <a:srgbClr val="273239"/>
                </a:solidFill>
                <a:effectLst/>
                <a:latin typeface="+mj-lt"/>
              </a:rPr>
              <a:t>behavior</a:t>
            </a:r>
            <a:r>
              <a:rPr lang="en-IN" sz="1600" b="0" i="0" spc="12" dirty="0">
                <a:solidFill>
                  <a:srgbClr val="273239"/>
                </a:solidFill>
                <a:effectLst/>
                <a:latin typeface="+mj-lt"/>
              </a:rPr>
              <a:t> like purchases, clicks, ratings are used to suggest products, movies or music.</a:t>
            </a:r>
            <a:endParaRPr lang="en-IN" sz="1600" b="0" i="0" spc="10" dirty="0">
              <a:solidFill>
                <a:srgbClr val="273239"/>
              </a:solidFill>
              <a:effectLst/>
              <a:latin typeface="+mj-lt"/>
            </a:endParaRPr>
          </a:p>
        </p:txBody>
      </p:sp>
    </p:spTree>
    <p:extLst>
      <p:ext uri="{BB962C8B-B14F-4D97-AF65-F5344CB8AC3E}">
        <p14:creationId xmlns:p14="http://schemas.microsoft.com/office/powerpoint/2010/main" val="85053087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E987-4866-1D6F-0C22-9A8C60088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FA0514-2CA0-3E37-75C0-9EC85E5BD287}"/>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sp>
        <p:nvSpPr>
          <p:cNvPr id="6" name="TextBox 5">
            <a:extLst>
              <a:ext uri="{FF2B5EF4-FFF2-40B4-BE49-F238E27FC236}">
                <a16:creationId xmlns:a16="http://schemas.microsoft.com/office/drawing/2014/main" id="{850DB4A2-E0F6-B985-C512-41D382D6A846}"/>
              </a:ext>
            </a:extLst>
          </p:cNvPr>
          <p:cNvSpPr txBox="1"/>
          <p:nvPr/>
        </p:nvSpPr>
        <p:spPr>
          <a:xfrm>
            <a:off x="759691" y="1150633"/>
            <a:ext cx="8116454" cy="4278094"/>
          </a:xfrm>
          <a:prstGeom prst="rect">
            <a:avLst/>
          </a:prstGeom>
          <a:noFill/>
        </p:spPr>
        <p:txBody>
          <a:bodyPr wrap="square">
            <a:spAutoFit/>
          </a:bodyPr>
          <a:lstStyle/>
          <a:p>
            <a:pPr>
              <a:buNone/>
            </a:pPr>
            <a:r>
              <a:rPr lang="en-IN" sz="1600" b="1" dirty="0"/>
              <a:t>Features and Labels in AI / Machine Learning</a:t>
            </a:r>
          </a:p>
          <a:p>
            <a:pPr>
              <a:buNone/>
            </a:pPr>
            <a:endParaRPr lang="en-IN" sz="1600" b="1" dirty="0"/>
          </a:p>
          <a:p>
            <a:pPr>
              <a:buNone/>
            </a:pPr>
            <a:r>
              <a:rPr lang="en-IN" sz="1600" dirty="0"/>
              <a:t>When we train a </a:t>
            </a:r>
            <a:r>
              <a:rPr lang="en-IN" sz="1600" b="1" dirty="0"/>
              <a:t>machine learning model</a:t>
            </a:r>
            <a:r>
              <a:rPr lang="en-IN" sz="1600" dirty="0"/>
              <a:t>, we usually provide it with data containing:</a:t>
            </a:r>
          </a:p>
          <a:p>
            <a:pPr>
              <a:buNone/>
            </a:pPr>
            <a:endParaRPr lang="en-IN" sz="1600" dirty="0"/>
          </a:p>
          <a:p>
            <a:pPr marL="342900" lvl="0" indent="-342900">
              <a:buFont typeface="Arial" panose="020B0604020202020204" pitchFamily="34" charset="0"/>
              <a:buChar char="•"/>
            </a:pPr>
            <a:r>
              <a:rPr lang="en-IN" sz="1600" b="1" dirty="0"/>
              <a:t>Features</a:t>
            </a:r>
            <a:r>
              <a:rPr lang="en-IN" sz="1600" dirty="0"/>
              <a:t> → the information used to make a prediction </a:t>
            </a:r>
          </a:p>
          <a:p>
            <a:pPr marL="342900" lvl="0" indent="-342900">
              <a:buFont typeface="Arial" panose="020B0604020202020204" pitchFamily="34" charset="0"/>
              <a:buChar char="•"/>
            </a:pPr>
            <a:r>
              <a:rPr lang="en-IN" sz="1600" b="1" dirty="0"/>
              <a:t>Labels</a:t>
            </a:r>
            <a:r>
              <a:rPr lang="en-IN" sz="1600" dirty="0"/>
              <a:t> → the correct answer or outcome the model should learn to predict </a:t>
            </a:r>
          </a:p>
          <a:p>
            <a:pPr marL="342900" lvl="0" indent="-342900">
              <a:buFont typeface="Arial" panose="020B0604020202020204" pitchFamily="34" charset="0"/>
              <a:buChar char="•"/>
            </a:pPr>
            <a:endParaRPr lang="en-IN" sz="1600" dirty="0"/>
          </a:p>
          <a:p>
            <a:pPr marL="342900" indent="-342900">
              <a:buAutoNum type="arabicPeriod"/>
            </a:pPr>
            <a:r>
              <a:rPr lang="en-IN" sz="1600" b="1" dirty="0"/>
              <a:t>What is a Feature?</a:t>
            </a:r>
          </a:p>
          <a:p>
            <a:pPr marL="342900" indent="-342900">
              <a:buAutoNum type="arabicPeriod"/>
            </a:pPr>
            <a:endParaRPr lang="en-IN" sz="1600" b="1" dirty="0"/>
          </a:p>
          <a:p>
            <a:pPr>
              <a:buNone/>
            </a:pPr>
            <a:r>
              <a:rPr lang="en-IN" sz="1600" dirty="0"/>
              <a:t>A </a:t>
            </a:r>
            <a:r>
              <a:rPr lang="en-IN" sz="1600" b="1" dirty="0"/>
              <a:t>feature</a:t>
            </a:r>
            <a:r>
              <a:rPr lang="en-IN" sz="1600" dirty="0"/>
              <a:t> is an input variable or characteristic that provides information to the AI/ML model.</a:t>
            </a:r>
          </a:p>
          <a:p>
            <a:pPr>
              <a:buNone/>
            </a:pPr>
            <a:endParaRPr lang="en-IN" sz="1600" dirty="0"/>
          </a:p>
          <a:p>
            <a:pPr>
              <a:buNone/>
            </a:pPr>
            <a:r>
              <a:rPr lang="en-IN" sz="1600" dirty="0"/>
              <a:t>Think of features as </a:t>
            </a:r>
            <a:r>
              <a:rPr lang="en-IN" sz="1600" b="1" dirty="0"/>
              <a:t>clues</a:t>
            </a:r>
            <a:r>
              <a:rPr lang="en-IN" sz="1600" dirty="0"/>
              <a:t> given to the model.</a:t>
            </a:r>
          </a:p>
          <a:p>
            <a:pPr>
              <a:buNone/>
            </a:pPr>
            <a:endParaRPr lang="en-IN" sz="1600" dirty="0"/>
          </a:p>
          <a:p>
            <a:pPr>
              <a:buNone/>
            </a:pPr>
            <a:r>
              <a:rPr lang="en-IN" sz="1600" b="1" dirty="0"/>
              <a:t>Example: Predicting house price</a:t>
            </a:r>
            <a:endParaRPr lang="en-IN" sz="1600" dirty="0"/>
          </a:p>
          <a:p>
            <a:pPr>
              <a:buNone/>
            </a:pPr>
            <a:r>
              <a:rPr lang="en-IN" sz="1600" dirty="0"/>
              <a:t>These characteristics are the </a:t>
            </a:r>
            <a:r>
              <a:rPr lang="en-IN" sz="1600" b="1" dirty="0"/>
              <a:t>features</a:t>
            </a:r>
            <a:r>
              <a:rPr lang="en-IN" sz="1600" dirty="0"/>
              <a:t>.</a:t>
            </a:r>
          </a:p>
          <a:p>
            <a:pPr>
              <a:buNone/>
            </a:pPr>
            <a:r>
              <a:rPr lang="en-IN" sz="1600" dirty="0"/>
              <a:t>The model uses these features to predict the house price.</a:t>
            </a:r>
          </a:p>
        </p:txBody>
      </p:sp>
    </p:spTree>
    <p:extLst>
      <p:ext uri="{BB962C8B-B14F-4D97-AF65-F5344CB8AC3E}">
        <p14:creationId xmlns:p14="http://schemas.microsoft.com/office/powerpoint/2010/main" val="357668743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32A55-D4C4-891D-9543-D77B2E433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7CE69A-B2C0-557A-18A7-708A7F189239}"/>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graphicFrame>
        <p:nvGraphicFramePr>
          <p:cNvPr id="3" name="Table 2">
            <a:extLst>
              <a:ext uri="{FF2B5EF4-FFF2-40B4-BE49-F238E27FC236}">
                <a16:creationId xmlns:a16="http://schemas.microsoft.com/office/drawing/2014/main" id="{40960720-BB00-78A3-CBF2-F36EF0A21071}"/>
              </a:ext>
            </a:extLst>
          </p:cNvPr>
          <p:cNvGraphicFramePr>
            <a:graphicFrameLocks noGrp="1"/>
          </p:cNvGraphicFramePr>
          <p:nvPr>
            <p:extLst>
              <p:ext uri="{D42A27DB-BD31-4B8C-83A1-F6EECF244321}">
                <p14:modId xmlns:p14="http://schemas.microsoft.com/office/powerpoint/2010/main" val="3215103156"/>
              </p:ext>
            </p:extLst>
          </p:nvPr>
        </p:nvGraphicFramePr>
        <p:xfrm>
          <a:off x="759691" y="2408592"/>
          <a:ext cx="8596312" cy="2194560"/>
        </p:xfrm>
        <a:graphic>
          <a:graphicData uri="http://schemas.openxmlformats.org/drawingml/2006/table">
            <a:tbl>
              <a:tblPr/>
              <a:tblGrid>
                <a:gridCol w="4298156">
                  <a:extLst>
                    <a:ext uri="{9D8B030D-6E8A-4147-A177-3AD203B41FA5}">
                      <a16:colId xmlns:a16="http://schemas.microsoft.com/office/drawing/2014/main" val="1033701097"/>
                    </a:ext>
                  </a:extLst>
                </a:gridCol>
                <a:gridCol w="4298156">
                  <a:extLst>
                    <a:ext uri="{9D8B030D-6E8A-4147-A177-3AD203B41FA5}">
                      <a16:colId xmlns:a16="http://schemas.microsoft.com/office/drawing/2014/main" val="95500769"/>
                    </a:ext>
                  </a:extLst>
                </a:gridCol>
              </a:tblGrid>
              <a:tr h="0">
                <a:tc>
                  <a:txBody>
                    <a:bodyPr/>
                    <a:lstStyle/>
                    <a:p>
                      <a:pPr>
                        <a:buNone/>
                      </a:pPr>
                      <a:r>
                        <a:rPr lang="en-IN" dirty="0"/>
                        <a:t>Feature</a:t>
                      </a:r>
                    </a:p>
                  </a:txBody>
                  <a:tcPr anchor="ctr">
                    <a:lnL>
                      <a:noFill/>
                    </a:lnL>
                    <a:lnR>
                      <a:noFill/>
                    </a:lnR>
                    <a:lnT>
                      <a:noFill/>
                    </a:lnT>
                    <a:lnB>
                      <a:noFill/>
                    </a:lnB>
                    <a:noFill/>
                  </a:tcPr>
                </a:tc>
                <a:tc>
                  <a:txBody>
                    <a:bodyPr/>
                    <a:lstStyle/>
                    <a:p>
                      <a:pPr>
                        <a:buNone/>
                      </a:pPr>
                      <a:r>
                        <a:rPr lang="en-IN"/>
                        <a:t>Example value</a:t>
                      </a:r>
                    </a:p>
                  </a:txBody>
                  <a:tcPr anchor="ctr">
                    <a:lnL>
                      <a:noFill/>
                    </a:lnL>
                    <a:lnR>
                      <a:noFill/>
                    </a:lnR>
                    <a:lnT>
                      <a:noFill/>
                    </a:lnT>
                    <a:lnB>
                      <a:noFill/>
                    </a:lnB>
                    <a:noFill/>
                  </a:tcPr>
                </a:tc>
                <a:extLst>
                  <a:ext uri="{0D108BD9-81ED-4DB2-BD59-A6C34878D82A}">
                    <a16:rowId xmlns:a16="http://schemas.microsoft.com/office/drawing/2014/main" val="1972848033"/>
                  </a:ext>
                </a:extLst>
              </a:tr>
              <a:tr h="0">
                <a:tc>
                  <a:txBody>
                    <a:bodyPr/>
                    <a:lstStyle/>
                    <a:p>
                      <a:pPr>
                        <a:buNone/>
                      </a:pPr>
                      <a:r>
                        <a:rPr lang="en-IN"/>
                        <a:t>Area</a:t>
                      </a:r>
                    </a:p>
                  </a:txBody>
                  <a:tcPr anchor="ctr">
                    <a:lnL>
                      <a:noFill/>
                    </a:lnL>
                    <a:lnR>
                      <a:noFill/>
                    </a:lnR>
                    <a:lnT>
                      <a:noFill/>
                    </a:lnT>
                    <a:lnB>
                      <a:noFill/>
                    </a:lnB>
                    <a:noFill/>
                  </a:tcPr>
                </a:tc>
                <a:tc>
                  <a:txBody>
                    <a:bodyPr/>
                    <a:lstStyle/>
                    <a:p>
                      <a:pPr>
                        <a:buNone/>
                      </a:pPr>
                      <a:r>
                        <a:rPr lang="en-IN"/>
                        <a:t>1500 sq. ft.</a:t>
                      </a:r>
                    </a:p>
                  </a:txBody>
                  <a:tcPr anchor="ctr">
                    <a:lnL>
                      <a:noFill/>
                    </a:lnL>
                    <a:lnR>
                      <a:noFill/>
                    </a:lnR>
                    <a:lnT>
                      <a:noFill/>
                    </a:lnT>
                    <a:lnB>
                      <a:noFill/>
                    </a:lnB>
                    <a:noFill/>
                  </a:tcPr>
                </a:tc>
                <a:extLst>
                  <a:ext uri="{0D108BD9-81ED-4DB2-BD59-A6C34878D82A}">
                    <a16:rowId xmlns:a16="http://schemas.microsoft.com/office/drawing/2014/main" val="807538782"/>
                  </a:ext>
                </a:extLst>
              </a:tr>
              <a:tr h="0">
                <a:tc>
                  <a:txBody>
                    <a:bodyPr/>
                    <a:lstStyle/>
                    <a:p>
                      <a:pPr>
                        <a:buNone/>
                      </a:pPr>
                      <a:r>
                        <a:rPr lang="en-IN"/>
                        <a:t>Number of bedrooms</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extLst>
                  <a:ext uri="{0D108BD9-81ED-4DB2-BD59-A6C34878D82A}">
                    <a16:rowId xmlns:a16="http://schemas.microsoft.com/office/drawing/2014/main" val="4171984993"/>
                  </a:ext>
                </a:extLst>
              </a:tr>
              <a:tr h="0">
                <a:tc>
                  <a:txBody>
                    <a:bodyPr/>
                    <a:lstStyle/>
                    <a:p>
                      <a:pPr>
                        <a:buNone/>
                      </a:pPr>
                      <a:r>
                        <a:rPr lang="en-IN"/>
                        <a:t>Number of bathrooms</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extLst>
                  <a:ext uri="{0D108BD9-81ED-4DB2-BD59-A6C34878D82A}">
                    <a16:rowId xmlns:a16="http://schemas.microsoft.com/office/drawing/2014/main" val="32169933"/>
                  </a:ext>
                </a:extLst>
              </a:tr>
              <a:tr h="0">
                <a:tc>
                  <a:txBody>
                    <a:bodyPr/>
                    <a:lstStyle/>
                    <a:p>
                      <a:pPr>
                        <a:buNone/>
                      </a:pPr>
                      <a:r>
                        <a:rPr lang="en-IN"/>
                        <a:t>Location</a:t>
                      </a:r>
                    </a:p>
                  </a:txBody>
                  <a:tcPr anchor="ctr">
                    <a:lnL>
                      <a:noFill/>
                    </a:lnL>
                    <a:lnR>
                      <a:noFill/>
                    </a:lnR>
                    <a:lnT>
                      <a:noFill/>
                    </a:lnT>
                    <a:lnB>
                      <a:noFill/>
                    </a:lnB>
                    <a:noFill/>
                  </a:tcPr>
                </a:tc>
                <a:tc>
                  <a:txBody>
                    <a:bodyPr/>
                    <a:lstStyle/>
                    <a:p>
                      <a:pPr>
                        <a:buNone/>
                      </a:pPr>
                      <a:r>
                        <a:rPr lang="en-IN"/>
                        <a:t>Bangalore</a:t>
                      </a:r>
                    </a:p>
                  </a:txBody>
                  <a:tcPr anchor="ctr">
                    <a:lnL>
                      <a:noFill/>
                    </a:lnL>
                    <a:lnR>
                      <a:noFill/>
                    </a:lnR>
                    <a:lnT>
                      <a:noFill/>
                    </a:lnT>
                    <a:lnB>
                      <a:noFill/>
                    </a:lnB>
                    <a:noFill/>
                  </a:tcPr>
                </a:tc>
                <a:extLst>
                  <a:ext uri="{0D108BD9-81ED-4DB2-BD59-A6C34878D82A}">
                    <a16:rowId xmlns:a16="http://schemas.microsoft.com/office/drawing/2014/main" val="3474649660"/>
                  </a:ext>
                </a:extLst>
              </a:tr>
              <a:tr h="0">
                <a:tc>
                  <a:txBody>
                    <a:bodyPr/>
                    <a:lstStyle/>
                    <a:p>
                      <a:pPr>
                        <a:buNone/>
                      </a:pPr>
                      <a:r>
                        <a:rPr lang="en-IN"/>
                        <a:t>Age of house</a:t>
                      </a:r>
                    </a:p>
                  </a:txBody>
                  <a:tcPr anchor="ctr">
                    <a:lnL>
                      <a:noFill/>
                    </a:lnL>
                    <a:lnR>
                      <a:noFill/>
                    </a:lnR>
                    <a:lnT>
                      <a:noFill/>
                    </a:lnT>
                    <a:lnB>
                      <a:noFill/>
                    </a:lnB>
                    <a:noFill/>
                  </a:tcPr>
                </a:tc>
                <a:tc>
                  <a:txBody>
                    <a:bodyPr/>
                    <a:lstStyle/>
                    <a:p>
                      <a:pPr>
                        <a:buNone/>
                      </a:pPr>
                      <a:r>
                        <a:rPr lang="en-IN" dirty="0"/>
                        <a:t>5 years</a:t>
                      </a:r>
                    </a:p>
                  </a:txBody>
                  <a:tcPr anchor="ctr">
                    <a:lnL>
                      <a:noFill/>
                    </a:lnL>
                    <a:lnR>
                      <a:noFill/>
                    </a:lnR>
                    <a:lnT>
                      <a:noFill/>
                    </a:lnT>
                    <a:lnB>
                      <a:noFill/>
                    </a:lnB>
                    <a:noFill/>
                  </a:tcPr>
                </a:tc>
                <a:extLst>
                  <a:ext uri="{0D108BD9-81ED-4DB2-BD59-A6C34878D82A}">
                    <a16:rowId xmlns:a16="http://schemas.microsoft.com/office/drawing/2014/main" val="4061453756"/>
                  </a:ext>
                </a:extLst>
              </a:tr>
            </a:tbl>
          </a:graphicData>
        </a:graphic>
      </p:graphicFrame>
      <p:sp>
        <p:nvSpPr>
          <p:cNvPr id="5" name="TextBox 4">
            <a:extLst>
              <a:ext uri="{FF2B5EF4-FFF2-40B4-BE49-F238E27FC236}">
                <a16:creationId xmlns:a16="http://schemas.microsoft.com/office/drawing/2014/main" id="{D14DC32C-4802-350D-C277-A20AC10E1478}"/>
              </a:ext>
            </a:extLst>
          </p:cNvPr>
          <p:cNvSpPr txBox="1"/>
          <p:nvPr/>
        </p:nvSpPr>
        <p:spPr>
          <a:xfrm>
            <a:off x="759691" y="1162077"/>
            <a:ext cx="6100618" cy="923330"/>
          </a:xfrm>
          <a:prstGeom prst="rect">
            <a:avLst/>
          </a:prstGeom>
          <a:noFill/>
        </p:spPr>
        <p:txBody>
          <a:bodyPr wrap="square">
            <a:spAutoFit/>
          </a:bodyPr>
          <a:lstStyle/>
          <a:p>
            <a:pPr>
              <a:buNone/>
            </a:pPr>
            <a:r>
              <a:rPr lang="en-IN" dirty="0"/>
              <a:t>These characteristics are the </a:t>
            </a:r>
            <a:r>
              <a:rPr lang="en-IN" b="1" dirty="0"/>
              <a:t>features</a:t>
            </a:r>
            <a:r>
              <a:rPr lang="en-IN" dirty="0"/>
              <a:t>.</a:t>
            </a:r>
          </a:p>
          <a:p>
            <a:pPr>
              <a:buNone/>
            </a:pPr>
            <a:r>
              <a:rPr lang="en-IN" dirty="0"/>
              <a:t>The model uses these features to predict the house price.</a:t>
            </a:r>
          </a:p>
        </p:txBody>
      </p:sp>
    </p:spTree>
    <p:extLst>
      <p:ext uri="{BB962C8B-B14F-4D97-AF65-F5344CB8AC3E}">
        <p14:creationId xmlns:p14="http://schemas.microsoft.com/office/powerpoint/2010/main" val="17170458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6C4D4-24A5-5DA6-83A4-4EF36FC7D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7BD1B6-BA52-B01F-E4A4-43C6C5326A66}"/>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sp>
        <p:nvSpPr>
          <p:cNvPr id="6" name="TextBox 5">
            <a:extLst>
              <a:ext uri="{FF2B5EF4-FFF2-40B4-BE49-F238E27FC236}">
                <a16:creationId xmlns:a16="http://schemas.microsoft.com/office/drawing/2014/main" id="{7E46FEA1-05AE-FB09-6B95-BEFB97AB6951}"/>
              </a:ext>
            </a:extLst>
          </p:cNvPr>
          <p:cNvSpPr txBox="1"/>
          <p:nvPr/>
        </p:nvSpPr>
        <p:spPr>
          <a:xfrm>
            <a:off x="759691" y="1150633"/>
            <a:ext cx="8116454" cy="5016758"/>
          </a:xfrm>
          <a:prstGeom prst="rect">
            <a:avLst/>
          </a:prstGeom>
          <a:noFill/>
        </p:spPr>
        <p:txBody>
          <a:bodyPr wrap="square">
            <a:spAutoFit/>
          </a:bodyPr>
          <a:lstStyle/>
          <a:p>
            <a:r>
              <a:rPr lang="en-IN" sz="1600" b="1" dirty="0"/>
              <a:t>2. What is a Label?</a:t>
            </a:r>
          </a:p>
          <a:p>
            <a:endParaRPr lang="en-IN" sz="1600" b="1" dirty="0"/>
          </a:p>
          <a:p>
            <a:r>
              <a:rPr lang="en-IN" sz="1600" dirty="0"/>
              <a:t>A </a:t>
            </a:r>
            <a:r>
              <a:rPr lang="en-IN" sz="1600" b="1" dirty="0"/>
              <a:t>label</a:t>
            </a:r>
            <a:r>
              <a:rPr lang="en-IN" sz="1600" dirty="0"/>
              <a:t> is the expected output or answer that the model is trying to learn.</a:t>
            </a:r>
          </a:p>
          <a:p>
            <a:r>
              <a:rPr lang="en-IN" sz="1600" dirty="0"/>
              <a:t>For the house-price example:</a:t>
            </a:r>
          </a:p>
          <a:p>
            <a:endParaRPr lang="en-IN" sz="1600" dirty="0"/>
          </a:p>
          <a:p>
            <a:r>
              <a:rPr lang="en-IN" sz="1600" b="1" dirty="0"/>
              <a:t>Features:</a:t>
            </a:r>
          </a:p>
          <a:p>
            <a:endParaRPr lang="en-IN" sz="1600" dirty="0"/>
          </a:p>
          <a:p>
            <a:pPr lvl="0"/>
            <a:r>
              <a:rPr lang="en-IN" sz="1600" dirty="0"/>
              <a:t>Area = 1500 sq. ft. </a:t>
            </a:r>
          </a:p>
          <a:p>
            <a:pPr lvl="0"/>
            <a:r>
              <a:rPr lang="en-IN" sz="1600" dirty="0"/>
              <a:t>Bedrooms = 3 </a:t>
            </a:r>
          </a:p>
          <a:p>
            <a:pPr lvl="0"/>
            <a:r>
              <a:rPr lang="en-IN" sz="1600" dirty="0"/>
              <a:t>Bathrooms = 2 </a:t>
            </a:r>
          </a:p>
          <a:p>
            <a:pPr lvl="0"/>
            <a:r>
              <a:rPr lang="en-IN" sz="1600" dirty="0"/>
              <a:t>Location = Bangalore </a:t>
            </a:r>
          </a:p>
          <a:p>
            <a:pPr lvl="0"/>
            <a:r>
              <a:rPr lang="en-IN" sz="1600" dirty="0"/>
              <a:t>Age = 5 years </a:t>
            </a:r>
          </a:p>
          <a:p>
            <a:pPr lvl="0"/>
            <a:endParaRPr lang="en-IN" sz="1600" dirty="0"/>
          </a:p>
          <a:p>
            <a:r>
              <a:rPr lang="en-IN" sz="1600" b="1" dirty="0"/>
              <a:t>Label:</a:t>
            </a:r>
          </a:p>
          <a:p>
            <a:endParaRPr lang="en-IN" sz="1600" dirty="0"/>
          </a:p>
          <a:p>
            <a:pPr lvl="0"/>
            <a:r>
              <a:rPr lang="en-IN" sz="1600" dirty="0"/>
              <a:t>House Price = ₹80 lakh </a:t>
            </a:r>
          </a:p>
          <a:p>
            <a:pPr lvl="0"/>
            <a:endParaRPr lang="en-IN" sz="1600" dirty="0"/>
          </a:p>
          <a:p>
            <a:r>
              <a:rPr lang="en-IN" sz="1600" dirty="0"/>
              <a:t>So:</a:t>
            </a:r>
          </a:p>
          <a:p>
            <a:r>
              <a:rPr lang="en-IN" sz="1600" b="1" dirty="0"/>
              <a:t>Features → Model → Label/Prediction</a:t>
            </a:r>
            <a:endParaRPr lang="en-IN" sz="1600" dirty="0"/>
          </a:p>
          <a:p>
            <a:pPr>
              <a:buNone/>
            </a:pPr>
            <a:endParaRPr lang="en-IN" sz="1600" dirty="0"/>
          </a:p>
        </p:txBody>
      </p:sp>
    </p:spTree>
    <p:extLst>
      <p:ext uri="{BB962C8B-B14F-4D97-AF65-F5344CB8AC3E}">
        <p14:creationId xmlns:p14="http://schemas.microsoft.com/office/powerpoint/2010/main" val="107644404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39E7E-9A2E-BC12-B1EA-F886B56E7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B872C-A2B6-807D-6800-ECDCEFE89B04}"/>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graphicFrame>
        <p:nvGraphicFramePr>
          <p:cNvPr id="3" name="Table 2">
            <a:extLst>
              <a:ext uri="{FF2B5EF4-FFF2-40B4-BE49-F238E27FC236}">
                <a16:creationId xmlns:a16="http://schemas.microsoft.com/office/drawing/2014/main" id="{0419665B-2364-D9AA-088D-402AC34CCECC}"/>
              </a:ext>
            </a:extLst>
          </p:cNvPr>
          <p:cNvGraphicFramePr>
            <a:graphicFrameLocks noGrp="1"/>
          </p:cNvGraphicFramePr>
          <p:nvPr>
            <p:extLst>
              <p:ext uri="{D42A27DB-BD31-4B8C-83A1-F6EECF244321}">
                <p14:modId xmlns:p14="http://schemas.microsoft.com/office/powerpoint/2010/main" val="2954447858"/>
              </p:ext>
            </p:extLst>
          </p:nvPr>
        </p:nvGraphicFramePr>
        <p:xfrm>
          <a:off x="677863" y="3948024"/>
          <a:ext cx="8596312" cy="2194560"/>
        </p:xfrm>
        <a:graphic>
          <a:graphicData uri="http://schemas.openxmlformats.org/drawingml/2006/table">
            <a:tbl>
              <a:tblPr/>
              <a:tblGrid>
                <a:gridCol w="4298156">
                  <a:extLst>
                    <a:ext uri="{9D8B030D-6E8A-4147-A177-3AD203B41FA5}">
                      <a16:colId xmlns:a16="http://schemas.microsoft.com/office/drawing/2014/main" val="2340955611"/>
                    </a:ext>
                  </a:extLst>
                </a:gridCol>
                <a:gridCol w="4298156">
                  <a:extLst>
                    <a:ext uri="{9D8B030D-6E8A-4147-A177-3AD203B41FA5}">
                      <a16:colId xmlns:a16="http://schemas.microsoft.com/office/drawing/2014/main" val="1331876328"/>
                    </a:ext>
                  </a:extLst>
                </a:gridCol>
              </a:tblGrid>
              <a:tr h="0">
                <a:tc>
                  <a:txBody>
                    <a:bodyPr/>
                    <a:lstStyle/>
                    <a:p>
                      <a:pPr>
                        <a:buNone/>
                      </a:pPr>
                      <a:r>
                        <a:rPr lang="en-IN"/>
                        <a:t>Features</a:t>
                      </a:r>
                    </a:p>
                  </a:txBody>
                  <a:tcPr anchor="ctr">
                    <a:lnL>
                      <a:noFill/>
                    </a:lnL>
                    <a:lnR>
                      <a:noFill/>
                    </a:lnR>
                    <a:lnT>
                      <a:noFill/>
                    </a:lnT>
                    <a:lnB>
                      <a:noFill/>
                    </a:lnB>
                    <a:noFill/>
                  </a:tcPr>
                </a:tc>
                <a:tc>
                  <a:txBody>
                    <a:bodyPr/>
                    <a:lstStyle/>
                    <a:p>
                      <a:pPr>
                        <a:buNone/>
                      </a:pPr>
                      <a:r>
                        <a:rPr lang="en-IN"/>
                        <a:t>Label</a:t>
                      </a:r>
                    </a:p>
                  </a:txBody>
                  <a:tcPr anchor="ctr">
                    <a:lnL>
                      <a:noFill/>
                    </a:lnL>
                    <a:lnR>
                      <a:noFill/>
                    </a:lnR>
                    <a:lnT>
                      <a:noFill/>
                    </a:lnT>
                    <a:lnB>
                      <a:noFill/>
                    </a:lnB>
                    <a:noFill/>
                  </a:tcPr>
                </a:tc>
                <a:extLst>
                  <a:ext uri="{0D108BD9-81ED-4DB2-BD59-A6C34878D82A}">
                    <a16:rowId xmlns:a16="http://schemas.microsoft.com/office/drawing/2014/main" val="1469301596"/>
                  </a:ext>
                </a:extLst>
              </a:tr>
              <a:tr h="0">
                <a:tc>
                  <a:txBody>
                    <a:bodyPr/>
                    <a:lstStyle/>
                    <a:p>
                      <a:pPr>
                        <a:buNone/>
                      </a:pPr>
                      <a:r>
                        <a:rPr lang="en-IN"/>
                        <a:t>Contains "Free"</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349761075"/>
                  </a:ext>
                </a:extLst>
              </a:tr>
              <a:tr h="0">
                <a:tc>
                  <a:txBody>
                    <a:bodyPr/>
                    <a:lstStyle/>
                    <a:p>
                      <a:pPr>
                        <a:buNone/>
                      </a:pPr>
                      <a:r>
                        <a:rPr lang="en-IN" dirty="0"/>
                        <a:t>Contains many links</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948191405"/>
                  </a:ext>
                </a:extLst>
              </a:tr>
              <a:tr h="0">
                <a:tc>
                  <a:txBody>
                    <a:bodyPr/>
                    <a:lstStyle/>
                    <a:p>
                      <a:pPr>
                        <a:buNone/>
                      </a:pPr>
                      <a:r>
                        <a:rPr lang="en-IN"/>
                        <a:t>Sender is unknown</a:t>
                      </a:r>
                    </a:p>
                  </a:txBody>
                  <a:tcPr anchor="ctr">
                    <a:lnL>
                      <a:noFill/>
                    </a:lnL>
                    <a:lnR>
                      <a:noFill/>
                    </a:lnR>
                    <a:lnT>
                      <a:noFill/>
                    </a:lnT>
                    <a:lnB>
                      <a:noFill/>
                    </a:lnB>
                    <a:noFill/>
                  </a:tcPr>
                </a:tc>
                <a:tc>
                  <a:txBody>
                    <a:bodyPr/>
                    <a:lstStyle/>
                    <a:p>
                      <a:pPr>
                        <a:buNone/>
                      </a:pPr>
                      <a:r>
                        <a:rPr lang="en-IN" b="1"/>
                        <a:t>Spam</a:t>
                      </a:r>
                      <a:endParaRPr lang="en-IN"/>
                    </a:p>
                  </a:txBody>
                  <a:tcPr anchor="ctr">
                    <a:lnL>
                      <a:noFill/>
                    </a:lnL>
                    <a:lnR>
                      <a:noFill/>
                    </a:lnR>
                    <a:lnT>
                      <a:noFill/>
                    </a:lnT>
                    <a:lnB>
                      <a:noFill/>
                    </a:lnB>
                    <a:noFill/>
                  </a:tcPr>
                </a:tc>
                <a:extLst>
                  <a:ext uri="{0D108BD9-81ED-4DB2-BD59-A6C34878D82A}">
                    <a16:rowId xmlns:a16="http://schemas.microsoft.com/office/drawing/2014/main" val="3814779475"/>
                  </a:ext>
                </a:extLst>
              </a:tr>
              <a:tr h="0">
                <a:tc>
                  <a:txBody>
                    <a:bodyPr/>
                    <a:lstStyle/>
                    <a:p>
                      <a:pPr>
                        <a:buNone/>
                      </a:pPr>
                      <a:r>
                        <a:rPr lang="en-IN"/>
                        <a:t>Contains "Congratulations"</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386540872"/>
                  </a:ext>
                </a:extLst>
              </a:tr>
              <a:tr h="0">
                <a:tc>
                  <a:txBody>
                    <a:bodyPr/>
                    <a:lstStyle/>
                    <a:p>
                      <a:pPr>
                        <a:buNone/>
                      </a:pPr>
                      <a:r>
                        <a:rPr lang="en-IN" dirty="0"/>
                        <a:t>Contains "Win money"</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871632659"/>
                  </a:ext>
                </a:extLst>
              </a:tr>
            </a:tbl>
          </a:graphicData>
        </a:graphic>
      </p:graphicFrame>
      <p:graphicFrame>
        <p:nvGraphicFramePr>
          <p:cNvPr id="4" name="Table 3">
            <a:extLst>
              <a:ext uri="{FF2B5EF4-FFF2-40B4-BE49-F238E27FC236}">
                <a16:creationId xmlns:a16="http://schemas.microsoft.com/office/drawing/2014/main" id="{8A4B3B9D-CF7B-0DA3-922F-C9F35F0A6DF9}"/>
              </a:ext>
            </a:extLst>
          </p:cNvPr>
          <p:cNvGraphicFramePr>
            <a:graphicFrameLocks noGrp="1"/>
          </p:cNvGraphicFramePr>
          <p:nvPr>
            <p:extLst>
              <p:ext uri="{D42A27DB-BD31-4B8C-83A1-F6EECF244321}">
                <p14:modId xmlns:p14="http://schemas.microsoft.com/office/powerpoint/2010/main" val="900054483"/>
              </p:ext>
            </p:extLst>
          </p:nvPr>
        </p:nvGraphicFramePr>
        <p:xfrm>
          <a:off x="6907936" y="1175226"/>
          <a:ext cx="3987862" cy="2926080"/>
        </p:xfrm>
        <a:graphic>
          <a:graphicData uri="http://schemas.openxmlformats.org/drawingml/2006/table">
            <a:tbl>
              <a:tblPr/>
              <a:tblGrid>
                <a:gridCol w="1993931">
                  <a:extLst>
                    <a:ext uri="{9D8B030D-6E8A-4147-A177-3AD203B41FA5}">
                      <a16:colId xmlns:a16="http://schemas.microsoft.com/office/drawing/2014/main" val="3548749710"/>
                    </a:ext>
                  </a:extLst>
                </a:gridCol>
                <a:gridCol w="1993931">
                  <a:extLst>
                    <a:ext uri="{9D8B030D-6E8A-4147-A177-3AD203B41FA5}">
                      <a16:colId xmlns:a16="http://schemas.microsoft.com/office/drawing/2014/main" val="3513072169"/>
                    </a:ext>
                  </a:extLst>
                </a:gridCol>
              </a:tblGrid>
              <a:tr h="0">
                <a:tc>
                  <a:txBody>
                    <a:bodyPr/>
                    <a:lstStyle/>
                    <a:p>
                      <a:pPr>
                        <a:buNone/>
                      </a:pPr>
                      <a:r>
                        <a:rPr lang="en-IN"/>
                        <a:t>Email features</a:t>
                      </a:r>
                    </a:p>
                  </a:txBody>
                  <a:tcPr anchor="ctr">
                    <a:lnL>
                      <a:noFill/>
                    </a:lnL>
                    <a:lnR>
                      <a:noFill/>
                    </a:lnR>
                    <a:lnT>
                      <a:noFill/>
                    </a:lnT>
                    <a:lnB>
                      <a:noFill/>
                    </a:lnB>
                    <a:noFill/>
                  </a:tcPr>
                </a:tc>
                <a:tc>
                  <a:txBody>
                    <a:bodyPr/>
                    <a:lstStyle/>
                    <a:p>
                      <a:pPr>
                        <a:buNone/>
                      </a:pPr>
                      <a:r>
                        <a:rPr lang="en-IN"/>
                        <a:t>Label</a:t>
                      </a:r>
                    </a:p>
                  </a:txBody>
                  <a:tcPr anchor="ctr">
                    <a:lnL>
                      <a:noFill/>
                    </a:lnL>
                    <a:lnR>
                      <a:noFill/>
                    </a:lnR>
                    <a:lnT>
                      <a:noFill/>
                    </a:lnT>
                    <a:lnB>
                      <a:noFill/>
                    </a:lnB>
                    <a:noFill/>
                  </a:tcPr>
                </a:tc>
                <a:extLst>
                  <a:ext uri="{0D108BD9-81ED-4DB2-BD59-A6C34878D82A}">
                    <a16:rowId xmlns:a16="http://schemas.microsoft.com/office/drawing/2014/main" val="1601352620"/>
                  </a:ext>
                </a:extLst>
              </a:tr>
              <a:tr h="0">
                <a:tc>
                  <a:txBody>
                    <a:bodyPr/>
                    <a:lstStyle/>
                    <a:p>
                      <a:pPr>
                        <a:buNone/>
                      </a:pPr>
                      <a:r>
                        <a:rPr lang="en-IN" dirty="0"/>
                        <a:t>Few links, known sender</a:t>
                      </a:r>
                    </a:p>
                  </a:txBody>
                  <a:tcPr anchor="ctr">
                    <a:lnL>
                      <a:noFill/>
                    </a:lnL>
                    <a:lnR>
                      <a:noFill/>
                    </a:lnR>
                    <a:lnT>
                      <a:noFill/>
                    </a:lnT>
                    <a:lnB>
                      <a:noFill/>
                    </a:lnB>
                    <a:noFill/>
                  </a:tcPr>
                </a:tc>
                <a:tc>
                  <a:txBody>
                    <a:bodyPr/>
                    <a:lstStyle/>
                    <a:p>
                      <a:pPr>
                        <a:buNone/>
                      </a:pPr>
                      <a:r>
                        <a:rPr lang="en-IN"/>
                        <a:t>Not Spam</a:t>
                      </a:r>
                    </a:p>
                  </a:txBody>
                  <a:tcPr anchor="ctr">
                    <a:lnL>
                      <a:noFill/>
                    </a:lnL>
                    <a:lnR>
                      <a:noFill/>
                    </a:lnR>
                    <a:lnT>
                      <a:noFill/>
                    </a:lnT>
                    <a:lnB>
                      <a:noFill/>
                    </a:lnB>
                    <a:noFill/>
                  </a:tcPr>
                </a:tc>
                <a:extLst>
                  <a:ext uri="{0D108BD9-81ED-4DB2-BD59-A6C34878D82A}">
                    <a16:rowId xmlns:a16="http://schemas.microsoft.com/office/drawing/2014/main" val="3221229627"/>
                  </a:ext>
                </a:extLst>
              </a:tr>
              <a:tr h="0">
                <a:tc>
                  <a:txBody>
                    <a:bodyPr/>
                    <a:lstStyle/>
                    <a:p>
                      <a:pPr>
                        <a:buNone/>
                      </a:pPr>
                      <a:r>
                        <a:rPr lang="en-IN"/>
                        <a:t>"Win ₹10,000", unknown sender</a:t>
                      </a:r>
                    </a:p>
                  </a:txBody>
                  <a:tcPr anchor="ctr">
                    <a:lnL>
                      <a:noFill/>
                    </a:lnL>
                    <a:lnR>
                      <a:noFill/>
                    </a:lnR>
                    <a:lnT>
                      <a:noFill/>
                    </a:lnT>
                    <a:lnB>
                      <a:noFill/>
                    </a:lnB>
                    <a:noFill/>
                  </a:tcPr>
                </a:tc>
                <a:tc>
                  <a:txBody>
                    <a:bodyPr/>
                    <a:lstStyle/>
                    <a:p>
                      <a:pPr>
                        <a:buNone/>
                      </a:pPr>
                      <a:r>
                        <a:rPr lang="en-IN" dirty="0"/>
                        <a:t>Spam</a:t>
                      </a:r>
                    </a:p>
                  </a:txBody>
                  <a:tcPr anchor="ctr">
                    <a:lnL>
                      <a:noFill/>
                    </a:lnL>
                    <a:lnR>
                      <a:noFill/>
                    </a:lnR>
                    <a:lnT>
                      <a:noFill/>
                    </a:lnT>
                    <a:lnB>
                      <a:noFill/>
                    </a:lnB>
                    <a:noFill/>
                  </a:tcPr>
                </a:tc>
                <a:extLst>
                  <a:ext uri="{0D108BD9-81ED-4DB2-BD59-A6C34878D82A}">
                    <a16:rowId xmlns:a16="http://schemas.microsoft.com/office/drawing/2014/main" val="3069665141"/>
                  </a:ext>
                </a:extLst>
              </a:tr>
              <a:tr h="0">
                <a:tc>
                  <a:txBody>
                    <a:bodyPr/>
                    <a:lstStyle/>
                    <a:p>
                      <a:pPr>
                        <a:buNone/>
                      </a:pPr>
                      <a:r>
                        <a:rPr lang="en-IN"/>
                        <a:t>Normal business communication</a:t>
                      </a:r>
                    </a:p>
                  </a:txBody>
                  <a:tcPr anchor="ctr">
                    <a:lnL>
                      <a:noFill/>
                    </a:lnL>
                    <a:lnR>
                      <a:noFill/>
                    </a:lnR>
                    <a:lnT>
                      <a:noFill/>
                    </a:lnT>
                    <a:lnB>
                      <a:noFill/>
                    </a:lnB>
                    <a:noFill/>
                  </a:tcPr>
                </a:tc>
                <a:tc>
                  <a:txBody>
                    <a:bodyPr/>
                    <a:lstStyle/>
                    <a:p>
                      <a:pPr>
                        <a:buNone/>
                      </a:pPr>
                      <a:r>
                        <a:rPr lang="en-IN"/>
                        <a:t>Not Spam</a:t>
                      </a:r>
                    </a:p>
                  </a:txBody>
                  <a:tcPr anchor="ctr">
                    <a:lnL>
                      <a:noFill/>
                    </a:lnL>
                    <a:lnR>
                      <a:noFill/>
                    </a:lnR>
                    <a:lnT>
                      <a:noFill/>
                    </a:lnT>
                    <a:lnB>
                      <a:noFill/>
                    </a:lnB>
                    <a:noFill/>
                  </a:tcPr>
                </a:tc>
                <a:extLst>
                  <a:ext uri="{0D108BD9-81ED-4DB2-BD59-A6C34878D82A}">
                    <a16:rowId xmlns:a16="http://schemas.microsoft.com/office/drawing/2014/main" val="1976943592"/>
                  </a:ext>
                </a:extLst>
              </a:tr>
              <a:tr h="0">
                <a:tc>
                  <a:txBody>
                    <a:bodyPr/>
                    <a:lstStyle/>
                    <a:p>
                      <a:pPr>
                        <a:buNone/>
                      </a:pPr>
                      <a:r>
                        <a:rPr lang="en-IN"/>
                        <a:t>"You won a prize!"</a:t>
                      </a:r>
                    </a:p>
                  </a:txBody>
                  <a:tcPr anchor="ctr">
                    <a:lnL>
                      <a:noFill/>
                    </a:lnL>
                    <a:lnR>
                      <a:noFill/>
                    </a:lnR>
                    <a:lnT>
                      <a:noFill/>
                    </a:lnT>
                    <a:lnB>
                      <a:noFill/>
                    </a:lnB>
                    <a:noFill/>
                  </a:tcPr>
                </a:tc>
                <a:tc>
                  <a:txBody>
                    <a:bodyPr/>
                    <a:lstStyle/>
                    <a:p>
                      <a:pPr>
                        <a:buNone/>
                      </a:pPr>
                      <a:r>
                        <a:rPr lang="en-IN" dirty="0"/>
                        <a:t>Spam</a:t>
                      </a:r>
                    </a:p>
                  </a:txBody>
                  <a:tcPr anchor="ctr">
                    <a:lnL>
                      <a:noFill/>
                    </a:lnL>
                    <a:lnR>
                      <a:noFill/>
                    </a:lnR>
                    <a:lnT>
                      <a:noFill/>
                    </a:lnT>
                    <a:lnB>
                      <a:noFill/>
                    </a:lnB>
                    <a:noFill/>
                  </a:tcPr>
                </a:tc>
                <a:extLst>
                  <a:ext uri="{0D108BD9-81ED-4DB2-BD59-A6C34878D82A}">
                    <a16:rowId xmlns:a16="http://schemas.microsoft.com/office/drawing/2014/main" val="790980784"/>
                  </a:ext>
                </a:extLst>
              </a:tr>
            </a:tbl>
          </a:graphicData>
        </a:graphic>
      </p:graphicFrame>
      <p:sp>
        <p:nvSpPr>
          <p:cNvPr id="7" name="TextBox 6">
            <a:extLst>
              <a:ext uri="{FF2B5EF4-FFF2-40B4-BE49-F238E27FC236}">
                <a16:creationId xmlns:a16="http://schemas.microsoft.com/office/drawing/2014/main" id="{C2CA1BA0-7EE3-7FB0-15B9-9CDB698157FF}"/>
              </a:ext>
            </a:extLst>
          </p:cNvPr>
          <p:cNvSpPr txBox="1"/>
          <p:nvPr/>
        </p:nvSpPr>
        <p:spPr>
          <a:xfrm>
            <a:off x="677863" y="1064141"/>
            <a:ext cx="6100618" cy="2308324"/>
          </a:xfrm>
          <a:prstGeom prst="rect">
            <a:avLst/>
          </a:prstGeom>
          <a:noFill/>
        </p:spPr>
        <p:txBody>
          <a:bodyPr wrap="square">
            <a:spAutoFit/>
          </a:bodyPr>
          <a:lstStyle/>
          <a:p>
            <a:pPr>
              <a:buNone/>
            </a:pPr>
            <a:r>
              <a:rPr lang="en-IN" b="1" dirty="0"/>
              <a:t>Simple Example: Spam Email Detection</a:t>
            </a:r>
          </a:p>
          <a:p>
            <a:pPr>
              <a:buNone/>
            </a:pPr>
            <a:endParaRPr lang="en-IN" b="1" dirty="0"/>
          </a:p>
          <a:p>
            <a:pPr>
              <a:buNone/>
            </a:pPr>
            <a:r>
              <a:rPr lang="en-IN" dirty="0"/>
              <a:t>Suppose we want AI to identify whether an email is spam.</a:t>
            </a:r>
          </a:p>
          <a:p>
            <a:pPr>
              <a:buNone/>
            </a:pPr>
            <a:r>
              <a:rPr lang="en-IN" dirty="0"/>
              <a:t>Here, the features describe the email, while </a:t>
            </a:r>
            <a:r>
              <a:rPr lang="en-IN" b="1" dirty="0"/>
              <a:t>Spam</a:t>
            </a:r>
            <a:r>
              <a:rPr lang="en-IN" dirty="0"/>
              <a:t> is the label.</a:t>
            </a:r>
          </a:p>
          <a:p>
            <a:pPr>
              <a:buNone/>
            </a:pPr>
            <a:r>
              <a:rPr lang="en-IN" dirty="0"/>
              <a:t>Another example:</a:t>
            </a:r>
          </a:p>
          <a:p>
            <a:pPr>
              <a:buNone/>
            </a:pPr>
            <a:r>
              <a:rPr lang="en-IN" dirty="0"/>
              <a:t>The model learns patterns from these examples.</a:t>
            </a:r>
          </a:p>
        </p:txBody>
      </p:sp>
    </p:spTree>
    <p:extLst>
      <p:ext uri="{BB962C8B-B14F-4D97-AF65-F5344CB8AC3E}">
        <p14:creationId xmlns:p14="http://schemas.microsoft.com/office/powerpoint/2010/main" val="272632666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2626A-10D5-9670-7FE3-57FC8DB672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53915-6A31-ED0B-1CE7-A672B1B02620}"/>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graphicFrame>
        <p:nvGraphicFramePr>
          <p:cNvPr id="5" name="Table 4">
            <a:extLst>
              <a:ext uri="{FF2B5EF4-FFF2-40B4-BE49-F238E27FC236}">
                <a16:creationId xmlns:a16="http://schemas.microsoft.com/office/drawing/2014/main" id="{B1E7F981-0ECD-B126-818B-D7509F611CAC}"/>
              </a:ext>
            </a:extLst>
          </p:cNvPr>
          <p:cNvGraphicFramePr>
            <a:graphicFrameLocks noGrp="1"/>
          </p:cNvGraphicFramePr>
          <p:nvPr>
            <p:extLst>
              <p:ext uri="{D42A27DB-BD31-4B8C-83A1-F6EECF244321}">
                <p14:modId xmlns:p14="http://schemas.microsoft.com/office/powerpoint/2010/main" val="1919133549"/>
              </p:ext>
            </p:extLst>
          </p:nvPr>
        </p:nvGraphicFramePr>
        <p:xfrm>
          <a:off x="685572" y="1234440"/>
          <a:ext cx="8596312" cy="2194560"/>
        </p:xfrm>
        <a:graphic>
          <a:graphicData uri="http://schemas.openxmlformats.org/drawingml/2006/table">
            <a:tbl>
              <a:tblPr/>
              <a:tblGrid>
                <a:gridCol w="4298156">
                  <a:extLst>
                    <a:ext uri="{9D8B030D-6E8A-4147-A177-3AD203B41FA5}">
                      <a16:colId xmlns:a16="http://schemas.microsoft.com/office/drawing/2014/main" val="1885828628"/>
                    </a:ext>
                  </a:extLst>
                </a:gridCol>
                <a:gridCol w="4298156">
                  <a:extLst>
                    <a:ext uri="{9D8B030D-6E8A-4147-A177-3AD203B41FA5}">
                      <a16:colId xmlns:a16="http://schemas.microsoft.com/office/drawing/2014/main" val="2978857295"/>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Label</a:t>
                      </a:r>
                    </a:p>
                  </a:txBody>
                  <a:tcPr anchor="ctr">
                    <a:lnL>
                      <a:noFill/>
                    </a:lnL>
                    <a:lnR>
                      <a:noFill/>
                    </a:lnR>
                    <a:lnT>
                      <a:noFill/>
                    </a:lnT>
                    <a:lnB>
                      <a:noFill/>
                    </a:lnB>
                    <a:noFill/>
                  </a:tcPr>
                </a:tc>
                <a:extLst>
                  <a:ext uri="{0D108BD9-81ED-4DB2-BD59-A6C34878D82A}">
                    <a16:rowId xmlns:a16="http://schemas.microsoft.com/office/drawing/2014/main" val="1242141644"/>
                  </a:ext>
                </a:extLst>
              </a:tr>
              <a:tr h="0">
                <a:tc>
                  <a:txBody>
                    <a:bodyPr/>
                    <a:lstStyle/>
                    <a:p>
                      <a:pPr>
                        <a:buNone/>
                      </a:pPr>
                      <a:r>
                        <a:rPr lang="en-IN"/>
                        <a:t>Input to the model</a:t>
                      </a:r>
                    </a:p>
                  </a:txBody>
                  <a:tcPr anchor="ctr">
                    <a:lnL>
                      <a:noFill/>
                    </a:lnL>
                    <a:lnR>
                      <a:noFill/>
                    </a:lnR>
                    <a:lnT>
                      <a:noFill/>
                    </a:lnT>
                    <a:lnB>
                      <a:noFill/>
                    </a:lnB>
                    <a:noFill/>
                  </a:tcPr>
                </a:tc>
                <a:tc>
                  <a:txBody>
                    <a:bodyPr/>
                    <a:lstStyle/>
                    <a:p>
                      <a:pPr>
                        <a:buNone/>
                      </a:pPr>
                      <a:r>
                        <a:rPr lang="en-IN"/>
                        <a:t>Output the model learns to predict</a:t>
                      </a:r>
                    </a:p>
                  </a:txBody>
                  <a:tcPr anchor="ctr">
                    <a:lnL>
                      <a:noFill/>
                    </a:lnL>
                    <a:lnR>
                      <a:noFill/>
                    </a:lnR>
                    <a:lnT>
                      <a:noFill/>
                    </a:lnT>
                    <a:lnB>
                      <a:noFill/>
                    </a:lnB>
                    <a:noFill/>
                  </a:tcPr>
                </a:tc>
                <a:extLst>
                  <a:ext uri="{0D108BD9-81ED-4DB2-BD59-A6C34878D82A}">
                    <a16:rowId xmlns:a16="http://schemas.microsoft.com/office/drawing/2014/main" val="4127910263"/>
                  </a:ext>
                </a:extLst>
              </a:tr>
              <a:tr h="0">
                <a:tc>
                  <a:txBody>
                    <a:bodyPr/>
                    <a:lstStyle/>
                    <a:p>
                      <a:pPr>
                        <a:buNone/>
                      </a:pPr>
                      <a:r>
                        <a:rPr lang="en-IN"/>
                        <a:t>Describes the data</a:t>
                      </a:r>
                    </a:p>
                  </a:txBody>
                  <a:tcPr anchor="ctr">
                    <a:lnL>
                      <a:noFill/>
                    </a:lnL>
                    <a:lnR>
                      <a:noFill/>
                    </a:lnR>
                    <a:lnT>
                      <a:noFill/>
                    </a:lnT>
                    <a:lnB>
                      <a:noFill/>
                    </a:lnB>
                    <a:noFill/>
                  </a:tcPr>
                </a:tc>
                <a:tc>
                  <a:txBody>
                    <a:bodyPr/>
                    <a:lstStyle/>
                    <a:p>
                      <a:pPr>
                        <a:buNone/>
                      </a:pPr>
                      <a:r>
                        <a:rPr lang="en-IN"/>
                        <a:t>Represents the answer</a:t>
                      </a:r>
                    </a:p>
                  </a:txBody>
                  <a:tcPr anchor="ctr">
                    <a:lnL>
                      <a:noFill/>
                    </a:lnL>
                    <a:lnR>
                      <a:noFill/>
                    </a:lnR>
                    <a:lnT>
                      <a:noFill/>
                    </a:lnT>
                    <a:lnB>
                      <a:noFill/>
                    </a:lnB>
                    <a:noFill/>
                  </a:tcPr>
                </a:tc>
                <a:extLst>
                  <a:ext uri="{0D108BD9-81ED-4DB2-BD59-A6C34878D82A}">
                    <a16:rowId xmlns:a16="http://schemas.microsoft.com/office/drawing/2014/main" val="2620044646"/>
                  </a:ext>
                </a:extLst>
              </a:tr>
              <a:tr h="0">
                <a:tc>
                  <a:txBody>
                    <a:bodyPr/>
                    <a:lstStyle/>
                    <a:p>
                      <a:pPr>
                        <a:buNone/>
                      </a:pPr>
                      <a:r>
                        <a:rPr lang="en-IN"/>
                        <a:t>Also called independent variable</a:t>
                      </a:r>
                    </a:p>
                  </a:txBody>
                  <a:tcPr anchor="ctr">
                    <a:lnL>
                      <a:noFill/>
                    </a:lnL>
                    <a:lnR>
                      <a:noFill/>
                    </a:lnR>
                    <a:lnT>
                      <a:noFill/>
                    </a:lnT>
                    <a:lnB>
                      <a:noFill/>
                    </a:lnB>
                    <a:noFill/>
                  </a:tcPr>
                </a:tc>
                <a:tc>
                  <a:txBody>
                    <a:bodyPr/>
                    <a:lstStyle/>
                    <a:p>
                      <a:pPr>
                        <a:buNone/>
                      </a:pPr>
                      <a:r>
                        <a:rPr lang="en-IN"/>
                        <a:t>Also called target/dependent variable</a:t>
                      </a:r>
                    </a:p>
                  </a:txBody>
                  <a:tcPr anchor="ctr">
                    <a:lnL>
                      <a:noFill/>
                    </a:lnL>
                    <a:lnR>
                      <a:noFill/>
                    </a:lnR>
                    <a:lnT>
                      <a:noFill/>
                    </a:lnT>
                    <a:lnB>
                      <a:noFill/>
                    </a:lnB>
                    <a:noFill/>
                  </a:tcPr>
                </a:tc>
                <a:extLst>
                  <a:ext uri="{0D108BD9-81ED-4DB2-BD59-A6C34878D82A}">
                    <a16:rowId xmlns:a16="http://schemas.microsoft.com/office/drawing/2014/main" val="3113532354"/>
                  </a:ext>
                </a:extLst>
              </a:tr>
              <a:tr h="0">
                <a:tc>
                  <a:txBody>
                    <a:bodyPr/>
                    <a:lstStyle/>
                    <a:p>
                      <a:pPr>
                        <a:buNone/>
                      </a:pPr>
                      <a:r>
                        <a:rPr lang="en-IN"/>
                        <a:t>Example: Age, salary, location</a:t>
                      </a:r>
                    </a:p>
                  </a:txBody>
                  <a:tcPr anchor="ctr">
                    <a:lnL>
                      <a:noFill/>
                    </a:lnL>
                    <a:lnR>
                      <a:noFill/>
                    </a:lnR>
                    <a:lnT>
                      <a:noFill/>
                    </a:lnT>
                    <a:lnB>
                      <a:noFill/>
                    </a:lnB>
                    <a:noFill/>
                  </a:tcPr>
                </a:tc>
                <a:tc>
                  <a:txBody>
                    <a:bodyPr/>
                    <a:lstStyle/>
                    <a:p>
                      <a:pPr>
                        <a:buNone/>
                      </a:pPr>
                      <a:r>
                        <a:rPr lang="en-IN"/>
                        <a:t>Example: Loan approved</a:t>
                      </a:r>
                    </a:p>
                  </a:txBody>
                  <a:tcPr anchor="ctr">
                    <a:lnL>
                      <a:noFill/>
                    </a:lnL>
                    <a:lnR>
                      <a:noFill/>
                    </a:lnR>
                    <a:lnT>
                      <a:noFill/>
                    </a:lnT>
                    <a:lnB>
                      <a:noFill/>
                    </a:lnB>
                    <a:noFill/>
                  </a:tcPr>
                </a:tc>
                <a:extLst>
                  <a:ext uri="{0D108BD9-81ED-4DB2-BD59-A6C34878D82A}">
                    <a16:rowId xmlns:a16="http://schemas.microsoft.com/office/drawing/2014/main" val="1994918242"/>
                  </a:ext>
                </a:extLst>
              </a:tr>
              <a:tr h="0">
                <a:tc>
                  <a:txBody>
                    <a:bodyPr/>
                    <a:lstStyle/>
                    <a:p>
                      <a:pPr>
                        <a:buNone/>
                      </a:pPr>
                      <a:r>
                        <a:rPr lang="en-IN"/>
                        <a:t>Available before prediction</a:t>
                      </a:r>
                    </a:p>
                  </a:txBody>
                  <a:tcPr anchor="ctr">
                    <a:lnL>
                      <a:noFill/>
                    </a:lnL>
                    <a:lnR>
                      <a:noFill/>
                    </a:lnR>
                    <a:lnT>
                      <a:noFill/>
                    </a:lnT>
                    <a:lnB>
                      <a:noFill/>
                    </a:lnB>
                    <a:noFill/>
                  </a:tcPr>
                </a:tc>
                <a:tc>
                  <a:txBody>
                    <a:bodyPr/>
                    <a:lstStyle/>
                    <a:p>
                      <a:pPr>
                        <a:buNone/>
                      </a:pPr>
                      <a:r>
                        <a:rPr lang="en-IN" dirty="0"/>
                        <a:t>Usually what we want to predict</a:t>
                      </a:r>
                    </a:p>
                  </a:txBody>
                  <a:tcPr anchor="ctr">
                    <a:lnL>
                      <a:noFill/>
                    </a:lnL>
                    <a:lnR>
                      <a:noFill/>
                    </a:lnR>
                    <a:lnT>
                      <a:noFill/>
                    </a:lnT>
                    <a:lnB>
                      <a:noFill/>
                    </a:lnB>
                    <a:noFill/>
                  </a:tcPr>
                </a:tc>
                <a:extLst>
                  <a:ext uri="{0D108BD9-81ED-4DB2-BD59-A6C34878D82A}">
                    <a16:rowId xmlns:a16="http://schemas.microsoft.com/office/drawing/2014/main" val="4282787616"/>
                  </a:ext>
                </a:extLst>
              </a:tr>
            </a:tbl>
          </a:graphicData>
        </a:graphic>
      </p:graphicFrame>
    </p:spTree>
    <p:extLst>
      <p:ext uri="{BB962C8B-B14F-4D97-AF65-F5344CB8AC3E}">
        <p14:creationId xmlns:p14="http://schemas.microsoft.com/office/powerpoint/2010/main" val="80632486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6511-9FD4-1916-F476-1D301E647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FFF23-DE8F-92B7-F712-B12804F02195}"/>
              </a:ext>
            </a:extLst>
          </p:cNvPr>
          <p:cNvSpPr>
            <a:spLocks noGrp="1"/>
          </p:cNvSpPr>
          <p:nvPr>
            <p:ph type="title"/>
          </p:nvPr>
        </p:nvSpPr>
        <p:spPr>
          <a:xfrm>
            <a:off x="685216" y="231228"/>
            <a:ext cx="8596668" cy="1320800"/>
          </a:xfrm>
        </p:spPr>
        <p:txBody>
          <a:bodyPr>
            <a:normAutofit/>
          </a:bodyPr>
          <a:lstStyle/>
          <a:p>
            <a:r>
              <a:rPr lang="en-IN" sz="3200" dirty="0">
                <a:solidFill>
                  <a:schemeClr val="accent2"/>
                </a:solidFill>
              </a:rPr>
              <a:t>AI Spectrum – Features and labels</a:t>
            </a:r>
            <a:endParaRPr lang="en-US" sz="3200" b="1" dirty="0">
              <a:solidFill>
                <a:srgbClr val="FF0000"/>
              </a:solidFill>
            </a:endParaRPr>
          </a:p>
        </p:txBody>
      </p:sp>
      <p:graphicFrame>
        <p:nvGraphicFramePr>
          <p:cNvPr id="5" name="Table 4">
            <a:extLst>
              <a:ext uri="{FF2B5EF4-FFF2-40B4-BE49-F238E27FC236}">
                <a16:creationId xmlns:a16="http://schemas.microsoft.com/office/drawing/2014/main" id="{6B938602-248E-4FD1-36BB-193B537F93D4}"/>
              </a:ext>
            </a:extLst>
          </p:cNvPr>
          <p:cNvGraphicFramePr>
            <a:graphicFrameLocks noGrp="1"/>
          </p:cNvGraphicFramePr>
          <p:nvPr>
            <p:extLst>
              <p:ext uri="{D42A27DB-BD31-4B8C-83A1-F6EECF244321}">
                <p14:modId xmlns:p14="http://schemas.microsoft.com/office/powerpoint/2010/main" val="2896941674"/>
              </p:ext>
            </p:extLst>
          </p:nvPr>
        </p:nvGraphicFramePr>
        <p:xfrm>
          <a:off x="685572" y="1234440"/>
          <a:ext cx="8596311" cy="3931920"/>
        </p:xfrm>
        <a:graphic>
          <a:graphicData uri="http://schemas.openxmlformats.org/drawingml/2006/table">
            <a:tbl>
              <a:tblPr/>
              <a:tblGrid>
                <a:gridCol w="2865437">
                  <a:extLst>
                    <a:ext uri="{9D8B030D-6E8A-4147-A177-3AD203B41FA5}">
                      <a16:colId xmlns:a16="http://schemas.microsoft.com/office/drawing/2014/main" val="1885828628"/>
                    </a:ext>
                  </a:extLst>
                </a:gridCol>
                <a:gridCol w="2865437">
                  <a:extLst>
                    <a:ext uri="{9D8B030D-6E8A-4147-A177-3AD203B41FA5}">
                      <a16:colId xmlns:a16="http://schemas.microsoft.com/office/drawing/2014/main" val="3080020266"/>
                    </a:ext>
                  </a:extLst>
                </a:gridCol>
                <a:gridCol w="2865437">
                  <a:extLst>
                    <a:ext uri="{9D8B030D-6E8A-4147-A177-3AD203B41FA5}">
                      <a16:colId xmlns:a16="http://schemas.microsoft.com/office/drawing/2014/main" val="2978857295"/>
                    </a:ext>
                  </a:extLst>
                </a:gridCol>
              </a:tblGrid>
              <a:tr h="0">
                <a:tc>
                  <a:txBody>
                    <a:bodyPr/>
                    <a:lstStyle/>
                    <a:p>
                      <a:pPr>
                        <a:buNone/>
                      </a:pPr>
                      <a:r>
                        <a:rPr lang="en-IN" dirty="0"/>
                        <a:t>Problem</a:t>
                      </a:r>
                    </a:p>
                  </a:txBody>
                  <a:tcPr anchor="ctr">
                    <a:lnL>
                      <a:noFill/>
                    </a:lnL>
                    <a:lnR>
                      <a:noFill/>
                    </a:lnR>
                    <a:lnT>
                      <a:noFill/>
                    </a:lnT>
                    <a:lnB>
                      <a:noFill/>
                    </a:lnB>
                    <a:noFill/>
                  </a:tcPr>
                </a:tc>
                <a:tc>
                  <a:txBody>
                    <a:bodyPr/>
                    <a:lstStyle/>
                    <a:p>
                      <a:pPr>
                        <a:buNone/>
                      </a:pPr>
                      <a:r>
                        <a:rPr lang="en-IN"/>
                        <a:t>Features</a:t>
                      </a:r>
                    </a:p>
                  </a:txBody>
                  <a:tcPr anchor="ctr">
                    <a:lnL>
                      <a:noFill/>
                    </a:lnL>
                    <a:lnR>
                      <a:noFill/>
                    </a:lnR>
                    <a:lnT>
                      <a:noFill/>
                    </a:lnT>
                    <a:lnB>
                      <a:noFill/>
                    </a:lnB>
                    <a:noFill/>
                  </a:tcPr>
                </a:tc>
                <a:tc>
                  <a:txBody>
                    <a:bodyPr/>
                    <a:lstStyle/>
                    <a:p>
                      <a:pPr>
                        <a:buNone/>
                      </a:pPr>
                      <a:r>
                        <a:rPr lang="en-IN"/>
                        <a:t>Label</a:t>
                      </a:r>
                    </a:p>
                  </a:txBody>
                  <a:tcPr anchor="ctr">
                    <a:lnL>
                      <a:noFill/>
                    </a:lnL>
                    <a:lnR>
                      <a:noFill/>
                    </a:lnR>
                    <a:lnT>
                      <a:noFill/>
                    </a:lnT>
                    <a:lnB>
                      <a:noFill/>
                    </a:lnB>
                    <a:noFill/>
                  </a:tcPr>
                </a:tc>
                <a:extLst>
                  <a:ext uri="{0D108BD9-81ED-4DB2-BD59-A6C34878D82A}">
                    <a16:rowId xmlns:a16="http://schemas.microsoft.com/office/drawing/2014/main" val="1242141644"/>
                  </a:ext>
                </a:extLst>
              </a:tr>
              <a:tr h="0">
                <a:tc>
                  <a:txBody>
                    <a:bodyPr/>
                    <a:lstStyle/>
                    <a:p>
                      <a:pPr>
                        <a:buNone/>
                      </a:pPr>
                      <a:r>
                        <a:rPr lang="en-IN"/>
                        <a:t>House price prediction</a:t>
                      </a:r>
                    </a:p>
                  </a:txBody>
                  <a:tcPr anchor="ctr">
                    <a:lnL>
                      <a:noFill/>
                    </a:lnL>
                    <a:lnR>
                      <a:noFill/>
                    </a:lnR>
                    <a:lnT>
                      <a:noFill/>
                    </a:lnT>
                    <a:lnB>
                      <a:noFill/>
                    </a:lnB>
                    <a:noFill/>
                  </a:tcPr>
                </a:tc>
                <a:tc>
                  <a:txBody>
                    <a:bodyPr/>
                    <a:lstStyle/>
                    <a:p>
                      <a:pPr>
                        <a:buNone/>
                      </a:pPr>
                      <a:r>
                        <a:rPr lang="en-IN"/>
                        <a:t>Area, rooms, location, age</a:t>
                      </a:r>
                    </a:p>
                  </a:txBody>
                  <a:tcPr anchor="ctr">
                    <a:lnL>
                      <a:noFill/>
                    </a:lnL>
                    <a:lnR>
                      <a:noFill/>
                    </a:lnR>
                    <a:lnT>
                      <a:noFill/>
                    </a:lnT>
                    <a:lnB>
                      <a:noFill/>
                    </a:lnB>
                    <a:noFill/>
                  </a:tcPr>
                </a:tc>
                <a:tc>
                  <a:txBody>
                    <a:bodyPr/>
                    <a:lstStyle/>
                    <a:p>
                      <a:pPr>
                        <a:buNone/>
                      </a:pPr>
                      <a:r>
                        <a:rPr lang="en-IN"/>
                        <a:t>Price</a:t>
                      </a:r>
                    </a:p>
                  </a:txBody>
                  <a:tcPr anchor="ctr">
                    <a:lnL>
                      <a:noFill/>
                    </a:lnL>
                    <a:lnR>
                      <a:noFill/>
                    </a:lnR>
                    <a:lnT>
                      <a:noFill/>
                    </a:lnT>
                    <a:lnB>
                      <a:noFill/>
                    </a:lnB>
                    <a:noFill/>
                  </a:tcPr>
                </a:tc>
                <a:extLst>
                  <a:ext uri="{0D108BD9-81ED-4DB2-BD59-A6C34878D82A}">
                    <a16:rowId xmlns:a16="http://schemas.microsoft.com/office/drawing/2014/main" val="1636112322"/>
                  </a:ext>
                </a:extLst>
              </a:tr>
              <a:tr h="0">
                <a:tc>
                  <a:txBody>
                    <a:bodyPr/>
                    <a:lstStyle/>
                    <a:p>
                      <a:pPr>
                        <a:buNone/>
                      </a:pPr>
                      <a:r>
                        <a:rPr lang="en-IN"/>
                        <a:t>Spam detection</a:t>
                      </a:r>
                    </a:p>
                  </a:txBody>
                  <a:tcPr anchor="ctr">
                    <a:lnL>
                      <a:noFill/>
                    </a:lnL>
                    <a:lnR>
                      <a:noFill/>
                    </a:lnR>
                    <a:lnT>
                      <a:noFill/>
                    </a:lnT>
                    <a:lnB>
                      <a:noFill/>
                    </a:lnB>
                    <a:noFill/>
                  </a:tcPr>
                </a:tc>
                <a:tc>
                  <a:txBody>
                    <a:bodyPr/>
                    <a:lstStyle/>
                    <a:p>
                      <a:pPr>
                        <a:buNone/>
                      </a:pPr>
                      <a:r>
                        <a:rPr lang="en-IN"/>
                        <a:t>Words, links, sender</a:t>
                      </a:r>
                    </a:p>
                  </a:txBody>
                  <a:tcPr anchor="ctr">
                    <a:lnL>
                      <a:noFill/>
                    </a:lnL>
                    <a:lnR>
                      <a:noFill/>
                    </a:lnR>
                    <a:lnT>
                      <a:noFill/>
                    </a:lnT>
                    <a:lnB>
                      <a:noFill/>
                    </a:lnB>
                    <a:noFill/>
                  </a:tcPr>
                </a:tc>
                <a:tc>
                  <a:txBody>
                    <a:bodyPr/>
                    <a:lstStyle/>
                    <a:p>
                      <a:pPr>
                        <a:buNone/>
                      </a:pPr>
                      <a:r>
                        <a:rPr lang="en-IN"/>
                        <a:t>Spam / Not Spam</a:t>
                      </a:r>
                    </a:p>
                  </a:txBody>
                  <a:tcPr anchor="ctr">
                    <a:lnL>
                      <a:noFill/>
                    </a:lnL>
                    <a:lnR>
                      <a:noFill/>
                    </a:lnR>
                    <a:lnT>
                      <a:noFill/>
                    </a:lnT>
                    <a:lnB>
                      <a:noFill/>
                    </a:lnB>
                    <a:noFill/>
                  </a:tcPr>
                </a:tc>
                <a:extLst>
                  <a:ext uri="{0D108BD9-81ED-4DB2-BD59-A6C34878D82A}">
                    <a16:rowId xmlns:a16="http://schemas.microsoft.com/office/drawing/2014/main" val="4127910263"/>
                  </a:ext>
                </a:extLst>
              </a:tr>
              <a:tr h="0">
                <a:tc>
                  <a:txBody>
                    <a:bodyPr/>
                    <a:lstStyle/>
                    <a:p>
                      <a:pPr>
                        <a:buNone/>
                      </a:pPr>
                      <a:r>
                        <a:rPr lang="en-IN"/>
                        <a:t>Student result prediction</a:t>
                      </a:r>
                    </a:p>
                  </a:txBody>
                  <a:tcPr anchor="ctr">
                    <a:lnL>
                      <a:noFill/>
                    </a:lnL>
                    <a:lnR>
                      <a:noFill/>
                    </a:lnR>
                    <a:lnT>
                      <a:noFill/>
                    </a:lnT>
                    <a:lnB>
                      <a:noFill/>
                    </a:lnB>
                    <a:noFill/>
                  </a:tcPr>
                </a:tc>
                <a:tc>
                  <a:txBody>
                    <a:bodyPr/>
                    <a:lstStyle/>
                    <a:p>
                      <a:pPr>
                        <a:buNone/>
                      </a:pPr>
                      <a:r>
                        <a:rPr lang="en-IN"/>
                        <a:t>Attendance, assignments, previous marks</a:t>
                      </a:r>
                    </a:p>
                  </a:txBody>
                  <a:tcPr anchor="ctr">
                    <a:lnL>
                      <a:noFill/>
                    </a:lnL>
                    <a:lnR>
                      <a:noFill/>
                    </a:lnR>
                    <a:lnT>
                      <a:noFill/>
                    </a:lnT>
                    <a:lnB>
                      <a:noFill/>
                    </a:lnB>
                    <a:noFill/>
                  </a:tcPr>
                </a:tc>
                <a:tc>
                  <a:txBody>
                    <a:bodyPr/>
                    <a:lstStyle/>
                    <a:p>
                      <a:pPr>
                        <a:buNone/>
                      </a:pPr>
                      <a:r>
                        <a:rPr lang="en-IN"/>
                        <a:t>Pass / Fail</a:t>
                      </a:r>
                    </a:p>
                  </a:txBody>
                  <a:tcPr anchor="ctr">
                    <a:lnL>
                      <a:noFill/>
                    </a:lnL>
                    <a:lnR>
                      <a:noFill/>
                    </a:lnR>
                    <a:lnT>
                      <a:noFill/>
                    </a:lnT>
                    <a:lnB>
                      <a:noFill/>
                    </a:lnB>
                    <a:noFill/>
                  </a:tcPr>
                </a:tc>
                <a:extLst>
                  <a:ext uri="{0D108BD9-81ED-4DB2-BD59-A6C34878D82A}">
                    <a16:rowId xmlns:a16="http://schemas.microsoft.com/office/drawing/2014/main" val="2620044646"/>
                  </a:ext>
                </a:extLst>
              </a:tr>
              <a:tr h="0">
                <a:tc>
                  <a:txBody>
                    <a:bodyPr/>
                    <a:lstStyle/>
                    <a:p>
                      <a:pPr>
                        <a:buNone/>
                      </a:pPr>
                      <a:r>
                        <a:rPr lang="en-IN"/>
                        <a:t>Customer churn</a:t>
                      </a:r>
                    </a:p>
                  </a:txBody>
                  <a:tcPr anchor="ctr">
                    <a:lnL>
                      <a:noFill/>
                    </a:lnL>
                    <a:lnR>
                      <a:noFill/>
                    </a:lnR>
                    <a:lnT>
                      <a:noFill/>
                    </a:lnT>
                    <a:lnB>
                      <a:noFill/>
                    </a:lnB>
                    <a:noFill/>
                  </a:tcPr>
                </a:tc>
                <a:tc>
                  <a:txBody>
                    <a:bodyPr/>
                    <a:lstStyle/>
                    <a:p>
                      <a:pPr>
                        <a:buNone/>
                      </a:pPr>
                      <a:r>
                        <a:rPr lang="en-IN"/>
                        <a:t>Usage, tenure, complaints, plan</a:t>
                      </a:r>
                    </a:p>
                  </a:txBody>
                  <a:tcPr anchor="ctr">
                    <a:lnL>
                      <a:noFill/>
                    </a:lnL>
                    <a:lnR>
                      <a:noFill/>
                    </a:lnR>
                    <a:lnT>
                      <a:noFill/>
                    </a:lnT>
                    <a:lnB>
                      <a:noFill/>
                    </a:lnB>
                    <a:noFill/>
                  </a:tcPr>
                </a:tc>
                <a:tc>
                  <a:txBody>
                    <a:bodyPr/>
                    <a:lstStyle/>
                    <a:p>
                      <a:pPr>
                        <a:buNone/>
                      </a:pPr>
                      <a:r>
                        <a:rPr lang="en-IN"/>
                        <a:t>Churn / No Churn</a:t>
                      </a:r>
                    </a:p>
                  </a:txBody>
                  <a:tcPr anchor="ctr">
                    <a:lnL>
                      <a:noFill/>
                    </a:lnL>
                    <a:lnR>
                      <a:noFill/>
                    </a:lnR>
                    <a:lnT>
                      <a:noFill/>
                    </a:lnT>
                    <a:lnB>
                      <a:noFill/>
                    </a:lnB>
                    <a:noFill/>
                  </a:tcPr>
                </a:tc>
                <a:extLst>
                  <a:ext uri="{0D108BD9-81ED-4DB2-BD59-A6C34878D82A}">
                    <a16:rowId xmlns:a16="http://schemas.microsoft.com/office/drawing/2014/main" val="3113532354"/>
                  </a:ext>
                </a:extLst>
              </a:tr>
              <a:tr h="0">
                <a:tc>
                  <a:txBody>
                    <a:bodyPr/>
                    <a:lstStyle/>
                    <a:p>
                      <a:pPr>
                        <a:buNone/>
                      </a:pPr>
                      <a:r>
                        <a:rPr lang="en-IN"/>
                        <a:t>Disease prediction</a:t>
                      </a:r>
                    </a:p>
                  </a:txBody>
                  <a:tcPr anchor="ctr">
                    <a:lnL>
                      <a:noFill/>
                    </a:lnL>
                    <a:lnR>
                      <a:noFill/>
                    </a:lnR>
                    <a:lnT>
                      <a:noFill/>
                    </a:lnT>
                    <a:lnB>
                      <a:noFill/>
                    </a:lnB>
                    <a:noFill/>
                  </a:tcPr>
                </a:tc>
                <a:tc>
                  <a:txBody>
                    <a:bodyPr/>
                    <a:lstStyle/>
                    <a:p>
                      <a:pPr>
                        <a:buNone/>
                      </a:pPr>
                      <a:r>
                        <a:rPr lang="en-IN"/>
                        <a:t>Age, symptoms, test results</a:t>
                      </a:r>
                    </a:p>
                  </a:txBody>
                  <a:tcPr anchor="ctr">
                    <a:lnL>
                      <a:noFill/>
                    </a:lnL>
                    <a:lnR>
                      <a:noFill/>
                    </a:lnR>
                    <a:lnT>
                      <a:noFill/>
                    </a:lnT>
                    <a:lnB>
                      <a:noFill/>
                    </a:lnB>
                    <a:noFill/>
                  </a:tcPr>
                </a:tc>
                <a:tc>
                  <a:txBody>
                    <a:bodyPr/>
                    <a:lstStyle/>
                    <a:p>
                      <a:pPr>
                        <a:buNone/>
                      </a:pPr>
                      <a:r>
                        <a:rPr lang="en-IN"/>
                        <a:t>Disease / No Disease</a:t>
                      </a:r>
                    </a:p>
                  </a:txBody>
                  <a:tcPr anchor="ctr">
                    <a:lnL>
                      <a:noFill/>
                    </a:lnL>
                    <a:lnR>
                      <a:noFill/>
                    </a:lnR>
                    <a:lnT>
                      <a:noFill/>
                    </a:lnT>
                    <a:lnB>
                      <a:noFill/>
                    </a:lnB>
                    <a:noFill/>
                  </a:tcPr>
                </a:tc>
                <a:extLst>
                  <a:ext uri="{0D108BD9-81ED-4DB2-BD59-A6C34878D82A}">
                    <a16:rowId xmlns:a16="http://schemas.microsoft.com/office/drawing/2014/main" val="1994918242"/>
                  </a:ext>
                </a:extLst>
              </a:tr>
              <a:tr h="0">
                <a:tc>
                  <a:txBody>
                    <a:bodyPr/>
                    <a:lstStyle/>
                    <a:p>
                      <a:pPr>
                        <a:buNone/>
                      </a:pPr>
                      <a:r>
                        <a:rPr lang="en-IN"/>
                        <a:t>Loan approval</a:t>
                      </a:r>
                    </a:p>
                  </a:txBody>
                  <a:tcPr anchor="ctr">
                    <a:lnL>
                      <a:noFill/>
                    </a:lnL>
                    <a:lnR>
                      <a:noFill/>
                    </a:lnR>
                    <a:lnT>
                      <a:noFill/>
                    </a:lnT>
                    <a:lnB>
                      <a:noFill/>
                    </a:lnB>
                    <a:noFill/>
                  </a:tcPr>
                </a:tc>
                <a:tc>
                  <a:txBody>
                    <a:bodyPr/>
                    <a:lstStyle/>
                    <a:p>
                      <a:pPr>
                        <a:buNone/>
                      </a:pPr>
                      <a:r>
                        <a:rPr lang="en-IN"/>
                        <a:t>Income, credit score, loan amount</a:t>
                      </a:r>
                    </a:p>
                  </a:txBody>
                  <a:tcPr anchor="ctr">
                    <a:lnL>
                      <a:noFill/>
                    </a:lnL>
                    <a:lnR>
                      <a:noFill/>
                    </a:lnR>
                    <a:lnT>
                      <a:noFill/>
                    </a:lnT>
                    <a:lnB>
                      <a:noFill/>
                    </a:lnB>
                    <a:noFill/>
                  </a:tcPr>
                </a:tc>
                <a:tc>
                  <a:txBody>
                    <a:bodyPr/>
                    <a:lstStyle/>
                    <a:p>
                      <a:pPr>
                        <a:buNone/>
                      </a:pPr>
                      <a:r>
                        <a:rPr lang="en-IN" dirty="0"/>
                        <a:t>Approved / Rejected</a:t>
                      </a:r>
                    </a:p>
                  </a:txBody>
                  <a:tcPr anchor="ctr">
                    <a:lnL>
                      <a:noFill/>
                    </a:lnL>
                    <a:lnR>
                      <a:noFill/>
                    </a:lnR>
                    <a:lnT>
                      <a:noFill/>
                    </a:lnT>
                    <a:lnB>
                      <a:noFill/>
                    </a:lnB>
                    <a:noFill/>
                  </a:tcPr>
                </a:tc>
                <a:extLst>
                  <a:ext uri="{0D108BD9-81ED-4DB2-BD59-A6C34878D82A}">
                    <a16:rowId xmlns:a16="http://schemas.microsoft.com/office/drawing/2014/main" val="4282787616"/>
                  </a:ext>
                </a:extLst>
              </a:tr>
            </a:tbl>
          </a:graphicData>
        </a:graphic>
      </p:graphicFrame>
    </p:spTree>
    <p:extLst>
      <p:ext uri="{BB962C8B-B14F-4D97-AF65-F5344CB8AC3E}">
        <p14:creationId xmlns:p14="http://schemas.microsoft.com/office/powerpoint/2010/main" val="573173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890D-068E-1AFB-B2BB-273FFE3CB5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05EA0D-4780-A7FC-76E4-0F0296E4CCE5}"/>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pic>
        <p:nvPicPr>
          <p:cNvPr id="3" name="Picture 2" descr="Workflow">
            <a:extLst>
              <a:ext uri="{FF2B5EF4-FFF2-40B4-BE49-F238E27FC236}">
                <a16:creationId xmlns:a16="http://schemas.microsoft.com/office/drawing/2014/main" id="{B1FDA876-D262-46A9-438D-A4633547DA42}"/>
              </a:ext>
            </a:extLst>
          </p:cNvPr>
          <p:cNvPicPr>
            <a:picLocks noChangeAspect="1"/>
          </p:cNvPicPr>
          <p:nvPr/>
        </p:nvPicPr>
        <p:blipFill>
          <a:blip r:embed="rId2"/>
          <a:stretch>
            <a:fillRect/>
          </a:stretch>
        </p:blipFill>
        <p:spPr>
          <a:xfrm>
            <a:off x="883425" y="1054100"/>
            <a:ext cx="7881884" cy="5160819"/>
          </a:xfrm>
          <a:prstGeom prst="rect">
            <a:avLst/>
          </a:prstGeom>
        </p:spPr>
      </p:pic>
    </p:spTree>
    <p:extLst>
      <p:ext uri="{BB962C8B-B14F-4D97-AF65-F5344CB8AC3E}">
        <p14:creationId xmlns:p14="http://schemas.microsoft.com/office/powerpoint/2010/main" val="5047157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552E1-1C32-C332-100D-EE13AF613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5BDB5-AA5E-BBAA-5F8A-D843C2BFC2C9}"/>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5" name="TextBox 4">
            <a:extLst>
              <a:ext uri="{FF2B5EF4-FFF2-40B4-BE49-F238E27FC236}">
                <a16:creationId xmlns:a16="http://schemas.microsoft.com/office/drawing/2014/main" id="{A6D2B7CB-5DD7-ED1E-CD70-D99324D8145C}"/>
              </a:ext>
            </a:extLst>
          </p:cNvPr>
          <p:cNvSpPr txBox="1"/>
          <p:nvPr/>
        </p:nvSpPr>
        <p:spPr>
          <a:xfrm>
            <a:off x="685215" y="965277"/>
            <a:ext cx="8421839" cy="1077218"/>
          </a:xfrm>
          <a:prstGeom prst="rect">
            <a:avLst/>
          </a:prstGeom>
          <a:noFill/>
        </p:spPr>
        <p:txBody>
          <a:bodyPr wrap="square">
            <a:spAutoFit/>
          </a:bodyPr>
          <a:lstStyle/>
          <a:p>
            <a:r>
              <a:rPr lang="en-IN" sz="1600" b="0" i="0" u="none" strike="noStrike" dirty="0">
                <a:solidFill>
                  <a:srgbClr val="0F62FE"/>
                </a:solidFill>
                <a:effectLst/>
                <a:hlinkClick r:id="rId2"/>
              </a:rPr>
              <a:t>Artificial intelligence (AI)</a:t>
            </a:r>
            <a:r>
              <a:rPr lang="en-IN" sz="1600" b="0" i="0" dirty="0">
                <a:solidFill>
                  <a:srgbClr val="161616"/>
                </a:solidFill>
                <a:effectLst/>
              </a:rPr>
              <a:t> workflow is the process of using AI-powered technologies and products to </a:t>
            </a:r>
            <a:r>
              <a:rPr lang="en-IN" sz="1600" b="0" i="0" u="none" strike="noStrike" dirty="0">
                <a:solidFill>
                  <a:srgbClr val="0F62FE"/>
                </a:solidFill>
                <a:effectLst/>
                <a:hlinkClick r:id="rId3"/>
              </a:rPr>
              <a:t>automate tasks </a:t>
            </a:r>
            <a:r>
              <a:rPr lang="en-IN" sz="1600" b="0" i="0" dirty="0">
                <a:solidFill>
                  <a:srgbClr val="161616"/>
                </a:solidFill>
                <a:effectLst/>
              </a:rPr>
              <a:t>and streamline activities within an organization.</a:t>
            </a:r>
          </a:p>
          <a:p>
            <a:endParaRPr lang="en-IN" sz="1600" dirty="0">
              <a:solidFill>
                <a:srgbClr val="161616"/>
              </a:solidFill>
            </a:endParaRPr>
          </a:p>
          <a:p>
            <a:endParaRPr lang="en-IN" sz="1600" dirty="0"/>
          </a:p>
        </p:txBody>
      </p:sp>
      <p:sp>
        <p:nvSpPr>
          <p:cNvPr id="7" name="TextBox 6">
            <a:extLst>
              <a:ext uri="{FF2B5EF4-FFF2-40B4-BE49-F238E27FC236}">
                <a16:creationId xmlns:a16="http://schemas.microsoft.com/office/drawing/2014/main" id="{17EAC0A2-39DD-20CB-3C86-4A02632BF957}"/>
              </a:ext>
            </a:extLst>
          </p:cNvPr>
          <p:cNvSpPr txBox="1"/>
          <p:nvPr/>
        </p:nvSpPr>
        <p:spPr>
          <a:xfrm>
            <a:off x="685214" y="1916929"/>
            <a:ext cx="8596668" cy="1815882"/>
          </a:xfrm>
          <a:prstGeom prst="rect">
            <a:avLst/>
          </a:prstGeom>
          <a:noFill/>
        </p:spPr>
        <p:txBody>
          <a:bodyPr wrap="square">
            <a:spAutoFit/>
          </a:bodyPr>
          <a:lstStyle/>
          <a:p>
            <a:pPr>
              <a:buNone/>
            </a:pPr>
            <a:r>
              <a:rPr lang="en-IN" sz="1600" dirty="0"/>
              <a:t>An </a:t>
            </a:r>
            <a:r>
              <a:rPr lang="en-IN" sz="1600" b="1" dirty="0"/>
              <a:t>AI workflow</a:t>
            </a:r>
            <a:r>
              <a:rPr lang="en-IN" sz="1600" dirty="0"/>
              <a:t> is a sequence of steps through which an AI system takes </a:t>
            </a:r>
            <a:r>
              <a:rPr lang="en-IN" sz="1600" b="1" dirty="0"/>
              <a:t>data or user input</a:t>
            </a:r>
            <a:r>
              <a:rPr lang="en-IN" sz="1600" dirty="0"/>
              <a:t>, processes it, applies an AI model, and produces an </a:t>
            </a:r>
            <a:r>
              <a:rPr lang="en-IN" sz="1600" b="1" dirty="0"/>
              <a:t>output, prediction, or action</a:t>
            </a:r>
            <a:r>
              <a:rPr lang="en-IN" sz="1600" dirty="0"/>
              <a:t>.</a:t>
            </a:r>
          </a:p>
          <a:p>
            <a:pPr>
              <a:buNone/>
            </a:pPr>
            <a:endParaRPr lang="en-IN" sz="1600" dirty="0"/>
          </a:p>
          <a:p>
            <a:pPr>
              <a:buNone/>
            </a:pPr>
            <a:r>
              <a:rPr lang="en-IN" sz="1600" b="1" dirty="0"/>
              <a:t>Basic AI Workflow</a:t>
            </a:r>
          </a:p>
          <a:p>
            <a:pPr>
              <a:buNone/>
            </a:pPr>
            <a:endParaRPr lang="en-IN" sz="1600" b="1" dirty="0"/>
          </a:p>
          <a:p>
            <a:pPr>
              <a:buNone/>
            </a:pPr>
            <a:r>
              <a:rPr lang="en-IN" sz="1600" b="1" dirty="0"/>
              <a:t>Problem Definition → Data → Preparation → Model → Training → Evaluation → Deployment → Inference → Monitoring</a:t>
            </a:r>
            <a:endParaRPr lang="en-IN" sz="1600" dirty="0"/>
          </a:p>
        </p:txBody>
      </p:sp>
    </p:spTree>
    <p:extLst>
      <p:ext uri="{BB962C8B-B14F-4D97-AF65-F5344CB8AC3E}">
        <p14:creationId xmlns:p14="http://schemas.microsoft.com/office/powerpoint/2010/main" val="210186314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C275F-3890-67EA-BCF3-FB8B2FC95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E8DE5-6BF7-509F-2C37-7EFE6CB050D5}"/>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7" name="TextBox 6">
            <a:extLst>
              <a:ext uri="{FF2B5EF4-FFF2-40B4-BE49-F238E27FC236}">
                <a16:creationId xmlns:a16="http://schemas.microsoft.com/office/drawing/2014/main" id="{836E9066-31C0-9456-A8EB-E7DC94070C97}"/>
              </a:ext>
            </a:extLst>
          </p:cNvPr>
          <p:cNvSpPr txBox="1"/>
          <p:nvPr/>
        </p:nvSpPr>
        <p:spPr>
          <a:xfrm>
            <a:off x="685215" y="891628"/>
            <a:ext cx="8596668" cy="1569660"/>
          </a:xfrm>
          <a:prstGeom prst="rect">
            <a:avLst/>
          </a:prstGeom>
          <a:noFill/>
        </p:spPr>
        <p:txBody>
          <a:bodyPr wrap="square">
            <a:spAutoFit/>
          </a:bodyPr>
          <a:lstStyle/>
          <a:p>
            <a:r>
              <a:rPr lang="en-IN" sz="1600" b="1" dirty="0"/>
              <a:t>Key characteristics of AI workflows</a:t>
            </a:r>
          </a:p>
          <a:p>
            <a:endParaRPr lang="en-IN" sz="1600" b="1" dirty="0"/>
          </a:p>
          <a:p>
            <a:r>
              <a:rPr lang="en-IN" sz="1600" dirty="0"/>
              <a:t>What sets AI workflows apart from conventional automation? Several defining features distinguish these intelligent systems and make them particularly valuable for modern businesses.</a:t>
            </a:r>
          </a:p>
          <a:p>
            <a:pPr>
              <a:buNone/>
            </a:pPr>
            <a:endParaRPr lang="en-IN" sz="1600" dirty="0"/>
          </a:p>
        </p:txBody>
      </p:sp>
      <p:sp>
        <p:nvSpPr>
          <p:cNvPr id="4" name="TextBox 3">
            <a:extLst>
              <a:ext uri="{FF2B5EF4-FFF2-40B4-BE49-F238E27FC236}">
                <a16:creationId xmlns:a16="http://schemas.microsoft.com/office/drawing/2014/main" id="{5E1DD4CB-1B06-38AA-1C81-5A6ABC9B142C}"/>
              </a:ext>
            </a:extLst>
          </p:cNvPr>
          <p:cNvSpPr txBox="1"/>
          <p:nvPr/>
        </p:nvSpPr>
        <p:spPr>
          <a:xfrm>
            <a:off x="685213" y="2385889"/>
            <a:ext cx="8181695" cy="2438168"/>
          </a:xfrm>
          <a:prstGeom prst="rect">
            <a:avLst/>
          </a:prstGeom>
          <a:noFill/>
        </p:spPr>
        <p:txBody>
          <a:bodyPr wrap="square">
            <a:spAutoFit/>
          </a:bodyPr>
          <a:lstStyle/>
          <a:p>
            <a:pPr marL="0" marR="0" indent="0" algn="l">
              <a:lnSpc>
                <a:spcPts val="2250"/>
              </a:lnSpc>
              <a:spcAft>
                <a:spcPts val="1200"/>
              </a:spcAft>
              <a:buNone/>
            </a:pPr>
            <a:r>
              <a:rPr lang="en-IN" sz="1600" b="1" i="0" dirty="0">
                <a:solidFill>
                  <a:srgbClr val="2C2C2C"/>
                </a:solidFill>
                <a:effectLst/>
                <a:latin typeface="+mj-lt"/>
              </a:rPr>
              <a:t>Intelligence and adaptability</a:t>
            </a:r>
          </a:p>
          <a:p>
            <a:pPr marL="0" marR="0" indent="0" algn="l">
              <a:lnSpc>
                <a:spcPts val="2250"/>
              </a:lnSpc>
              <a:spcBef>
                <a:spcPts val="1200"/>
              </a:spcBef>
              <a:spcAft>
                <a:spcPts val="1200"/>
              </a:spcAft>
              <a:buNone/>
            </a:pPr>
            <a:r>
              <a:rPr lang="en-IN" sz="1600" b="0" i="0" dirty="0">
                <a:solidFill>
                  <a:srgbClr val="2C2C2C"/>
                </a:solidFill>
                <a:effectLst/>
                <a:latin typeface="+mj-lt"/>
              </a:rPr>
              <a:t>AI workflows leverage machine learning to understand context and make informed decisions. Rather than following a fixed script, these systems recognize patterns in data and adjust their </a:t>
            </a:r>
            <a:r>
              <a:rPr lang="en-IN" sz="1600" b="0" i="0" dirty="0" err="1">
                <a:solidFill>
                  <a:srgbClr val="2C2C2C"/>
                </a:solidFill>
                <a:effectLst/>
                <a:latin typeface="+mj-lt"/>
              </a:rPr>
              <a:t>behavior</a:t>
            </a:r>
            <a:r>
              <a:rPr lang="en-IN" sz="1600" b="0" i="0" dirty="0">
                <a:solidFill>
                  <a:srgbClr val="2C2C2C"/>
                </a:solidFill>
                <a:effectLst/>
                <a:latin typeface="+mj-lt"/>
              </a:rPr>
              <a:t> accordingly. When an AI workflow encounters a document, for example, it can identify the document type, extract relevant information, and route it appropriately — without explicit programming for each scenario.</a:t>
            </a:r>
          </a:p>
        </p:txBody>
      </p:sp>
    </p:spTree>
    <p:extLst>
      <p:ext uri="{BB962C8B-B14F-4D97-AF65-F5344CB8AC3E}">
        <p14:creationId xmlns:p14="http://schemas.microsoft.com/office/powerpoint/2010/main" val="7319509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A824-D2EC-0C04-8653-13269BF86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0FEB8F-7E6C-420C-B78C-549ABA9082EC}"/>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7" name="TextBox 6">
            <a:extLst>
              <a:ext uri="{FF2B5EF4-FFF2-40B4-BE49-F238E27FC236}">
                <a16:creationId xmlns:a16="http://schemas.microsoft.com/office/drawing/2014/main" id="{70ADA3E1-AF2D-0529-2283-E750D26A2B0B}"/>
              </a:ext>
            </a:extLst>
          </p:cNvPr>
          <p:cNvSpPr txBox="1"/>
          <p:nvPr/>
        </p:nvSpPr>
        <p:spPr>
          <a:xfrm>
            <a:off x="685215" y="891628"/>
            <a:ext cx="8596668" cy="1569660"/>
          </a:xfrm>
          <a:prstGeom prst="rect">
            <a:avLst/>
          </a:prstGeom>
          <a:noFill/>
        </p:spPr>
        <p:txBody>
          <a:bodyPr wrap="square">
            <a:spAutoFit/>
          </a:bodyPr>
          <a:lstStyle/>
          <a:p>
            <a:r>
              <a:rPr lang="en-IN" sz="1600" b="1" dirty="0"/>
              <a:t>Key characteristics of AI workflows</a:t>
            </a:r>
          </a:p>
          <a:p>
            <a:endParaRPr lang="en-IN" sz="1600" b="1" dirty="0"/>
          </a:p>
          <a:p>
            <a:r>
              <a:rPr lang="en-IN" sz="1600" dirty="0"/>
              <a:t>What sets AI workflows apart from conventional automation? Several defining features distinguish these intelligent systems and make them particularly valuable for modern businesses.</a:t>
            </a:r>
          </a:p>
          <a:p>
            <a:pPr>
              <a:buNone/>
            </a:pPr>
            <a:endParaRPr lang="en-IN" sz="1600" dirty="0"/>
          </a:p>
        </p:txBody>
      </p:sp>
      <p:sp>
        <p:nvSpPr>
          <p:cNvPr id="4" name="TextBox 3">
            <a:extLst>
              <a:ext uri="{FF2B5EF4-FFF2-40B4-BE49-F238E27FC236}">
                <a16:creationId xmlns:a16="http://schemas.microsoft.com/office/drawing/2014/main" id="{3FFD5A74-27B6-E158-0F29-7550E1E1164C}"/>
              </a:ext>
            </a:extLst>
          </p:cNvPr>
          <p:cNvSpPr txBox="1"/>
          <p:nvPr/>
        </p:nvSpPr>
        <p:spPr>
          <a:xfrm>
            <a:off x="685213" y="2385889"/>
            <a:ext cx="8181695" cy="3807774"/>
          </a:xfrm>
          <a:prstGeom prst="rect">
            <a:avLst/>
          </a:prstGeom>
          <a:noFill/>
        </p:spPr>
        <p:txBody>
          <a:bodyPr wrap="square">
            <a:spAutoFit/>
          </a:bodyPr>
          <a:lstStyle/>
          <a:p>
            <a:r>
              <a:rPr lang="en-IN" sz="1600" b="1" dirty="0"/>
              <a:t>Automation at scale</a:t>
            </a:r>
          </a:p>
          <a:p>
            <a:endParaRPr lang="en-IN" sz="1600" b="1" dirty="0"/>
          </a:p>
          <a:p>
            <a:r>
              <a:rPr lang="en-IN" sz="1600" dirty="0"/>
              <a:t>The power of </a:t>
            </a:r>
            <a:r>
              <a:rPr lang="en-IN" sz="1600" u="sng" dirty="0">
                <a:hlinkClick r:id="rId2"/>
              </a:rPr>
              <a:t>workflow automation</a:t>
            </a:r>
            <a:r>
              <a:rPr lang="en-IN" sz="1600" dirty="0"/>
              <a:t> multiplies when AI is involved. These systems excel at processing large volumes of data quickly and consistently. Tasks that would take a team of people days to complete can happen in hours or minutes, with the AI maintaining the same level of attention to detail throughout.</a:t>
            </a:r>
          </a:p>
          <a:p>
            <a:endParaRPr lang="en-IN" sz="1600" dirty="0"/>
          </a:p>
          <a:p>
            <a:r>
              <a:rPr lang="en-IN" sz="1600" dirty="0"/>
              <a:t>This scalability makes AI workflows particularly valuable for organizations dealing with high-volume processes like:</a:t>
            </a:r>
          </a:p>
          <a:p>
            <a:endParaRPr lang="en-IN" sz="1600" dirty="0"/>
          </a:p>
          <a:p>
            <a:pPr marL="285750" lvl="0" indent="-285750">
              <a:buFont typeface="Arial" panose="020B0604020202020204" pitchFamily="34" charset="0"/>
              <a:buChar char="•"/>
            </a:pPr>
            <a:r>
              <a:rPr lang="en-IN" sz="1600" dirty="0"/>
              <a:t>Invoice processing and accounts payable</a:t>
            </a:r>
          </a:p>
          <a:p>
            <a:pPr marL="285750" lvl="0" indent="-285750">
              <a:buFont typeface="Arial" panose="020B0604020202020204" pitchFamily="34" charset="0"/>
              <a:buChar char="•"/>
            </a:pPr>
            <a:r>
              <a:rPr lang="en-IN" sz="1600" dirty="0"/>
              <a:t>Customer inquiry management</a:t>
            </a:r>
          </a:p>
          <a:p>
            <a:pPr marL="285750" lvl="0" indent="-285750">
              <a:buFont typeface="Arial" panose="020B0604020202020204" pitchFamily="34" charset="0"/>
              <a:buChar char="•"/>
            </a:pPr>
            <a:r>
              <a:rPr lang="en-IN" sz="1600" dirty="0"/>
              <a:t>Document review and classification</a:t>
            </a:r>
          </a:p>
          <a:p>
            <a:pPr marL="285750" lvl="0" indent="-285750">
              <a:buFont typeface="Arial" panose="020B0604020202020204" pitchFamily="34" charset="0"/>
              <a:buChar char="•"/>
            </a:pPr>
            <a:r>
              <a:rPr lang="en-IN" sz="1600" dirty="0"/>
              <a:t>Data validation and entry</a:t>
            </a:r>
          </a:p>
          <a:p>
            <a:pPr marL="0" marR="0" indent="0" algn="l">
              <a:lnSpc>
                <a:spcPts val="2250"/>
              </a:lnSpc>
              <a:spcAft>
                <a:spcPts val="1200"/>
              </a:spcAft>
              <a:buNone/>
            </a:pPr>
            <a:endParaRPr lang="en-IN" sz="1600" b="0" i="0" dirty="0">
              <a:solidFill>
                <a:srgbClr val="2C2C2C"/>
              </a:solidFill>
              <a:effectLst/>
              <a:latin typeface="+mj-lt"/>
            </a:endParaRPr>
          </a:p>
        </p:txBody>
      </p:sp>
    </p:spTree>
    <p:extLst>
      <p:ext uri="{BB962C8B-B14F-4D97-AF65-F5344CB8AC3E}">
        <p14:creationId xmlns:p14="http://schemas.microsoft.com/office/powerpoint/2010/main" val="341089543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F81E7-1351-A9AF-66B2-449510CA4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8969FD-015D-87D3-C346-C74A21A9A8E0}"/>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7" name="TextBox 6">
            <a:extLst>
              <a:ext uri="{FF2B5EF4-FFF2-40B4-BE49-F238E27FC236}">
                <a16:creationId xmlns:a16="http://schemas.microsoft.com/office/drawing/2014/main" id="{7FC0AD0A-F031-0508-A604-6916F182379E}"/>
              </a:ext>
            </a:extLst>
          </p:cNvPr>
          <p:cNvSpPr txBox="1"/>
          <p:nvPr/>
        </p:nvSpPr>
        <p:spPr>
          <a:xfrm>
            <a:off x="685215" y="891628"/>
            <a:ext cx="8596668" cy="1569660"/>
          </a:xfrm>
          <a:prstGeom prst="rect">
            <a:avLst/>
          </a:prstGeom>
          <a:noFill/>
        </p:spPr>
        <p:txBody>
          <a:bodyPr wrap="square">
            <a:spAutoFit/>
          </a:bodyPr>
          <a:lstStyle/>
          <a:p>
            <a:r>
              <a:rPr lang="en-IN" sz="1600" b="1" dirty="0"/>
              <a:t>Key characteristics of AI workflows</a:t>
            </a:r>
          </a:p>
          <a:p>
            <a:endParaRPr lang="en-IN" sz="1600" b="1" dirty="0"/>
          </a:p>
          <a:p>
            <a:r>
              <a:rPr lang="en-IN" sz="1600" dirty="0"/>
              <a:t>What sets AI workflows apart from conventional automation? Several defining features distinguish these intelligent systems and make them particularly valuable for modern businesses.</a:t>
            </a:r>
          </a:p>
          <a:p>
            <a:pPr>
              <a:buNone/>
            </a:pPr>
            <a:endParaRPr lang="en-IN" sz="1600" dirty="0"/>
          </a:p>
        </p:txBody>
      </p:sp>
      <p:sp>
        <p:nvSpPr>
          <p:cNvPr id="4" name="TextBox 3">
            <a:extLst>
              <a:ext uri="{FF2B5EF4-FFF2-40B4-BE49-F238E27FC236}">
                <a16:creationId xmlns:a16="http://schemas.microsoft.com/office/drawing/2014/main" id="{1BDC4BE5-D3AC-B933-5923-F66515FAA0BA}"/>
              </a:ext>
            </a:extLst>
          </p:cNvPr>
          <p:cNvSpPr txBox="1"/>
          <p:nvPr/>
        </p:nvSpPr>
        <p:spPr>
          <a:xfrm>
            <a:off x="685213" y="2385889"/>
            <a:ext cx="8181695" cy="3315331"/>
          </a:xfrm>
          <a:prstGeom prst="rect">
            <a:avLst/>
          </a:prstGeom>
          <a:noFill/>
        </p:spPr>
        <p:txBody>
          <a:bodyPr wrap="square">
            <a:spAutoFit/>
          </a:bodyPr>
          <a:lstStyle/>
          <a:p>
            <a:r>
              <a:rPr lang="en-IN" sz="1600" b="1" dirty="0"/>
              <a:t>Integration capabilities</a:t>
            </a:r>
          </a:p>
          <a:p>
            <a:endParaRPr lang="en-IN" sz="1600" b="1" dirty="0"/>
          </a:p>
          <a:p>
            <a:pPr marL="285750" indent="-285750">
              <a:buFont typeface="Arial" panose="020B0604020202020204" pitchFamily="34" charset="0"/>
              <a:buChar char="•"/>
            </a:pPr>
            <a:r>
              <a:rPr lang="en-IN" sz="1600" dirty="0"/>
              <a:t>Modern AI workflows connect seamlessly across multiple platforms and tools. They can pull data from one system, process it using AI capabilities, and push results to another application—all automatically. </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This cross-platform functionality eliminates the data silos that often slow down business processes.</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Whether integrating with customer relationship management systems, enterprise resource planning software, or cloud storage platforms, AI workflows serve as intelligent bridges between the tools organizations already use.</a:t>
            </a:r>
          </a:p>
          <a:p>
            <a:pPr marL="0" marR="0" indent="0" algn="l">
              <a:lnSpc>
                <a:spcPts val="2250"/>
              </a:lnSpc>
              <a:spcAft>
                <a:spcPts val="1200"/>
              </a:spcAft>
              <a:buNone/>
            </a:pPr>
            <a:endParaRPr lang="en-IN" sz="1600" b="0" i="0" dirty="0">
              <a:solidFill>
                <a:srgbClr val="2C2C2C"/>
              </a:solidFill>
              <a:effectLst/>
              <a:latin typeface="+mj-lt"/>
            </a:endParaRPr>
          </a:p>
        </p:txBody>
      </p:sp>
    </p:spTree>
    <p:extLst>
      <p:ext uri="{BB962C8B-B14F-4D97-AF65-F5344CB8AC3E}">
        <p14:creationId xmlns:p14="http://schemas.microsoft.com/office/powerpoint/2010/main" val="135508712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5C0B2-A5DC-A8BA-858D-B083C10C3D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97DEB-ECED-A066-3E34-B419200B9B80}"/>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7" name="TextBox 6">
            <a:extLst>
              <a:ext uri="{FF2B5EF4-FFF2-40B4-BE49-F238E27FC236}">
                <a16:creationId xmlns:a16="http://schemas.microsoft.com/office/drawing/2014/main" id="{276BEC35-B4EB-CD8F-DC69-3B426511F399}"/>
              </a:ext>
            </a:extLst>
          </p:cNvPr>
          <p:cNvSpPr txBox="1"/>
          <p:nvPr/>
        </p:nvSpPr>
        <p:spPr>
          <a:xfrm>
            <a:off x="685215" y="891628"/>
            <a:ext cx="8596668" cy="1569660"/>
          </a:xfrm>
          <a:prstGeom prst="rect">
            <a:avLst/>
          </a:prstGeom>
          <a:noFill/>
        </p:spPr>
        <p:txBody>
          <a:bodyPr wrap="square">
            <a:spAutoFit/>
          </a:bodyPr>
          <a:lstStyle/>
          <a:p>
            <a:r>
              <a:rPr lang="en-IN" sz="1600" b="1" dirty="0"/>
              <a:t>Key characteristics of AI workflows</a:t>
            </a:r>
          </a:p>
          <a:p>
            <a:endParaRPr lang="en-IN" sz="1600" b="1" dirty="0"/>
          </a:p>
          <a:p>
            <a:r>
              <a:rPr lang="en-IN" sz="1600" dirty="0"/>
              <a:t>What sets AI workflows apart from conventional automation? Several defining features distinguish these intelligent systems and make them particularly valuable for modern businesses.</a:t>
            </a:r>
          </a:p>
          <a:p>
            <a:pPr>
              <a:buNone/>
            </a:pPr>
            <a:endParaRPr lang="en-IN" sz="1600" dirty="0"/>
          </a:p>
        </p:txBody>
      </p:sp>
      <p:sp>
        <p:nvSpPr>
          <p:cNvPr id="4" name="TextBox 3">
            <a:extLst>
              <a:ext uri="{FF2B5EF4-FFF2-40B4-BE49-F238E27FC236}">
                <a16:creationId xmlns:a16="http://schemas.microsoft.com/office/drawing/2014/main" id="{6B223F2B-BA2E-5782-E5A0-743C7BF567F9}"/>
              </a:ext>
            </a:extLst>
          </p:cNvPr>
          <p:cNvSpPr txBox="1"/>
          <p:nvPr/>
        </p:nvSpPr>
        <p:spPr>
          <a:xfrm>
            <a:off x="685213" y="2385889"/>
            <a:ext cx="8181695" cy="2330446"/>
          </a:xfrm>
          <a:prstGeom prst="rect">
            <a:avLst/>
          </a:prstGeom>
          <a:noFill/>
        </p:spPr>
        <p:txBody>
          <a:bodyPr wrap="square">
            <a:spAutoFit/>
          </a:bodyPr>
          <a:lstStyle/>
          <a:p>
            <a:r>
              <a:rPr lang="en-IN" sz="1600" b="1" dirty="0"/>
              <a:t>Continuous learning and improvement</a:t>
            </a:r>
          </a:p>
          <a:p>
            <a:endParaRPr lang="en-IN" sz="1600" b="1" dirty="0"/>
          </a:p>
          <a:p>
            <a:pPr marL="285750" indent="-285750">
              <a:buFont typeface="Arial" panose="020B0604020202020204" pitchFamily="34" charset="0"/>
              <a:buChar char="•"/>
            </a:pPr>
            <a:r>
              <a:rPr lang="en-IN" sz="1600" dirty="0"/>
              <a:t>Perhaps the most distinctive characteristic of AI workflows is their ability to get better over time. Through feedback loops and ongoing exposure to new data, these systems refine their decision-making and become more accurate.</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 An AI workflow that processes customer requests, for instance, learns from each interaction which responses work best and adjusts its approach accordingly.</a:t>
            </a:r>
          </a:p>
          <a:p>
            <a:pPr marL="0" marR="0" indent="0" algn="l">
              <a:lnSpc>
                <a:spcPts val="2250"/>
              </a:lnSpc>
              <a:spcAft>
                <a:spcPts val="1200"/>
              </a:spcAft>
              <a:buNone/>
            </a:pPr>
            <a:endParaRPr lang="en-IN" sz="1600" b="0" i="0" dirty="0">
              <a:solidFill>
                <a:srgbClr val="2C2C2C"/>
              </a:solidFill>
              <a:effectLst/>
              <a:latin typeface="+mj-lt"/>
            </a:endParaRPr>
          </a:p>
        </p:txBody>
      </p:sp>
    </p:spTree>
    <p:extLst>
      <p:ext uri="{BB962C8B-B14F-4D97-AF65-F5344CB8AC3E}">
        <p14:creationId xmlns:p14="http://schemas.microsoft.com/office/powerpoint/2010/main" val="66813406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ED546-9B45-B8C6-66F0-C160E39599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D477D8-7FA3-88AB-3388-1A7DBDCAA8E1}"/>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7" name="TextBox 6">
            <a:extLst>
              <a:ext uri="{FF2B5EF4-FFF2-40B4-BE49-F238E27FC236}">
                <a16:creationId xmlns:a16="http://schemas.microsoft.com/office/drawing/2014/main" id="{97C0F574-D534-7282-7092-F5D74E8E55F2}"/>
              </a:ext>
            </a:extLst>
          </p:cNvPr>
          <p:cNvSpPr txBox="1"/>
          <p:nvPr/>
        </p:nvSpPr>
        <p:spPr>
          <a:xfrm>
            <a:off x="685215" y="891628"/>
            <a:ext cx="8596668" cy="1569660"/>
          </a:xfrm>
          <a:prstGeom prst="rect">
            <a:avLst/>
          </a:prstGeom>
          <a:noFill/>
        </p:spPr>
        <p:txBody>
          <a:bodyPr wrap="square">
            <a:spAutoFit/>
          </a:bodyPr>
          <a:lstStyle/>
          <a:p>
            <a:r>
              <a:rPr lang="en-IN" sz="1600" b="1" dirty="0"/>
              <a:t>Key characteristics of AI workflows</a:t>
            </a:r>
          </a:p>
          <a:p>
            <a:endParaRPr lang="en-IN" sz="1600" b="1" dirty="0"/>
          </a:p>
          <a:p>
            <a:r>
              <a:rPr lang="en-IN" sz="1600" dirty="0"/>
              <a:t>What sets AI workflows apart from conventional automation? Several defining features distinguish these intelligent systems and make them particularly valuable for modern businesses.</a:t>
            </a:r>
          </a:p>
          <a:p>
            <a:pPr>
              <a:buNone/>
            </a:pPr>
            <a:endParaRPr lang="en-IN" sz="1600" dirty="0"/>
          </a:p>
        </p:txBody>
      </p:sp>
    </p:spTree>
    <p:extLst>
      <p:ext uri="{BB962C8B-B14F-4D97-AF65-F5344CB8AC3E}">
        <p14:creationId xmlns:p14="http://schemas.microsoft.com/office/powerpoint/2010/main" val="316376389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3B10B-5796-E73B-B3CE-7D31FF5A81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00C35C-0934-7D35-A7B5-D076C17F9AF0}"/>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pic>
        <p:nvPicPr>
          <p:cNvPr id="4" name="Picture 3">
            <a:extLst>
              <a:ext uri="{FF2B5EF4-FFF2-40B4-BE49-F238E27FC236}">
                <a16:creationId xmlns:a16="http://schemas.microsoft.com/office/drawing/2014/main" id="{23C79943-55ED-2C26-EE60-D3BE930602C6}"/>
              </a:ext>
            </a:extLst>
          </p:cNvPr>
          <p:cNvPicPr>
            <a:picLocks noChangeAspect="1"/>
          </p:cNvPicPr>
          <p:nvPr/>
        </p:nvPicPr>
        <p:blipFill>
          <a:blip r:embed="rId2"/>
          <a:stretch>
            <a:fillRect/>
          </a:stretch>
        </p:blipFill>
        <p:spPr>
          <a:xfrm>
            <a:off x="1173549" y="1285875"/>
            <a:ext cx="7620000" cy="4286250"/>
          </a:xfrm>
          <a:prstGeom prst="rect">
            <a:avLst/>
          </a:prstGeom>
        </p:spPr>
      </p:pic>
    </p:spTree>
    <p:extLst>
      <p:ext uri="{BB962C8B-B14F-4D97-AF65-F5344CB8AC3E}">
        <p14:creationId xmlns:p14="http://schemas.microsoft.com/office/powerpoint/2010/main" val="372954124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4BD01-25C1-BF83-0B29-21A2A684C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F601CB-AB5D-3CF9-5B6F-FA99BDB4E48D}"/>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5" name="TextBox 4">
            <a:extLst>
              <a:ext uri="{FF2B5EF4-FFF2-40B4-BE49-F238E27FC236}">
                <a16:creationId xmlns:a16="http://schemas.microsoft.com/office/drawing/2014/main" id="{01589316-FF09-0F05-2645-C040A3F5A2B6}"/>
              </a:ext>
            </a:extLst>
          </p:cNvPr>
          <p:cNvSpPr txBox="1"/>
          <p:nvPr/>
        </p:nvSpPr>
        <p:spPr>
          <a:xfrm>
            <a:off x="685216" y="841147"/>
            <a:ext cx="4154640" cy="2800767"/>
          </a:xfrm>
          <a:prstGeom prst="rect">
            <a:avLst/>
          </a:prstGeom>
          <a:noFill/>
        </p:spPr>
        <p:txBody>
          <a:bodyPr wrap="square">
            <a:spAutoFit/>
          </a:bodyPr>
          <a:lstStyle/>
          <a:p>
            <a:pPr marL="342900" indent="-342900">
              <a:buAutoNum type="arabicPeriod"/>
            </a:pPr>
            <a:r>
              <a:rPr lang="en-IN" sz="1600" b="1" dirty="0"/>
              <a:t>Problem Definition</a:t>
            </a:r>
          </a:p>
          <a:p>
            <a:pPr marL="342900" indent="-342900">
              <a:buAutoNum type="arabicPeriod"/>
            </a:pPr>
            <a:endParaRPr lang="en-IN" sz="1600" b="1" dirty="0"/>
          </a:p>
          <a:p>
            <a:r>
              <a:rPr lang="en-IN" sz="1600" dirty="0"/>
              <a:t>Identify the problem that AI needs to solve.</a:t>
            </a:r>
          </a:p>
          <a:p>
            <a:r>
              <a:rPr lang="en-IN" sz="1600" b="1" dirty="0"/>
              <a:t>Examples:</a:t>
            </a:r>
            <a:endParaRPr lang="en-IN" sz="1600" dirty="0"/>
          </a:p>
          <a:p>
            <a:pPr lvl="0"/>
            <a:r>
              <a:rPr lang="en-IN" sz="1600" dirty="0"/>
              <a:t>Predict customer churn </a:t>
            </a:r>
          </a:p>
          <a:p>
            <a:pPr lvl="0"/>
            <a:r>
              <a:rPr lang="en-IN" sz="1600" dirty="0"/>
              <a:t>Detect fraudulent transactions </a:t>
            </a:r>
          </a:p>
          <a:p>
            <a:pPr lvl="0"/>
            <a:r>
              <a:rPr lang="en-IN" sz="1600" dirty="0"/>
              <a:t>Identify defective products </a:t>
            </a:r>
          </a:p>
          <a:p>
            <a:pPr lvl="0"/>
            <a:r>
              <a:rPr lang="en-IN" sz="1600" dirty="0"/>
              <a:t>Predict house prices </a:t>
            </a:r>
          </a:p>
          <a:p>
            <a:pPr lvl="0"/>
            <a:r>
              <a:rPr lang="en-IN" sz="1600" dirty="0"/>
              <a:t>Generate test cases</a:t>
            </a:r>
          </a:p>
          <a:p>
            <a:endParaRPr lang="en-IN" sz="1600" dirty="0"/>
          </a:p>
        </p:txBody>
      </p:sp>
      <p:sp>
        <p:nvSpPr>
          <p:cNvPr id="4" name="TextBox 3">
            <a:extLst>
              <a:ext uri="{FF2B5EF4-FFF2-40B4-BE49-F238E27FC236}">
                <a16:creationId xmlns:a16="http://schemas.microsoft.com/office/drawing/2014/main" id="{D5E83DE8-C14D-AD07-5E32-731589EDF746}"/>
              </a:ext>
            </a:extLst>
          </p:cNvPr>
          <p:cNvSpPr txBox="1"/>
          <p:nvPr/>
        </p:nvSpPr>
        <p:spPr>
          <a:xfrm>
            <a:off x="5137728" y="841146"/>
            <a:ext cx="6100618" cy="2800767"/>
          </a:xfrm>
          <a:prstGeom prst="rect">
            <a:avLst/>
          </a:prstGeom>
          <a:noFill/>
        </p:spPr>
        <p:txBody>
          <a:bodyPr wrap="square">
            <a:spAutoFit/>
          </a:bodyPr>
          <a:lstStyle/>
          <a:p>
            <a:pPr>
              <a:buNone/>
            </a:pPr>
            <a:r>
              <a:rPr lang="en-IN" sz="1600" b="1" dirty="0"/>
              <a:t>2. Data Collection</a:t>
            </a:r>
          </a:p>
          <a:p>
            <a:pPr>
              <a:buNone/>
            </a:pPr>
            <a:endParaRPr lang="en-IN" sz="1600" b="1" dirty="0"/>
          </a:p>
          <a:p>
            <a:pPr>
              <a:buNone/>
            </a:pPr>
            <a:r>
              <a:rPr lang="en-IN" sz="1600" dirty="0"/>
              <a:t>Collect relevant data from sources such as:</a:t>
            </a:r>
          </a:p>
          <a:p>
            <a:pPr marL="342900" lvl="0" indent="-342900">
              <a:buFont typeface="Arial" panose="020B0604020202020204" pitchFamily="34" charset="0"/>
              <a:buChar char="•"/>
            </a:pPr>
            <a:r>
              <a:rPr lang="en-IN" sz="1600" dirty="0"/>
              <a:t>Databases </a:t>
            </a:r>
          </a:p>
          <a:p>
            <a:pPr marL="342900" lvl="0" indent="-342900">
              <a:buFont typeface="Arial" panose="020B0604020202020204" pitchFamily="34" charset="0"/>
              <a:buChar char="•"/>
            </a:pPr>
            <a:r>
              <a:rPr lang="en-IN" sz="1600" dirty="0"/>
              <a:t>CSV/Excel files </a:t>
            </a:r>
          </a:p>
          <a:p>
            <a:pPr marL="342900" lvl="0" indent="-342900">
              <a:buFont typeface="Arial" panose="020B0604020202020204" pitchFamily="34" charset="0"/>
              <a:buChar char="•"/>
            </a:pPr>
            <a:r>
              <a:rPr lang="en-IN" sz="1600" dirty="0"/>
              <a:t>APIs </a:t>
            </a:r>
          </a:p>
          <a:p>
            <a:pPr marL="342900" lvl="0" indent="-342900">
              <a:buFont typeface="Arial" panose="020B0604020202020204" pitchFamily="34" charset="0"/>
              <a:buChar char="•"/>
            </a:pPr>
            <a:r>
              <a:rPr lang="en-IN" sz="1600" dirty="0"/>
              <a:t>Application logs </a:t>
            </a:r>
          </a:p>
          <a:p>
            <a:pPr marL="342900" lvl="0" indent="-342900">
              <a:buFont typeface="Arial" panose="020B0604020202020204" pitchFamily="34" charset="0"/>
              <a:buChar char="•"/>
            </a:pPr>
            <a:r>
              <a:rPr lang="en-IN" sz="1600" dirty="0"/>
              <a:t>Images </a:t>
            </a:r>
          </a:p>
          <a:p>
            <a:pPr marL="342900" lvl="0" indent="-342900">
              <a:buFont typeface="Arial" panose="020B0604020202020204" pitchFamily="34" charset="0"/>
              <a:buChar char="•"/>
            </a:pPr>
            <a:r>
              <a:rPr lang="en-IN" sz="1600" dirty="0"/>
              <a:t>Text </a:t>
            </a:r>
          </a:p>
          <a:p>
            <a:pPr marL="342900" lvl="0" indent="-342900">
              <a:buFont typeface="Arial" panose="020B0604020202020204" pitchFamily="34" charset="0"/>
              <a:buChar char="•"/>
            </a:pPr>
            <a:r>
              <a:rPr lang="en-IN" sz="1600" dirty="0"/>
              <a:t>Audio/video </a:t>
            </a:r>
          </a:p>
          <a:p>
            <a:pPr marL="342900" lvl="0" indent="-342900">
              <a:buFont typeface="Arial" panose="020B0604020202020204" pitchFamily="34" charset="0"/>
              <a:buChar char="•"/>
            </a:pPr>
            <a:r>
              <a:rPr lang="en-IN" sz="1600" dirty="0"/>
              <a:t>Sensors</a:t>
            </a:r>
          </a:p>
        </p:txBody>
      </p:sp>
      <p:sp>
        <p:nvSpPr>
          <p:cNvPr id="8" name="TextBox 7">
            <a:extLst>
              <a:ext uri="{FF2B5EF4-FFF2-40B4-BE49-F238E27FC236}">
                <a16:creationId xmlns:a16="http://schemas.microsoft.com/office/drawing/2014/main" id="{DCA1C446-6692-AD7A-BC22-3D4094C00FFB}"/>
              </a:ext>
            </a:extLst>
          </p:cNvPr>
          <p:cNvSpPr txBox="1"/>
          <p:nvPr/>
        </p:nvSpPr>
        <p:spPr>
          <a:xfrm>
            <a:off x="685216" y="3639701"/>
            <a:ext cx="4154640" cy="3046988"/>
          </a:xfrm>
          <a:prstGeom prst="rect">
            <a:avLst/>
          </a:prstGeom>
          <a:noFill/>
        </p:spPr>
        <p:txBody>
          <a:bodyPr wrap="square">
            <a:spAutoFit/>
          </a:bodyPr>
          <a:lstStyle/>
          <a:p>
            <a:pPr>
              <a:buNone/>
            </a:pPr>
            <a:r>
              <a:rPr lang="en-IN" sz="1600" b="1" dirty="0"/>
              <a:t>3. Data Preparation</a:t>
            </a:r>
          </a:p>
          <a:p>
            <a:pPr>
              <a:buNone/>
            </a:pPr>
            <a:endParaRPr lang="en-IN" sz="1600" b="1" dirty="0"/>
          </a:p>
          <a:p>
            <a:pPr>
              <a:buNone/>
            </a:pPr>
            <a:r>
              <a:rPr lang="en-IN" sz="1600" dirty="0"/>
              <a:t>Clean and prepare the data for AI processing.</a:t>
            </a:r>
          </a:p>
          <a:p>
            <a:pPr>
              <a:buNone/>
            </a:pPr>
            <a:endParaRPr lang="en-IN" sz="1600" dirty="0"/>
          </a:p>
          <a:p>
            <a:pPr>
              <a:buNone/>
            </a:pPr>
            <a:r>
              <a:rPr lang="en-IN" sz="1600" dirty="0"/>
              <a:t>Activities include:</a:t>
            </a:r>
          </a:p>
          <a:p>
            <a:pPr marL="342900" lvl="0" indent="-342900">
              <a:buFont typeface="Arial" panose="020B0604020202020204" pitchFamily="34" charset="0"/>
              <a:buChar char="•"/>
            </a:pPr>
            <a:r>
              <a:rPr lang="en-IN" sz="1600" dirty="0"/>
              <a:t>Removing duplicates </a:t>
            </a:r>
          </a:p>
          <a:p>
            <a:pPr marL="342900" lvl="0" indent="-342900">
              <a:buFont typeface="Arial" panose="020B0604020202020204" pitchFamily="34" charset="0"/>
              <a:buChar char="•"/>
            </a:pPr>
            <a:r>
              <a:rPr lang="en-IN" sz="1600" dirty="0"/>
              <a:t>Handling missing values </a:t>
            </a:r>
          </a:p>
          <a:p>
            <a:pPr marL="342900" lvl="0" indent="-342900">
              <a:buFont typeface="Arial" panose="020B0604020202020204" pitchFamily="34" charset="0"/>
              <a:buChar char="•"/>
            </a:pPr>
            <a:r>
              <a:rPr lang="en-IN" sz="1600" dirty="0"/>
              <a:t>Correcting errors </a:t>
            </a:r>
          </a:p>
          <a:p>
            <a:pPr marL="342900" lvl="0" indent="-342900">
              <a:buFont typeface="Arial" panose="020B0604020202020204" pitchFamily="34" charset="0"/>
              <a:buChar char="•"/>
            </a:pPr>
            <a:r>
              <a:rPr lang="en-IN" sz="1600" dirty="0"/>
              <a:t>Converting data formats </a:t>
            </a:r>
          </a:p>
          <a:p>
            <a:pPr marL="342900" lvl="0" indent="-342900">
              <a:buFont typeface="Arial" panose="020B0604020202020204" pitchFamily="34" charset="0"/>
              <a:buChar char="•"/>
            </a:pPr>
            <a:r>
              <a:rPr lang="en-IN" sz="1600" dirty="0"/>
              <a:t>Selecting relevant features </a:t>
            </a:r>
          </a:p>
          <a:p>
            <a:pPr marL="342900" lvl="0" indent="-342900">
              <a:buFont typeface="Arial" panose="020B0604020202020204" pitchFamily="34" charset="0"/>
              <a:buChar char="•"/>
            </a:pPr>
            <a:r>
              <a:rPr lang="en-IN" sz="1600" dirty="0" err="1"/>
              <a:t>Labeling</a:t>
            </a:r>
            <a:r>
              <a:rPr lang="en-IN" sz="1600" dirty="0"/>
              <a:t> data</a:t>
            </a:r>
          </a:p>
        </p:txBody>
      </p:sp>
      <p:sp>
        <p:nvSpPr>
          <p:cNvPr id="10" name="TextBox 9">
            <a:extLst>
              <a:ext uri="{FF2B5EF4-FFF2-40B4-BE49-F238E27FC236}">
                <a16:creationId xmlns:a16="http://schemas.microsoft.com/office/drawing/2014/main" id="{7BA1D757-159D-16F6-E821-C722DF171F03}"/>
              </a:ext>
            </a:extLst>
          </p:cNvPr>
          <p:cNvSpPr txBox="1"/>
          <p:nvPr/>
        </p:nvSpPr>
        <p:spPr>
          <a:xfrm>
            <a:off x="5137728" y="3710806"/>
            <a:ext cx="6100618" cy="2062103"/>
          </a:xfrm>
          <a:prstGeom prst="rect">
            <a:avLst/>
          </a:prstGeom>
          <a:noFill/>
        </p:spPr>
        <p:txBody>
          <a:bodyPr wrap="square">
            <a:spAutoFit/>
          </a:bodyPr>
          <a:lstStyle/>
          <a:p>
            <a:pPr>
              <a:buNone/>
            </a:pPr>
            <a:r>
              <a:rPr lang="en-IN" sz="1600" b="1" dirty="0"/>
              <a:t>4. Model Selection</a:t>
            </a:r>
          </a:p>
          <a:p>
            <a:pPr>
              <a:buNone/>
            </a:pPr>
            <a:endParaRPr lang="en-IN" sz="1600" b="1" dirty="0"/>
          </a:p>
          <a:p>
            <a:pPr>
              <a:buNone/>
            </a:pPr>
            <a:r>
              <a:rPr lang="en-IN" sz="1600" dirty="0"/>
              <a:t>Select an appropriate AI/ML model based on the problem.</a:t>
            </a:r>
          </a:p>
          <a:p>
            <a:pPr>
              <a:buNone/>
            </a:pPr>
            <a:r>
              <a:rPr lang="en-IN" sz="1600" dirty="0"/>
              <a:t>Examples:</a:t>
            </a:r>
          </a:p>
          <a:p>
            <a:pPr marL="342900" lvl="0" indent="-342900">
              <a:buFont typeface="Arial" panose="020B0604020202020204" pitchFamily="34" charset="0"/>
              <a:buChar char="•"/>
            </a:pPr>
            <a:r>
              <a:rPr lang="en-IN" sz="1600" dirty="0"/>
              <a:t>Regression → predict numerical values </a:t>
            </a:r>
          </a:p>
          <a:p>
            <a:pPr marL="342900" lvl="0" indent="-342900">
              <a:buFont typeface="Arial" panose="020B0604020202020204" pitchFamily="34" charset="0"/>
              <a:buChar char="•"/>
            </a:pPr>
            <a:r>
              <a:rPr lang="en-IN" sz="1600" dirty="0"/>
              <a:t>Classification → predict categories </a:t>
            </a:r>
          </a:p>
          <a:p>
            <a:pPr marL="342900" lvl="0" indent="-342900">
              <a:buFont typeface="Arial" panose="020B0604020202020204" pitchFamily="34" charset="0"/>
              <a:buChar char="•"/>
            </a:pPr>
            <a:r>
              <a:rPr lang="en-IN" sz="1600" dirty="0"/>
              <a:t>CNN → image-related tasks </a:t>
            </a:r>
          </a:p>
          <a:p>
            <a:pPr marL="342900" lvl="0" indent="-342900">
              <a:buFont typeface="Arial" panose="020B0604020202020204" pitchFamily="34" charset="0"/>
              <a:buChar char="•"/>
            </a:pPr>
            <a:r>
              <a:rPr lang="en-IN" sz="1600" dirty="0"/>
              <a:t>Transformers/LLMs → language and generative AI tasks</a:t>
            </a:r>
          </a:p>
        </p:txBody>
      </p:sp>
    </p:spTree>
    <p:extLst>
      <p:ext uri="{BB962C8B-B14F-4D97-AF65-F5344CB8AC3E}">
        <p14:creationId xmlns:p14="http://schemas.microsoft.com/office/powerpoint/2010/main" val="145974435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A67AA-3EFF-B1B1-BC2A-F9E648B75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BBDB0-4947-E60F-E204-A2649830C7B8}"/>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12" name="TextBox 11">
            <a:extLst>
              <a:ext uri="{FF2B5EF4-FFF2-40B4-BE49-F238E27FC236}">
                <a16:creationId xmlns:a16="http://schemas.microsoft.com/office/drawing/2014/main" id="{E8F9405C-E7A7-BD1C-82CA-9DD522E9C579}"/>
              </a:ext>
            </a:extLst>
          </p:cNvPr>
          <p:cNvSpPr txBox="1"/>
          <p:nvPr/>
        </p:nvSpPr>
        <p:spPr>
          <a:xfrm>
            <a:off x="685215" y="891628"/>
            <a:ext cx="4163875" cy="2800767"/>
          </a:xfrm>
          <a:prstGeom prst="rect">
            <a:avLst/>
          </a:prstGeom>
          <a:noFill/>
        </p:spPr>
        <p:txBody>
          <a:bodyPr wrap="square">
            <a:spAutoFit/>
          </a:bodyPr>
          <a:lstStyle/>
          <a:p>
            <a:pPr>
              <a:buNone/>
            </a:pPr>
            <a:r>
              <a:rPr lang="en-IN" sz="1600" b="1" dirty="0"/>
              <a:t>5. Model Training</a:t>
            </a:r>
          </a:p>
          <a:p>
            <a:pPr>
              <a:buNone/>
            </a:pPr>
            <a:endParaRPr lang="en-IN" sz="1600" b="1" dirty="0"/>
          </a:p>
          <a:p>
            <a:pPr>
              <a:buNone/>
            </a:pPr>
            <a:r>
              <a:rPr lang="en-IN" sz="1600" dirty="0"/>
              <a:t>The model learns patterns from the available data.</a:t>
            </a:r>
          </a:p>
          <a:p>
            <a:pPr>
              <a:buNone/>
            </a:pPr>
            <a:endParaRPr lang="en-IN" sz="1600" dirty="0"/>
          </a:p>
          <a:p>
            <a:pPr>
              <a:buNone/>
            </a:pPr>
            <a:r>
              <a:rPr lang="en-IN" sz="1600" b="1" dirty="0"/>
              <a:t>Features + Labels → Training Algorithm → Trained Model</a:t>
            </a:r>
          </a:p>
          <a:p>
            <a:pPr>
              <a:buNone/>
            </a:pPr>
            <a:endParaRPr lang="en-IN" sz="1600" dirty="0"/>
          </a:p>
          <a:p>
            <a:pPr>
              <a:buNone/>
            </a:pPr>
            <a:r>
              <a:rPr lang="en-IN" sz="1600" dirty="0"/>
              <a:t>For example:</a:t>
            </a:r>
          </a:p>
          <a:p>
            <a:pPr>
              <a:buNone/>
            </a:pPr>
            <a:r>
              <a:rPr lang="en-IN" sz="1600" dirty="0"/>
              <a:t>Customer data → ML model → learns patterns associated with customer churn.</a:t>
            </a:r>
          </a:p>
        </p:txBody>
      </p:sp>
      <p:sp>
        <p:nvSpPr>
          <p:cNvPr id="14" name="TextBox 13">
            <a:extLst>
              <a:ext uri="{FF2B5EF4-FFF2-40B4-BE49-F238E27FC236}">
                <a16:creationId xmlns:a16="http://schemas.microsoft.com/office/drawing/2014/main" id="{9A475071-D67B-57C7-5907-57C08887C3FE}"/>
              </a:ext>
            </a:extLst>
          </p:cNvPr>
          <p:cNvSpPr txBox="1"/>
          <p:nvPr/>
        </p:nvSpPr>
        <p:spPr>
          <a:xfrm>
            <a:off x="5119254" y="962422"/>
            <a:ext cx="6100618" cy="2800767"/>
          </a:xfrm>
          <a:prstGeom prst="rect">
            <a:avLst/>
          </a:prstGeom>
          <a:noFill/>
        </p:spPr>
        <p:txBody>
          <a:bodyPr wrap="square">
            <a:spAutoFit/>
          </a:bodyPr>
          <a:lstStyle/>
          <a:p>
            <a:pPr>
              <a:buNone/>
            </a:pPr>
            <a:r>
              <a:rPr lang="en-IN" sz="1600" b="1" dirty="0"/>
              <a:t>6. Model Evaluation</a:t>
            </a:r>
          </a:p>
          <a:p>
            <a:pPr>
              <a:buNone/>
            </a:pPr>
            <a:endParaRPr lang="en-IN" sz="1600" b="1" dirty="0"/>
          </a:p>
          <a:p>
            <a:pPr>
              <a:buNone/>
            </a:pPr>
            <a:r>
              <a:rPr lang="en-IN" sz="1600" dirty="0"/>
              <a:t>Check whether the model performs well on unseen data.</a:t>
            </a:r>
          </a:p>
          <a:p>
            <a:pPr>
              <a:buNone/>
            </a:pPr>
            <a:r>
              <a:rPr lang="en-IN" sz="1600" dirty="0"/>
              <a:t>Common metrics include:</a:t>
            </a:r>
          </a:p>
          <a:p>
            <a:pPr>
              <a:buNone/>
            </a:pPr>
            <a:endParaRPr lang="en-IN" sz="1600" dirty="0"/>
          </a:p>
          <a:p>
            <a:pPr marL="342900" lvl="0" indent="-342900">
              <a:buFont typeface="Arial" panose="020B0604020202020204" pitchFamily="34" charset="0"/>
              <a:buChar char="•"/>
            </a:pPr>
            <a:r>
              <a:rPr lang="en-IN" sz="1600" dirty="0"/>
              <a:t>Accuracy </a:t>
            </a:r>
          </a:p>
          <a:p>
            <a:pPr marL="342900" lvl="0" indent="-342900">
              <a:buFont typeface="Arial" panose="020B0604020202020204" pitchFamily="34" charset="0"/>
              <a:buChar char="•"/>
            </a:pPr>
            <a:r>
              <a:rPr lang="en-IN" sz="1600" dirty="0"/>
              <a:t>Precision </a:t>
            </a:r>
          </a:p>
          <a:p>
            <a:pPr marL="342900" lvl="0" indent="-342900">
              <a:buFont typeface="Arial" panose="020B0604020202020204" pitchFamily="34" charset="0"/>
              <a:buChar char="•"/>
            </a:pPr>
            <a:r>
              <a:rPr lang="en-IN" sz="1600" dirty="0"/>
              <a:t>Recall </a:t>
            </a:r>
          </a:p>
          <a:p>
            <a:pPr marL="342900" lvl="0" indent="-342900">
              <a:buFont typeface="Arial" panose="020B0604020202020204" pitchFamily="34" charset="0"/>
              <a:buChar char="•"/>
            </a:pPr>
            <a:r>
              <a:rPr lang="en-IN" sz="1600" dirty="0"/>
              <a:t>F1-score </a:t>
            </a:r>
          </a:p>
          <a:p>
            <a:pPr marL="342900" lvl="0" indent="-342900">
              <a:buFont typeface="Arial" panose="020B0604020202020204" pitchFamily="34" charset="0"/>
              <a:buChar char="•"/>
            </a:pPr>
            <a:r>
              <a:rPr lang="en-IN" sz="1600" dirty="0"/>
              <a:t>MAE </a:t>
            </a:r>
          </a:p>
          <a:p>
            <a:pPr marL="342900" lvl="0" indent="-342900">
              <a:buFont typeface="Arial" panose="020B0604020202020204" pitchFamily="34" charset="0"/>
              <a:buChar char="•"/>
            </a:pPr>
            <a:r>
              <a:rPr lang="en-IN" sz="1600" dirty="0"/>
              <a:t>RMSE</a:t>
            </a:r>
          </a:p>
        </p:txBody>
      </p:sp>
      <p:sp>
        <p:nvSpPr>
          <p:cNvPr id="16" name="TextBox 15">
            <a:extLst>
              <a:ext uri="{FF2B5EF4-FFF2-40B4-BE49-F238E27FC236}">
                <a16:creationId xmlns:a16="http://schemas.microsoft.com/office/drawing/2014/main" id="{93D4015E-D455-1570-986B-5E8321F75DD0}"/>
              </a:ext>
            </a:extLst>
          </p:cNvPr>
          <p:cNvSpPr txBox="1"/>
          <p:nvPr/>
        </p:nvSpPr>
        <p:spPr>
          <a:xfrm>
            <a:off x="685214" y="3826005"/>
            <a:ext cx="4163875" cy="2800767"/>
          </a:xfrm>
          <a:prstGeom prst="rect">
            <a:avLst/>
          </a:prstGeom>
          <a:noFill/>
        </p:spPr>
        <p:txBody>
          <a:bodyPr wrap="square">
            <a:spAutoFit/>
          </a:bodyPr>
          <a:lstStyle/>
          <a:p>
            <a:pPr>
              <a:buNone/>
            </a:pPr>
            <a:r>
              <a:rPr lang="en-IN" sz="1600" b="1" dirty="0"/>
              <a:t>7. Deployment</a:t>
            </a:r>
          </a:p>
          <a:p>
            <a:pPr>
              <a:buNone/>
            </a:pPr>
            <a:endParaRPr lang="en-IN" sz="1600" b="1" dirty="0"/>
          </a:p>
          <a:p>
            <a:pPr>
              <a:buNone/>
            </a:pPr>
            <a:r>
              <a:rPr lang="en-IN" sz="1600" dirty="0"/>
              <a:t>Make the trained model available to an application or users.</a:t>
            </a:r>
          </a:p>
          <a:p>
            <a:pPr rtl="0">
              <a:buNone/>
            </a:pPr>
            <a:r>
              <a:rPr lang="en-IN" sz="1600" dirty="0">
                <a:latin typeface="Courier New" panose="02070309020205020404" pitchFamily="49" charset="0"/>
              </a:rPr>
              <a:t>Application</a:t>
            </a:r>
          </a:p>
          <a:p>
            <a:pPr rtl="0">
              <a:buNone/>
            </a:pPr>
            <a:r>
              <a:rPr lang="en-IN" sz="1600" dirty="0">
                <a:latin typeface="Courier New" panose="02070309020205020404" pitchFamily="49" charset="0"/>
              </a:rPr>
              <a:t>     ↓</a:t>
            </a:r>
          </a:p>
          <a:p>
            <a:pPr rtl="0">
              <a:buNone/>
            </a:pPr>
            <a:r>
              <a:rPr lang="en-IN" sz="1600" dirty="0">
                <a:latin typeface="Courier New" panose="02070309020205020404" pitchFamily="49" charset="0"/>
              </a:rPr>
              <a:t>    API</a:t>
            </a:r>
          </a:p>
          <a:p>
            <a:pPr rtl="0">
              <a:buNone/>
            </a:pPr>
            <a:r>
              <a:rPr lang="en-IN" sz="1600" dirty="0">
                <a:latin typeface="Courier New" panose="02070309020205020404" pitchFamily="49" charset="0"/>
              </a:rPr>
              <a:t>     ↓</a:t>
            </a:r>
          </a:p>
          <a:p>
            <a:pPr rtl="0">
              <a:buNone/>
            </a:pPr>
            <a:r>
              <a:rPr lang="en-IN" sz="1600" dirty="0">
                <a:latin typeface="Courier New" panose="02070309020205020404" pitchFamily="49" charset="0"/>
              </a:rPr>
              <a:t>AI Model</a:t>
            </a:r>
          </a:p>
          <a:p>
            <a:pPr rtl="0">
              <a:buNone/>
            </a:pPr>
            <a:r>
              <a:rPr lang="en-IN" sz="1600" dirty="0">
                <a:latin typeface="Courier New" panose="02070309020205020404" pitchFamily="49" charset="0"/>
              </a:rPr>
              <a:t>     ↓</a:t>
            </a:r>
          </a:p>
          <a:p>
            <a:pPr rtl="0">
              <a:buNone/>
            </a:pPr>
            <a:r>
              <a:rPr lang="en-IN" sz="1600" dirty="0">
                <a:latin typeface="Courier New" panose="02070309020205020404" pitchFamily="49" charset="0"/>
              </a:rPr>
              <a:t>Prediction</a:t>
            </a:r>
          </a:p>
        </p:txBody>
      </p:sp>
      <p:sp>
        <p:nvSpPr>
          <p:cNvPr id="18" name="TextBox 17">
            <a:extLst>
              <a:ext uri="{FF2B5EF4-FFF2-40B4-BE49-F238E27FC236}">
                <a16:creationId xmlns:a16="http://schemas.microsoft.com/office/drawing/2014/main" id="{3EED5241-DD3A-8458-D84E-E46ACCF4FA4B}"/>
              </a:ext>
            </a:extLst>
          </p:cNvPr>
          <p:cNvSpPr txBox="1"/>
          <p:nvPr/>
        </p:nvSpPr>
        <p:spPr>
          <a:xfrm>
            <a:off x="5119254" y="3826005"/>
            <a:ext cx="6100618" cy="2893100"/>
          </a:xfrm>
          <a:prstGeom prst="rect">
            <a:avLst/>
          </a:prstGeom>
          <a:noFill/>
        </p:spPr>
        <p:txBody>
          <a:bodyPr wrap="square">
            <a:spAutoFit/>
          </a:bodyPr>
          <a:lstStyle/>
          <a:p>
            <a:pPr>
              <a:buNone/>
            </a:pPr>
            <a:r>
              <a:rPr lang="en-IN" sz="1400" b="1" dirty="0"/>
              <a:t>8. Inference</a:t>
            </a:r>
          </a:p>
          <a:p>
            <a:pPr>
              <a:buNone/>
            </a:pPr>
            <a:endParaRPr lang="en-IN" sz="1400" b="1" dirty="0"/>
          </a:p>
          <a:p>
            <a:pPr>
              <a:buNone/>
            </a:pPr>
            <a:r>
              <a:rPr lang="en-IN" sz="1400" b="1" dirty="0"/>
              <a:t>Inference</a:t>
            </a:r>
            <a:r>
              <a:rPr lang="en-IN" sz="1400" dirty="0"/>
              <a:t> is the process of using the trained model with new data.</a:t>
            </a:r>
          </a:p>
          <a:p>
            <a:pPr>
              <a:buNone/>
            </a:pPr>
            <a:endParaRPr lang="en-IN" sz="1400" dirty="0"/>
          </a:p>
          <a:p>
            <a:pPr>
              <a:buNone/>
            </a:pPr>
            <a:r>
              <a:rPr lang="en-IN" sz="1400" dirty="0"/>
              <a:t>Example:</a:t>
            </a:r>
          </a:p>
          <a:p>
            <a:pPr>
              <a:buNone/>
            </a:pPr>
            <a:endParaRPr lang="en-IN" sz="1400" dirty="0"/>
          </a:p>
          <a:p>
            <a:pPr rtl="0">
              <a:buNone/>
            </a:pPr>
            <a:r>
              <a:rPr lang="en-IN" sz="1400" dirty="0">
                <a:latin typeface="Courier New" panose="02070309020205020404" pitchFamily="49" charset="0"/>
              </a:rPr>
              <a:t>New Customer Data</a:t>
            </a:r>
          </a:p>
          <a:p>
            <a:pPr rtl="0">
              <a:buNone/>
            </a:pPr>
            <a:r>
              <a:rPr lang="en-IN" sz="1400" dirty="0">
                <a:latin typeface="Courier New" panose="02070309020205020404" pitchFamily="49" charset="0"/>
              </a:rPr>
              <a:t>       ↓</a:t>
            </a:r>
          </a:p>
          <a:p>
            <a:pPr rtl="0">
              <a:buNone/>
            </a:pPr>
            <a:r>
              <a:rPr lang="en-IN" sz="1400" dirty="0">
                <a:latin typeface="Courier New" panose="02070309020205020404" pitchFamily="49" charset="0"/>
              </a:rPr>
              <a:t>Trained AI Model</a:t>
            </a:r>
          </a:p>
          <a:p>
            <a:pPr rtl="0">
              <a:buNone/>
            </a:pPr>
            <a:r>
              <a:rPr lang="en-IN" sz="1400" dirty="0">
                <a:latin typeface="Courier New" panose="02070309020205020404" pitchFamily="49" charset="0"/>
              </a:rPr>
              <a:t>       ↓</a:t>
            </a:r>
          </a:p>
          <a:p>
            <a:pPr rtl="0">
              <a:buNone/>
            </a:pPr>
            <a:r>
              <a:rPr lang="en-IN" sz="1400" dirty="0">
                <a:latin typeface="Courier New" panose="02070309020205020404" pitchFamily="49" charset="0"/>
              </a:rPr>
              <a:t>Churn Probability = 85%</a:t>
            </a:r>
          </a:p>
          <a:p>
            <a:pPr rtl="0">
              <a:buNone/>
            </a:pPr>
            <a:r>
              <a:rPr lang="en-IN" sz="1400" dirty="0">
                <a:latin typeface="Courier New" panose="02070309020205020404" pitchFamily="49" charset="0"/>
              </a:rPr>
              <a:t>       ↓</a:t>
            </a:r>
          </a:p>
          <a:p>
            <a:pPr rtl="0">
              <a:buNone/>
            </a:pPr>
            <a:r>
              <a:rPr lang="en-IN" sz="1400" dirty="0">
                <a:latin typeface="Courier New" panose="02070309020205020404" pitchFamily="49" charset="0"/>
              </a:rPr>
              <a:t>Prediction: Likely to Churn</a:t>
            </a:r>
          </a:p>
        </p:txBody>
      </p:sp>
    </p:spTree>
    <p:extLst>
      <p:ext uri="{BB962C8B-B14F-4D97-AF65-F5344CB8AC3E}">
        <p14:creationId xmlns:p14="http://schemas.microsoft.com/office/powerpoint/2010/main" val="197855928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73A47-79EC-4C32-6A6F-65F7C8DFA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F2A1F7-7241-16DE-215B-88EDB083449F}"/>
              </a:ext>
            </a:extLst>
          </p:cNvPr>
          <p:cNvSpPr>
            <a:spLocks noGrp="1"/>
          </p:cNvSpPr>
          <p:nvPr>
            <p:ph type="title"/>
          </p:nvPr>
        </p:nvSpPr>
        <p:spPr>
          <a:xfrm>
            <a:off x="685216" y="231228"/>
            <a:ext cx="8596668" cy="1320800"/>
          </a:xfrm>
        </p:spPr>
        <p:txBody>
          <a:bodyPr>
            <a:normAutofit/>
          </a:bodyPr>
          <a:lstStyle/>
          <a:p>
            <a:pPr lvl="1"/>
            <a:r>
              <a:rPr lang="en-IN" dirty="0"/>
              <a:t>Overview of AI workflows</a:t>
            </a:r>
          </a:p>
        </p:txBody>
      </p:sp>
      <p:sp>
        <p:nvSpPr>
          <p:cNvPr id="4" name="TextBox 3">
            <a:extLst>
              <a:ext uri="{FF2B5EF4-FFF2-40B4-BE49-F238E27FC236}">
                <a16:creationId xmlns:a16="http://schemas.microsoft.com/office/drawing/2014/main" id="{C0897AD4-5E4C-EBA7-5517-62D2736C9702}"/>
              </a:ext>
            </a:extLst>
          </p:cNvPr>
          <p:cNvSpPr txBox="1"/>
          <p:nvPr/>
        </p:nvSpPr>
        <p:spPr>
          <a:xfrm>
            <a:off x="685216" y="891628"/>
            <a:ext cx="6100618" cy="3046988"/>
          </a:xfrm>
          <a:prstGeom prst="rect">
            <a:avLst/>
          </a:prstGeom>
          <a:noFill/>
        </p:spPr>
        <p:txBody>
          <a:bodyPr wrap="square">
            <a:spAutoFit/>
          </a:bodyPr>
          <a:lstStyle/>
          <a:p>
            <a:pPr>
              <a:buNone/>
            </a:pPr>
            <a:r>
              <a:rPr lang="en-IN" sz="1600" b="1" dirty="0"/>
              <a:t>9. Monitoring and Improvement</a:t>
            </a:r>
          </a:p>
          <a:p>
            <a:pPr>
              <a:buNone/>
            </a:pPr>
            <a:endParaRPr lang="en-IN" sz="1600" b="1" dirty="0"/>
          </a:p>
          <a:p>
            <a:pPr>
              <a:buNone/>
            </a:pPr>
            <a:r>
              <a:rPr lang="en-IN" sz="1600" dirty="0"/>
              <a:t>After deployment, continuously monitor:</a:t>
            </a:r>
          </a:p>
          <a:p>
            <a:pPr marL="342900" lvl="0" indent="-342900">
              <a:buFont typeface="Arial" panose="020B0604020202020204" pitchFamily="34" charset="0"/>
              <a:buChar char="•"/>
            </a:pPr>
            <a:r>
              <a:rPr lang="en-IN" sz="1600" dirty="0"/>
              <a:t>Model accuracy </a:t>
            </a:r>
          </a:p>
          <a:p>
            <a:pPr marL="342900" lvl="0" indent="-342900">
              <a:buFont typeface="Arial" panose="020B0604020202020204" pitchFamily="34" charset="0"/>
              <a:buChar char="•"/>
            </a:pPr>
            <a:r>
              <a:rPr lang="en-IN" sz="1600" dirty="0"/>
              <a:t>Response time </a:t>
            </a:r>
          </a:p>
          <a:p>
            <a:pPr marL="342900" lvl="0" indent="-342900">
              <a:buFont typeface="Arial" panose="020B0604020202020204" pitchFamily="34" charset="0"/>
              <a:buChar char="•"/>
            </a:pPr>
            <a:r>
              <a:rPr lang="en-IN" sz="1600" dirty="0"/>
              <a:t>Data quality </a:t>
            </a:r>
          </a:p>
          <a:p>
            <a:pPr marL="342900" lvl="0" indent="-342900">
              <a:buFont typeface="Arial" panose="020B0604020202020204" pitchFamily="34" charset="0"/>
              <a:buChar char="•"/>
            </a:pPr>
            <a:r>
              <a:rPr lang="en-IN" sz="1600" dirty="0"/>
              <a:t>Data/model drift </a:t>
            </a:r>
          </a:p>
          <a:p>
            <a:pPr marL="342900" lvl="0" indent="-342900">
              <a:buFont typeface="Arial" panose="020B0604020202020204" pitchFamily="34" charset="0"/>
              <a:buChar char="•"/>
            </a:pPr>
            <a:r>
              <a:rPr lang="en-IN" sz="1600" dirty="0"/>
              <a:t>Bias </a:t>
            </a:r>
          </a:p>
          <a:p>
            <a:pPr marL="342900" lvl="0" indent="-342900">
              <a:buFont typeface="Arial" panose="020B0604020202020204" pitchFamily="34" charset="0"/>
              <a:buChar char="•"/>
            </a:pPr>
            <a:r>
              <a:rPr lang="en-IN" sz="1600" dirty="0"/>
              <a:t>Security </a:t>
            </a:r>
          </a:p>
          <a:p>
            <a:pPr marL="342900" lvl="0" indent="-342900">
              <a:buFont typeface="Arial" panose="020B0604020202020204" pitchFamily="34" charset="0"/>
              <a:buChar char="•"/>
            </a:pPr>
            <a:r>
              <a:rPr lang="en-IN" sz="1600" dirty="0"/>
              <a:t>Cost </a:t>
            </a:r>
          </a:p>
          <a:p>
            <a:pPr>
              <a:buNone/>
            </a:pPr>
            <a:r>
              <a:rPr lang="en-IN" sz="1600" dirty="0"/>
              <a:t>If performance decreases, the model can be </a:t>
            </a:r>
            <a:r>
              <a:rPr lang="en-IN" sz="1600" b="1" dirty="0"/>
              <a:t>retrained or improved</a:t>
            </a:r>
            <a:r>
              <a:rPr lang="en-IN" sz="1600" dirty="0"/>
              <a:t>.</a:t>
            </a:r>
          </a:p>
        </p:txBody>
      </p:sp>
    </p:spTree>
    <p:extLst>
      <p:ext uri="{BB962C8B-B14F-4D97-AF65-F5344CB8AC3E}">
        <p14:creationId xmlns:p14="http://schemas.microsoft.com/office/powerpoint/2010/main" val="8038556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68C2-7CD9-FB77-A96F-44ABFF09B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32CAE-2298-67BA-FA4A-6FF32CDE0613}"/>
              </a:ext>
            </a:extLst>
          </p:cNvPr>
          <p:cNvSpPr>
            <a:spLocks noGrp="1"/>
          </p:cNvSpPr>
          <p:nvPr>
            <p:ph type="title"/>
          </p:nvPr>
        </p:nvSpPr>
        <p:spPr>
          <a:xfrm>
            <a:off x="666743" y="258937"/>
            <a:ext cx="8596668" cy="1320800"/>
          </a:xfrm>
        </p:spPr>
        <p:txBody>
          <a:bodyPr>
            <a:normAutofit/>
          </a:bodyPr>
          <a:lstStyle/>
          <a:p>
            <a:pPr lvl="1"/>
            <a:r>
              <a:rPr lang="en-IN" dirty="0"/>
              <a:t>Overview of AI workflows</a:t>
            </a:r>
          </a:p>
        </p:txBody>
      </p:sp>
      <p:graphicFrame>
        <p:nvGraphicFramePr>
          <p:cNvPr id="3" name="Table 2">
            <a:extLst>
              <a:ext uri="{FF2B5EF4-FFF2-40B4-BE49-F238E27FC236}">
                <a16:creationId xmlns:a16="http://schemas.microsoft.com/office/drawing/2014/main" id="{08643799-5C57-2397-39C6-D05264E9916E}"/>
              </a:ext>
            </a:extLst>
          </p:cNvPr>
          <p:cNvGraphicFramePr>
            <a:graphicFrameLocks noGrp="1"/>
          </p:cNvGraphicFramePr>
          <p:nvPr>
            <p:extLst>
              <p:ext uri="{D42A27DB-BD31-4B8C-83A1-F6EECF244321}">
                <p14:modId xmlns:p14="http://schemas.microsoft.com/office/powerpoint/2010/main" val="3807196027"/>
              </p:ext>
            </p:extLst>
          </p:nvPr>
        </p:nvGraphicFramePr>
        <p:xfrm>
          <a:off x="667100" y="1149364"/>
          <a:ext cx="8596311" cy="2072640"/>
        </p:xfrm>
        <a:graphic>
          <a:graphicData uri="http://schemas.openxmlformats.org/drawingml/2006/table">
            <a:tbl>
              <a:tblPr/>
              <a:tblGrid>
                <a:gridCol w="2865437">
                  <a:extLst>
                    <a:ext uri="{9D8B030D-6E8A-4147-A177-3AD203B41FA5}">
                      <a16:colId xmlns:a16="http://schemas.microsoft.com/office/drawing/2014/main" val="1006912688"/>
                    </a:ext>
                  </a:extLst>
                </a:gridCol>
                <a:gridCol w="2865437">
                  <a:extLst>
                    <a:ext uri="{9D8B030D-6E8A-4147-A177-3AD203B41FA5}">
                      <a16:colId xmlns:a16="http://schemas.microsoft.com/office/drawing/2014/main" val="3078742224"/>
                    </a:ext>
                  </a:extLst>
                </a:gridCol>
                <a:gridCol w="2865437">
                  <a:extLst>
                    <a:ext uri="{9D8B030D-6E8A-4147-A177-3AD203B41FA5}">
                      <a16:colId xmlns:a16="http://schemas.microsoft.com/office/drawing/2014/main" val="356181896"/>
                    </a:ext>
                  </a:extLst>
                </a:gridCol>
              </a:tblGrid>
              <a:tr h="0">
                <a:tc>
                  <a:txBody>
                    <a:bodyPr/>
                    <a:lstStyle/>
                    <a:p>
                      <a:pPr>
                        <a:buNone/>
                      </a:pPr>
                      <a:r>
                        <a:rPr lang="en-IN" sz="1600"/>
                        <a:t>Type</a:t>
                      </a:r>
                    </a:p>
                  </a:txBody>
                  <a:tcPr anchor="ctr">
                    <a:lnL>
                      <a:noFill/>
                    </a:lnL>
                    <a:lnR>
                      <a:noFill/>
                    </a:lnR>
                    <a:lnT>
                      <a:noFill/>
                    </a:lnT>
                    <a:lnB>
                      <a:noFill/>
                    </a:lnB>
                    <a:noFill/>
                  </a:tcPr>
                </a:tc>
                <a:tc>
                  <a:txBody>
                    <a:bodyPr/>
                    <a:lstStyle/>
                    <a:p>
                      <a:pPr>
                        <a:buNone/>
                      </a:pPr>
                      <a:r>
                        <a:rPr lang="en-IN" sz="1600"/>
                        <a:t>Typical Workflow</a:t>
                      </a:r>
                    </a:p>
                  </a:txBody>
                  <a:tcPr anchor="ctr">
                    <a:lnL>
                      <a:noFill/>
                    </a:lnL>
                    <a:lnR>
                      <a:noFill/>
                    </a:lnR>
                    <a:lnT>
                      <a:noFill/>
                    </a:lnT>
                    <a:lnB>
                      <a:noFill/>
                    </a:lnB>
                    <a:noFill/>
                  </a:tcPr>
                </a:tc>
                <a:tc>
                  <a:txBody>
                    <a:bodyPr/>
                    <a:lstStyle/>
                    <a:p>
                      <a:pPr>
                        <a:buNone/>
                      </a:pPr>
                      <a:r>
                        <a:rPr lang="en-IN" sz="1600"/>
                        <a:t>Main Output</a:t>
                      </a:r>
                    </a:p>
                  </a:txBody>
                  <a:tcPr anchor="ctr">
                    <a:lnL>
                      <a:noFill/>
                    </a:lnL>
                    <a:lnR>
                      <a:noFill/>
                    </a:lnR>
                    <a:lnT>
                      <a:noFill/>
                    </a:lnT>
                    <a:lnB>
                      <a:noFill/>
                    </a:lnB>
                    <a:noFill/>
                  </a:tcPr>
                </a:tc>
                <a:extLst>
                  <a:ext uri="{0D108BD9-81ED-4DB2-BD59-A6C34878D82A}">
                    <a16:rowId xmlns:a16="http://schemas.microsoft.com/office/drawing/2014/main" val="2607420778"/>
                  </a:ext>
                </a:extLst>
              </a:tr>
              <a:tr h="0">
                <a:tc>
                  <a:txBody>
                    <a:bodyPr/>
                    <a:lstStyle/>
                    <a:p>
                      <a:pPr>
                        <a:buNone/>
                      </a:pPr>
                      <a:r>
                        <a:rPr lang="en-IN" sz="1600" b="1"/>
                        <a:t>Traditional AI/ML</a:t>
                      </a:r>
                      <a:endParaRPr lang="en-IN" sz="1600"/>
                    </a:p>
                  </a:txBody>
                  <a:tcPr anchor="ctr">
                    <a:lnL>
                      <a:noFill/>
                    </a:lnL>
                    <a:lnR>
                      <a:noFill/>
                    </a:lnR>
                    <a:lnT>
                      <a:noFill/>
                    </a:lnT>
                    <a:lnB>
                      <a:noFill/>
                    </a:lnB>
                    <a:noFill/>
                  </a:tcPr>
                </a:tc>
                <a:tc>
                  <a:txBody>
                    <a:bodyPr/>
                    <a:lstStyle/>
                    <a:p>
                      <a:pPr>
                        <a:buNone/>
                      </a:pPr>
                      <a:r>
                        <a:rPr lang="en-IN" sz="1600" dirty="0"/>
                        <a:t>Data → Train → Model → Predict</a:t>
                      </a:r>
                    </a:p>
                  </a:txBody>
                  <a:tcPr anchor="ctr">
                    <a:lnL>
                      <a:noFill/>
                    </a:lnL>
                    <a:lnR>
                      <a:noFill/>
                    </a:lnR>
                    <a:lnT>
                      <a:noFill/>
                    </a:lnT>
                    <a:lnB>
                      <a:noFill/>
                    </a:lnB>
                    <a:noFill/>
                  </a:tcPr>
                </a:tc>
                <a:tc>
                  <a:txBody>
                    <a:bodyPr/>
                    <a:lstStyle/>
                    <a:p>
                      <a:pPr>
                        <a:buNone/>
                      </a:pPr>
                      <a:r>
                        <a:rPr lang="en-IN" sz="1600"/>
                        <a:t>Prediction/Decision</a:t>
                      </a:r>
                    </a:p>
                  </a:txBody>
                  <a:tcPr anchor="ctr">
                    <a:lnL>
                      <a:noFill/>
                    </a:lnL>
                    <a:lnR>
                      <a:noFill/>
                    </a:lnR>
                    <a:lnT>
                      <a:noFill/>
                    </a:lnT>
                    <a:lnB>
                      <a:noFill/>
                    </a:lnB>
                    <a:noFill/>
                  </a:tcPr>
                </a:tc>
                <a:extLst>
                  <a:ext uri="{0D108BD9-81ED-4DB2-BD59-A6C34878D82A}">
                    <a16:rowId xmlns:a16="http://schemas.microsoft.com/office/drawing/2014/main" val="607730972"/>
                  </a:ext>
                </a:extLst>
              </a:tr>
              <a:tr h="0">
                <a:tc>
                  <a:txBody>
                    <a:bodyPr/>
                    <a:lstStyle/>
                    <a:p>
                      <a:pPr>
                        <a:buNone/>
                      </a:pPr>
                      <a:r>
                        <a:rPr lang="en-IN" sz="1600" b="1" dirty="0"/>
                        <a:t>Generative AI</a:t>
                      </a:r>
                      <a:endParaRPr lang="en-IN" sz="1600" dirty="0"/>
                    </a:p>
                  </a:txBody>
                  <a:tcPr anchor="ctr">
                    <a:lnL>
                      <a:noFill/>
                    </a:lnL>
                    <a:lnR>
                      <a:noFill/>
                    </a:lnR>
                    <a:lnT>
                      <a:noFill/>
                    </a:lnT>
                    <a:lnB>
                      <a:noFill/>
                    </a:lnB>
                    <a:noFill/>
                  </a:tcPr>
                </a:tc>
                <a:tc>
                  <a:txBody>
                    <a:bodyPr/>
                    <a:lstStyle/>
                    <a:p>
                      <a:pPr>
                        <a:buNone/>
                      </a:pPr>
                      <a:r>
                        <a:rPr lang="en-IN" sz="1600" dirty="0"/>
                        <a:t>Prompt → Context → LLM → Generate</a:t>
                      </a:r>
                    </a:p>
                  </a:txBody>
                  <a:tcPr anchor="ctr">
                    <a:lnL>
                      <a:noFill/>
                    </a:lnL>
                    <a:lnR>
                      <a:noFill/>
                    </a:lnR>
                    <a:lnT>
                      <a:noFill/>
                    </a:lnT>
                    <a:lnB>
                      <a:noFill/>
                    </a:lnB>
                    <a:noFill/>
                  </a:tcPr>
                </a:tc>
                <a:tc>
                  <a:txBody>
                    <a:bodyPr/>
                    <a:lstStyle/>
                    <a:p>
                      <a:pPr>
                        <a:buNone/>
                      </a:pPr>
                      <a:r>
                        <a:rPr lang="en-IN" sz="1600"/>
                        <a:t>Text/Image/Code/etc.</a:t>
                      </a:r>
                    </a:p>
                  </a:txBody>
                  <a:tcPr anchor="ctr">
                    <a:lnL>
                      <a:noFill/>
                    </a:lnL>
                    <a:lnR>
                      <a:noFill/>
                    </a:lnR>
                    <a:lnT>
                      <a:noFill/>
                    </a:lnT>
                    <a:lnB>
                      <a:noFill/>
                    </a:lnB>
                    <a:noFill/>
                  </a:tcPr>
                </a:tc>
                <a:extLst>
                  <a:ext uri="{0D108BD9-81ED-4DB2-BD59-A6C34878D82A}">
                    <a16:rowId xmlns:a16="http://schemas.microsoft.com/office/drawing/2014/main" val="2212199429"/>
                  </a:ext>
                </a:extLst>
              </a:tr>
              <a:tr h="0">
                <a:tc>
                  <a:txBody>
                    <a:bodyPr/>
                    <a:lstStyle/>
                    <a:p>
                      <a:pPr>
                        <a:buNone/>
                      </a:pPr>
                      <a:r>
                        <a:rPr lang="en-IN" sz="1600" b="1"/>
                        <a:t>Agentic AI</a:t>
                      </a:r>
                      <a:endParaRPr lang="en-IN" sz="1600"/>
                    </a:p>
                  </a:txBody>
                  <a:tcPr anchor="ctr">
                    <a:lnL>
                      <a:noFill/>
                    </a:lnL>
                    <a:lnR>
                      <a:noFill/>
                    </a:lnR>
                    <a:lnT>
                      <a:noFill/>
                    </a:lnT>
                    <a:lnB>
                      <a:noFill/>
                    </a:lnB>
                    <a:noFill/>
                  </a:tcPr>
                </a:tc>
                <a:tc>
                  <a:txBody>
                    <a:bodyPr/>
                    <a:lstStyle/>
                    <a:p>
                      <a:pPr>
                        <a:buNone/>
                      </a:pPr>
                      <a:r>
                        <a:rPr lang="en-IN" sz="1600"/>
                        <a:t>Goal → Plan → Tools → Actions → Observe → Adapt</a:t>
                      </a:r>
                    </a:p>
                  </a:txBody>
                  <a:tcPr anchor="ctr">
                    <a:lnL>
                      <a:noFill/>
                    </a:lnL>
                    <a:lnR>
                      <a:noFill/>
                    </a:lnR>
                    <a:lnT>
                      <a:noFill/>
                    </a:lnT>
                    <a:lnB>
                      <a:noFill/>
                    </a:lnB>
                    <a:noFill/>
                  </a:tcPr>
                </a:tc>
                <a:tc>
                  <a:txBody>
                    <a:bodyPr/>
                    <a:lstStyle/>
                    <a:p>
                      <a:pPr>
                        <a:buNone/>
                      </a:pPr>
                      <a:r>
                        <a:rPr lang="en-IN" sz="1600" dirty="0"/>
                        <a:t>Completed task/action</a:t>
                      </a:r>
                    </a:p>
                  </a:txBody>
                  <a:tcPr anchor="ctr">
                    <a:lnL>
                      <a:noFill/>
                    </a:lnL>
                    <a:lnR>
                      <a:noFill/>
                    </a:lnR>
                    <a:lnT>
                      <a:noFill/>
                    </a:lnT>
                    <a:lnB>
                      <a:noFill/>
                    </a:lnB>
                    <a:noFill/>
                  </a:tcPr>
                </a:tc>
                <a:extLst>
                  <a:ext uri="{0D108BD9-81ED-4DB2-BD59-A6C34878D82A}">
                    <a16:rowId xmlns:a16="http://schemas.microsoft.com/office/drawing/2014/main" val="471029845"/>
                  </a:ext>
                </a:extLst>
              </a:tr>
            </a:tbl>
          </a:graphicData>
        </a:graphic>
      </p:graphicFrame>
    </p:spTree>
    <p:extLst>
      <p:ext uri="{BB962C8B-B14F-4D97-AF65-F5344CB8AC3E}">
        <p14:creationId xmlns:p14="http://schemas.microsoft.com/office/powerpoint/2010/main" val="241692155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1B40-7D22-D52D-52BF-0521B10508D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36CF7EC-C104-A049-9A72-19EC5C87FAF2}"/>
              </a:ext>
            </a:extLst>
          </p:cNvPr>
          <p:cNvSpPr txBox="1"/>
          <p:nvPr/>
        </p:nvSpPr>
        <p:spPr>
          <a:xfrm>
            <a:off x="436418" y="214313"/>
            <a:ext cx="8144164" cy="389530"/>
          </a:xfrm>
          <a:prstGeom prst="rect">
            <a:avLst/>
          </a:prstGeom>
          <a:noFill/>
        </p:spPr>
        <p:txBody>
          <a:bodyPr wrap="square">
            <a:spAutoFit/>
          </a:bodyPr>
          <a:lstStyle/>
          <a:p>
            <a:pPr marL="0" marR="0" indent="0" algn="l">
              <a:lnSpc>
                <a:spcPts val="2625"/>
              </a:lnSpc>
              <a:spcAft>
                <a:spcPts val="1200"/>
              </a:spcAft>
              <a:buNone/>
            </a:pPr>
            <a:r>
              <a:rPr lang="en-IN" sz="1600" b="1" i="0" dirty="0">
                <a:solidFill>
                  <a:srgbClr val="2C2C2C"/>
                </a:solidFill>
                <a:effectLst/>
                <a:latin typeface="+mj-lt"/>
              </a:rPr>
              <a:t>Common examples and use cases of AI workflows</a:t>
            </a:r>
          </a:p>
        </p:txBody>
      </p:sp>
      <p:pic>
        <p:nvPicPr>
          <p:cNvPr id="7" name="Picture 6">
            <a:extLst>
              <a:ext uri="{FF2B5EF4-FFF2-40B4-BE49-F238E27FC236}">
                <a16:creationId xmlns:a16="http://schemas.microsoft.com/office/drawing/2014/main" id="{243701F7-4C41-FB98-DC9B-1D49D03B1C78}"/>
              </a:ext>
            </a:extLst>
          </p:cNvPr>
          <p:cNvPicPr>
            <a:picLocks noChangeAspect="1"/>
          </p:cNvPicPr>
          <p:nvPr/>
        </p:nvPicPr>
        <p:blipFill>
          <a:blip r:embed="rId2"/>
          <a:stretch>
            <a:fillRect/>
          </a:stretch>
        </p:blipFill>
        <p:spPr>
          <a:xfrm>
            <a:off x="852053" y="1227225"/>
            <a:ext cx="8144164" cy="4403550"/>
          </a:xfrm>
          <a:prstGeom prst="rect">
            <a:avLst/>
          </a:prstGeom>
        </p:spPr>
      </p:pic>
    </p:spTree>
    <p:extLst>
      <p:ext uri="{BB962C8B-B14F-4D97-AF65-F5344CB8AC3E}">
        <p14:creationId xmlns:p14="http://schemas.microsoft.com/office/powerpoint/2010/main" val="8552829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161B1-D869-72B8-B067-7D1A1EF4B3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213060F-C431-B9AA-DA35-6133D3CB884D}"/>
              </a:ext>
            </a:extLst>
          </p:cNvPr>
          <p:cNvSpPr txBox="1"/>
          <p:nvPr/>
        </p:nvSpPr>
        <p:spPr>
          <a:xfrm>
            <a:off x="427182" y="445222"/>
            <a:ext cx="8144164" cy="338554"/>
          </a:xfrm>
          <a:prstGeom prst="rect">
            <a:avLst/>
          </a:prstGeom>
          <a:noFill/>
        </p:spPr>
        <p:txBody>
          <a:bodyPr wrap="square">
            <a:spAutoFit/>
          </a:bodyPr>
          <a:lstStyle/>
          <a:p>
            <a:pPr>
              <a:buNone/>
            </a:pPr>
            <a:r>
              <a:rPr lang="en-IN" sz="1600" b="1" dirty="0"/>
              <a:t>Benefits of an AI Workflow</a:t>
            </a:r>
          </a:p>
        </p:txBody>
      </p:sp>
      <p:sp>
        <p:nvSpPr>
          <p:cNvPr id="3" name="TextBox 2">
            <a:extLst>
              <a:ext uri="{FF2B5EF4-FFF2-40B4-BE49-F238E27FC236}">
                <a16:creationId xmlns:a16="http://schemas.microsoft.com/office/drawing/2014/main" id="{4C975310-106C-5FC0-7AAF-417A9D6D1B4A}"/>
              </a:ext>
            </a:extLst>
          </p:cNvPr>
          <p:cNvSpPr txBox="1"/>
          <p:nvPr/>
        </p:nvSpPr>
        <p:spPr>
          <a:xfrm>
            <a:off x="565727" y="1085978"/>
            <a:ext cx="8661400" cy="4031873"/>
          </a:xfrm>
          <a:prstGeom prst="rect">
            <a:avLst/>
          </a:prstGeom>
          <a:noFill/>
        </p:spPr>
        <p:txBody>
          <a:bodyPr wrap="square">
            <a:spAutoFit/>
          </a:bodyPr>
          <a:lstStyle/>
          <a:p>
            <a:pPr marL="342900" lvl="0" indent="-342900">
              <a:buFont typeface="Arial" panose="020B0604020202020204" pitchFamily="34" charset="0"/>
              <a:buChar char="•"/>
            </a:pPr>
            <a:r>
              <a:rPr lang="en-IN" sz="1600" b="1" dirty="0"/>
              <a:t>Increased efficiency and productivity</a:t>
            </a:r>
            <a:r>
              <a:rPr lang="en-IN" sz="1600" dirty="0"/>
              <a:t> – Automates routine tasks and accelerates complex processes. </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Reduced human error</a:t>
            </a:r>
            <a:r>
              <a:rPr lang="en-IN" sz="1600" dirty="0"/>
              <a:t> – Performs tasks consistently and minimizes manual mistakes.</a:t>
            </a:r>
          </a:p>
          <a:p>
            <a:pPr lvl="0"/>
            <a:r>
              <a:rPr lang="en-IN" sz="1600" dirty="0"/>
              <a:t> </a:t>
            </a:r>
          </a:p>
          <a:p>
            <a:pPr marL="342900" lvl="0" indent="-342900">
              <a:buFont typeface="Arial" panose="020B0604020202020204" pitchFamily="34" charset="0"/>
              <a:buChar char="•"/>
            </a:pPr>
            <a:r>
              <a:rPr lang="en-IN" sz="1600" b="1" dirty="0"/>
              <a:t>Cost savings</a:t>
            </a:r>
            <a:r>
              <a:rPr lang="en-IN" sz="1600" dirty="0"/>
              <a:t> – Reduces operational costs, rework, and </a:t>
            </a:r>
            <a:r>
              <a:rPr lang="en-IN" sz="1600" dirty="0" err="1"/>
              <a:t>labor-intensive</a:t>
            </a:r>
            <a:r>
              <a:rPr lang="en-IN" sz="1600" dirty="0"/>
              <a:t> activities. </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Scalability</a:t>
            </a:r>
            <a:r>
              <a:rPr lang="en-IN" sz="1600" dirty="0"/>
              <a:t> – Handles increasing workloads without proportionally increasing resources.</a:t>
            </a:r>
          </a:p>
          <a:p>
            <a:pPr lvl="0"/>
            <a:r>
              <a:rPr lang="en-IN" sz="1600" dirty="0"/>
              <a:t> </a:t>
            </a:r>
          </a:p>
          <a:p>
            <a:pPr marL="342900" lvl="0" indent="-342900">
              <a:buFont typeface="Arial" panose="020B0604020202020204" pitchFamily="34" charset="0"/>
              <a:buChar char="•"/>
            </a:pPr>
            <a:r>
              <a:rPr lang="en-IN" sz="1600" b="1" dirty="0"/>
              <a:t>Better decision-making</a:t>
            </a:r>
            <a:r>
              <a:rPr lang="en-IN" sz="1600" dirty="0"/>
              <a:t> – Provides data-driven insights, trends, and performance information. </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Enhanced employee focus</a:t>
            </a:r>
            <a:r>
              <a:rPr lang="en-IN" sz="1600" dirty="0"/>
              <a:t> – Frees employees to concentrate on strategic and high-value tasks. </a:t>
            </a:r>
          </a:p>
          <a:p>
            <a:pPr marL="342900" lvl="0" indent="-342900">
              <a:buFont typeface="Arial" panose="020B0604020202020204" pitchFamily="34" charset="0"/>
              <a:buChar char="•"/>
            </a:pPr>
            <a:endParaRPr lang="en-IN" sz="1600" dirty="0"/>
          </a:p>
          <a:p>
            <a:pPr marL="342900" lvl="0" indent="-342900">
              <a:buFont typeface="Arial" panose="020B0604020202020204" pitchFamily="34" charset="0"/>
              <a:buChar char="•"/>
            </a:pPr>
            <a:r>
              <a:rPr lang="en-IN" sz="1600" b="1" dirty="0"/>
              <a:t>Faster turnaround times</a:t>
            </a:r>
            <a:r>
              <a:rPr lang="en-IN" sz="1600" dirty="0"/>
              <a:t> – Completes processes faster and reduces delays.</a:t>
            </a:r>
          </a:p>
        </p:txBody>
      </p:sp>
    </p:spTree>
    <p:extLst>
      <p:ext uri="{BB962C8B-B14F-4D97-AF65-F5344CB8AC3E}">
        <p14:creationId xmlns:p14="http://schemas.microsoft.com/office/powerpoint/2010/main" val="299706656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D9602-48CC-0927-DB9E-016D74151C1D}"/>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116FD66-2C9C-C4B0-2411-749059335608}"/>
              </a:ext>
            </a:extLst>
          </p:cNvPr>
          <p:cNvSpPr txBox="1"/>
          <p:nvPr/>
        </p:nvSpPr>
        <p:spPr>
          <a:xfrm>
            <a:off x="4117827" y="2638613"/>
            <a:ext cx="6100996" cy="338554"/>
          </a:xfrm>
          <a:prstGeom prst="rect">
            <a:avLst/>
          </a:prstGeom>
          <a:noFill/>
        </p:spPr>
        <p:txBody>
          <a:bodyPr wrap="square">
            <a:spAutoFit/>
          </a:bodyPr>
          <a:lstStyle/>
          <a:p>
            <a:pPr marL="0" marR="0" indent="0" algn="l">
              <a:spcAft>
                <a:spcPts val="1875"/>
              </a:spcAft>
              <a:buNone/>
            </a:pPr>
            <a:r>
              <a:rPr lang="en-IN" sz="1600" b="1" i="0" dirty="0">
                <a:solidFill>
                  <a:srgbClr val="545454"/>
                </a:solidFill>
                <a:effectLst/>
                <a:latin typeface="+mj-lt"/>
              </a:rPr>
              <a:t>Thank You </a:t>
            </a:r>
            <a:endParaRPr lang="en-IN" sz="1600" b="0" i="0" dirty="0">
              <a:solidFill>
                <a:srgbClr val="545454"/>
              </a:solidFill>
              <a:effectLst/>
              <a:latin typeface="+mj-lt"/>
            </a:endParaRPr>
          </a:p>
        </p:txBody>
      </p:sp>
    </p:spTree>
    <p:extLst>
      <p:ext uri="{BB962C8B-B14F-4D97-AF65-F5344CB8AC3E}">
        <p14:creationId xmlns:p14="http://schemas.microsoft.com/office/powerpoint/2010/main" val="238424441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11260</TotalTime>
  <Words>9303</Words>
  <Application>Microsoft Office PowerPoint</Application>
  <PresentationFormat>Widescreen</PresentationFormat>
  <Paragraphs>1552</Paragraphs>
  <Slides>139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139</vt:i4>
      </vt:variant>
    </vt:vector>
  </HeadingPairs>
  <TitlesOfParts>
    <vt:vector size="146" baseType="lpstr">
      <vt:lpstr>Arial</vt:lpstr>
      <vt:lpstr>Courier New</vt:lpstr>
      <vt:lpstr>Nunito</vt:lpstr>
      <vt:lpstr>Trebuchet MS</vt:lpstr>
      <vt:lpstr>Wingdings</vt:lpstr>
      <vt:lpstr>Wingdings 3</vt:lpstr>
      <vt:lpstr>Facet</vt:lpstr>
      <vt:lpstr>Module 1- Introduction to AI, Gen AI Essentials</vt:lpstr>
      <vt:lpstr>What is AI and Key Concepts</vt:lpstr>
      <vt:lpstr>Examples of AI</vt:lpstr>
      <vt:lpstr>History of AI</vt:lpstr>
      <vt:lpstr>History of AI</vt:lpstr>
      <vt:lpstr>History of AI</vt:lpstr>
      <vt:lpstr>History of AI</vt:lpstr>
      <vt:lpstr>History of AI</vt:lpstr>
      <vt:lpstr>History of AI</vt:lpstr>
      <vt:lpstr>History of AI</vt:lpstr>
      <vt:lpstr>History of AI</vt:lpstr>
      <vt:lpstr>History of AI</vt:lpstr>
      <vt:lpstr> </vt:lpstr>
      <vt:lpstr>Stages of AI </vt:lpstr>
      <vt:lpstr>Types of AI - Based on Capabilities </vt:lpstr>
      <vt:lpstr>Types of AI - Based on Capabilities  - Narrow AI (Weak AI)  </vt:lpstr>
      <vt:lpstr>Types of AI - Based on Capabilities - General AI (Strong AI / AGI)  </vt:lpstr>
      <vt:lpstr>Types of AI - Based on Capabilities - Super AI  </vt:lpstr>
      <vt:lpstr>Types of AI - Based on Capabilities </vt:lpstr>
      <vt:lpstr>Types of AI Based on Functionality</vt:lpstr>
      <vt:lpstr>Types of AI Based on Functionality - Reactive Machines </vt:lpstr>
      <vt:lpstr>Types of AI Based on Functionality - Limited Memory </vt:lpstr>
      <vt:lpstr>Types of AI Based on Functionality - Theory of Mind AI </vt:lpstr>
      <vt:lpstr>Types of AI Based on Functionality - Self-Aware AI </vt:lpstr>
      <vt:lpstr>Types of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AI Vs ML Vs DL Vs Generative AI Vs Agentic AI</vt:lpstr>
      <vt:lpstr>Popular myths about AI</vt:lpstr>
      <vt:lpstr>Popular myths about AI</vt:lpstr>
      <vt:lpstr>Introduction to data in AI </vt:lpstr>
      <vt:lpstr>Introduction to data in AI </vt:lpstr>
      <vt:lpstr>Introduction to data in AI </vt:lpstr>
      <vt:lpstr>Types of Data</vt:lpstr>
      <vt:lpstr>Types of Data</vt:lpstr>
      <vt:lpstr>Types of Data</vt:lpstr>
      <vt:lpstr>Types of Data</vt:lpstr>
      <vt:lpstr>Types of Data</vt:lpstr>
      <vt:lpstr>Types of Data</vt:lpstr>
      <vt:lpstr>Types of Data</vt:lpstr>
      <vt:lpstr>Types of Data</vt:lpstr>
      <vt:lpstr>Role of Data in AI</vt:lpstr>
      <vt:lpstr>Applications</vt:lpstr>
      <vt:lpstr>Challenges</vt:lpstr>
      <vt:lpstr>AI Spectrum</vt:lpstr>
      <vt:lpstr>AI Spectrum - Symbolic AI</vt:lpstr>
      <vt:lpstr>AI Spectrum - Symbolic AI</vt:lpstr>
      <vt:lpstr>AI Spectrum - Symbolic AI</vt:lpstr>
      <vt:lpstr>AI Spectrum - Symbolic AI</vt:lpstr>
      <vt:lpstr>AI Spectrum - Symbolic AI</vt:lpstr>
      <vt:lpstr>AI Spectrum - Symbolic AI</vt:lpstr>
      <vt:lpstr>AI Spectrum - Symbolic AI</vt:lpstr>
      <vt:lpstr>AI Spectrum - Symbolic AI</vt:lpstr>
      <vt:lpstr>AI Spectrum - Symbolic AI</vt:lpstr>
      <vt:lpstr>AI Spectrum - Symbolic AI</vt:lpstr>
      <vt:lpstr>Advantages of Symbolic AI</vt:lpstr>
      <vt:lpstr>Limitations of Symbolic AI</vt:lpstr>
      <vt:lpstr>AI Spectrum - Classical Machine Learning</vt:lpstr>
      <vt:lpstr>AI Spectrum- Classical Machine Learning</vt:lpstr>
      <vt:lpstr>AI Spectrum- Classical Machine Learning</vt:lpstr>
      <vt:lpstr>AI Spectrum- Classical Machine Learning</vt:lpstr>
      <vt:lpstr>AI Spectrum- Types of  Machine Learning</vt:lpstr>
      <vt:lpstr>AI Spectrum- Classical Machine Learning</vt:lpstr>
      <vt:lpstr>AI Spectrum- Classical Machine Learning</vt:lpstr>
      <vt:lpstr>AI Spectrum- Classical Machine Learning</vt:lpstr>
      <vt:lpstr>AI Spectrum- Classical Machine Learning</vt:lpstr>
      <vt:lpstr>AI Spectrum- Classical Machine Learning</vt:lpstr>
      <vt:lpstr>AI Spectrum- Classical Machine Learning</vt:lpstr>
      <vt:lpstr>AI Spectrum- Classical Machine Learning</vt:lpstr>
      <vt:lpstr>AI Spectrum- Classical Machine Learning</vt:lpstr>
      <vt:lpstr>Advantages of Classical Machine Learning</vt:lpstr>
      <vt:lpstr>Limitations of Classical Machine Learning</vt:lpstr>
      <vt:lpstr>AI Spectrum- Deep Learning</vt:lpstr>
      <vt:lpstr>AI Spectrum- Deep Learning</vt:lpstr>
      <vt:lpstr>AI Spectrum- Deep Learning</vt:lpstr>
      <vt:lpstr>AI Spectrum- Deep Learning</vt:lpstr>
      <vt:lpstr>AI Spectrum- Deep Learning</vt:lpstr>
      <vt:lpstr>AI Spectrum- Types of Deep Learning</vt:lpstr>
      <vt:lpstr>AI Spectrum- Deep Learning</vt:lpstr>
      <vt:lpstr>AI Spectrum- Deep Learning</vt:lpstr>
      <vt:lpstr>AI Spectrum- Deep Learning</vt:lpstr>
      <vt:lpstr>Basic terminology (model, training, inference, features, labels) </vt:lpstr>
      <vt:lpstr>AI Spectrum- Training</vt:lpstr>
      <vt:lpstr>AI Spectrum- Inference</vt:lpstr>
      <vt:lpstr>AI Spectrum- Inference</vt:lpstr>
      <vt:lpstr>AI Spectrum - Training vs Inference </vt:lpstr>
      <vt:lpstr>AI Spectrum - Training vs Inference </vt:lpstr>
      <vt:lpstr>AI Spectrum - Training vs Inference </vt:lpstr>
      <vt:lpstr>AI Spectrum - Training vs Inference </vt:lpstr>
      <vt:lpstr>AI Spectrum- Models</vt:lpstr>
      <vt:lpstr>AI Spectrum- Models</vt:lpstr>
      <vt:lpstr>AI Spectrum- Models - Machine Learning Models </vt:lpstr>
      <vt:lpstr>AI Spectrum- Models Deep Learning Models </vt:lpstr>
      <vt:lpstr>AI Spectrum- Models Deep Learning Models </vt:lpstr>
      <vt:lpstr>AI Spectrum-Models - Generative Models </vt:lpstr>
      <vt:lpstr>AI Spectrum-Models - Generative Models </vt:lpstr>
      <vt:lpstr>AI Spectrum-Models - Hybrid models </vt:lpstr>
      <vt:lpstr>AI Spectrum-Models - Hybrid models </vt:lpstr>
      <vt:lpstr>AI Spectrum-Models - NLP Models </vt:lpstr>
      <vt:lpstr>AI Spectrum-Models - NLP Models </vt:lpstr>
      <vt:lpstr>AI Spectrum-Models - Computer Vision Models — </vt:lpstr>
      <vt:lpstr>AI Spectrum-Models</vt:lpstr>
      <vt:lpstr>AI Spectrum-Models</vt:lpstr>
      <vt:lpstr>AI Spectrum- Datasets</vt:lpstr>
      <vt:lpstr>AI Spectrum- Datasets</vt:lpstr>
      <vt:lpstr>AI Spectrum - Types of Dataset </vt:lpstr>
      <vt:lpstr>AI Spectrum - Features of a Dataset  </vt:lpstr>
      <vt:lpstr>AI Spectrum – Operations of Dataset </vt:lpstr>
      <vt:lpstr>AI Spectrum - Challenges in Working with Dataset </vt:lpstr>
      <vt:lpstr>AI Spectrum - Applications of Dataset </vt:lpstr>
      <vt:lpstr>AI Spectrum – Features and labels</vt:lpstr>
      <vt:lpstr>AI Spectrum – Features and labels</vt:lpstr>
      <vt:lpstr>AI Spectrum – Features and labels</vt:lpstr>
      <vt:lpstr>AI Spectrum – Features and labels</vt:lpstr>
      <vt:lpstr>AI Spectrum – Features and labels</vt:lpstr>
      <vt:lpstr>AI Spectrum – Features and labels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Overview of AI workflows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Anurag Patil</dc:creator>
  <cp:lastModifiedBy>Anurag Patil</cp:lastModifiedBy>
  <cp:revision>977</cp:revision>
  <dcterms:created xsi:type="dcterms:W3CDTF">2026-03-10T02:11:16Z</dcterms:created>
  <dcterms:modified xsi:type="dcterms:W3CDTF">2026-08-31T06:35:40Z</dcterms:modified>
</cp:coreProperties>
</file>